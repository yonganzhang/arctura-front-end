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4A8B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759492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运营⼿册概览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332388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 m²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精品健身⼯作室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2071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运营经理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店⻓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运营经理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3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286320" y="19162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空间容量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838080" y="4521240"/>
            <a:ext cx="3755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⽉卡会员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⼈上限（峰值并发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628560" y="5362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838080" y="4883400"/>
            <a:ext cx="419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团课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：单场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⼈（瑜伽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普拉提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HIIT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28560" y="5724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38080" y="5245200"/>
            <a:ext cx="2919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私教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教练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6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时段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628560" y="60768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838080" y="5607000"/>
            <a:ext cx="3319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储物柜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个（含临时会员轮⽤）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38080" y="5959440"/>
            <a:ext cx="3572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淋浴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隔间（⾼峰排队 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min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运营经理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"/>
          <p:cNvSpPr txBox="1"/>
          <p:nvPr/>
        </p:nvSpPr>
        <p:spPr>
          <a:xfrm>
            <a:off x="6286320" y="19162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会员动线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28920" y="4521240"/>
            <a:ext cx="2297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前台刷卡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扫码签到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87160" y="4883400"/>
            <a:ext cx="2327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领储物柜钥匙 → 更⾐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87160" y="5245200"/>
            <a:ext cx="3743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训练区（⼒量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私教咨询）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87160" y="5607000"/>
            <a:ext cx="2674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 → 归还钥匙 → 离场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587160" y="5959440"/>
            <a:ext cx="3800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私教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团课：⼩程序预约 → ⾃动扣费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运营经理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80680" y="2257200"/>
            <a:ext cx="1629360" cy="381240"/>
          </a:xfrm>
          <a:custGeom>
            <a:avLst/>
            <a:gdLst/>
            <a:ahLst/>
            <a:rect l="0" t="0" r="r" b="b"/>
            <a:pathLst>
              <a:path w="4526" h="1059">
                <a:moveTo>
                  <a:pt x="0" y="0"/>
                </a:moveTo>
                <a:lnTo>
                  <a:pt x="4526" y="0"/>
                </a:lnTo>
                <a:lnTo>
                  <a:pt x="452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2209680" y="2257200"/>
            <a:ext cx="810000" cy="381240"/>
          </a:xfrm>
          <a:custGeom>
            <a:avLst/>
            <a:gdLst/>
            <a:ahLst/>
            <a:rect l="0" t="0" r="r" b="b"/>
            <a:pathLst>
              <a:path w="2250" h="1059">
                <a:moveTo>
                  <a:pt x="0" y="0"/>
                </a:moveTo>
                <a:lnTo>
                  <a:pt x="2250" y="0"/>
                </a:lnTo>
                <a:lnTo>
                  <a:pt x="225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3019320" y="2257200"/>
            <a:ext cx="2057760" cy="381240"/>
          </a:xfrm>
          <a:custGeom>
            <a:avLst/>
            <a:gdLst/>
            <a:ahLst/>
            <a:rect l="0" t="0" r="r" b="b"/>
            <a:pathLst>
              <a:path w="5716" h="1059">
                <a:moveTo>
                  <a:pt x="0" y="0"/>
                </a:moveTo>
                <a:lnTo>
                  <a:pt x="5716" y="0"/>
                </a:lnTo>
                <a:lnTo>
                  <a:pt x="571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80680" y="2257200"/>
            <a:ext cx="1629360" cy="381240"/>
          </a:xfrm>
          <a:custGeom>
            <a:avLst/>
            <a:gdLst/>
            <a:ahLst/>
            <a:rect l="0" t="0" r="r" b="b"/>
            <a:pathLst>
              <a:path w="4526" h="1059">
                <a:moveTo>
                  <a:pt x="0" y="0"/>
                </a:moveTo>
                <a:lnTo>
                  <a:pt x="4526" y="0"/>
                </a:lnTo>
                <a:lnTo>
                  <a:pt x="452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2209680" y="2257200"/>
            <a:ext cx="810000" cy="381240"/>
          </a:xfrm>
          <a:custGeom>
            <a:avLst/>
            <a:gdLst/>
            <a:ahLst/>
            <a:rect l="0" t="0" r="r" b="b"/>
            <a:pathLst>
              <a:path w="2250" h="1059">
                <a:moveTo>
                  <a:pt x="0" y="0"/>
                </a:moveTo>
                <a:lnTo>
                  <a:pt x="2250" y="0"/>
                </a:lnTo>
                <a:lnTo>
                  <a:pt x="225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3019320" y="2257200"/>
            <a:ext cx="2057760" cy="381240"/>
          </a:xfrm>
          <a:custGeom>
            <a:avLst/>
            <a:gdLst/>
            <a:ahLst/>
            <a:rect l="0" t="0" r="r" b="b"/>
            <a:pathLst>
              <a:path w="5716" h="1059">
                <a:moveTo>
                  <a:pt x="0" y="0"/>
                </a:moveTo>
                <a:lnTo>
                  <a:pt x="5716" y="0"/>
                </a:lnTo>
                <a:lnTo>
                  <a:pt x="571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80680" y="2638080"/>
            <a:ext cx="1629360" cy="371880"/>
          </a:xfrm>
          <a:custGeom>
            <a:avLst/>
            <a:gdLst/>
            <a:ahLst/>
            <a:rect l="0" t="0" r="r" b="b"/>
            <a:pathLst>
              <a:path w="4526" h="1033">
                <a:moveTo>
                  <a:pt x="0" y="0"/>
                </a:moveTo>
                <a:lnTo>
                  <a:pt x="4526" y="0"/>
                </a:lnTo>
                <a:lnTo>
                  <a:pt x="45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2209680" y="263808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3019320" y="2638080"/>
            <a:ext cx="2057760" cy="371880"/>
          </a:xfrm>
          <a:custGeom>
            <a:avLst/>
            <a:gdLst/>
            <a:ahLst/>
            <a:rect l="0" t="0" r="r" b="b"/>
            <a:pathLst>
              <a:path w="5716" h="1033">
                <a:moveTo>
                  <a:pt x="0" y="0"/>
                </a:moveTo>
                <a:lnTo>
                  <a:pt x="5716" y="0"/>
                </a:lnTo>
                <a:lnTo>
                  <a:pt x="571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80680" y="3009600"/>
            <a:ext cx="1629360" cy="371880"/>
          </a:xfrm>
          <a:custGeom>
            <a:avLst/>
            <a:gdLst/>
            <a:ahLst/>
            <a:rect l="0" t="0" r="r" b="b"/>
            <a:pathLst>
              <a:path w="4526" h="1033">
                <a:moveTo>
                  <a:pt x="0" y="0"/>
                </a:moveTo>
                <a:lnTo>
                  <a:pt x="4526" y="0"/>
                </a:lnTo>
                <a:lnTo>
                  <a:pt x="45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2209680" y="300960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019320" y="3009600"/>
            <a:ext cx="2057760" cy="371880"/>
          </a:xfrm>
          <a:custGeom>
            <a:avLst/>
            <a:gdLst/>
            <a:ahLst/>
            <a:rect l="0" t="0" r="r" b="b"/>
            <a:pathLst>
              <a:path w="5716" h="1033">
                <a:moveTo>
                  <a:pt x="0" y="0"/>
                </a:moveTo>
                <a:lnTo>
                  <a:pt x="5716" y="0"/>
                </a:lnTo>
                <a:lnTo>
                  <a:pt x="571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580680" y="3381120"/>
            <a:ext cx="1629360" cy="371880"/>
          </a:xfrm>
          <a:custGeom>
            <a:avLst/>
            <a:gdLst/>
            <a:ahLst/>
            <a:rect l="0" t="0" r="r" b="b"/>
            <a:pathLst>
              <a:path w="4526" h="1033">
                <a:moveTo>
                  <a:pt x="0" y="0"/>
                </a:moveTo>
                <a:lnTo>
                  <a:pt x="4526" y="0"/>
                </a:lnTo>
                <a:lnTo>
                  <a:pt x="45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2209680" y="338112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019320" y="3381120"/>
            <a:ext cx="2057760" cy="371880"/>
          </a:xfrm>
          <a:custGeom>
            <a:avLst/>
            <a:gdLst/>
            <a:ahLst/>
            <a:rect l="0" t="0" r="r" b="b"/>
            <a:pathLst>
              <a:path w="5716" h="1033">
                <a:moveTo>
                  <a:pt x="0" y="0"/>
                </a:moveTo>
                <a:lnTo>
                  <a:pt x="5716" y="0"/>
                </a:lnTo>
                <a:lnTo>
                  <a:pt x="571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580680" y="3752640"/>
            <a:ext cx="1629360" cy="371880"/>
          </a:xfrm>
          <a:custGeom>
            <a:avLst/>
            <a:gdLst/>
            <a:ahLst/>
            <a:rect l="0" t="0" r="r" b="b"/>
            <a:pathLst>
              <a:path w="4526" h="1033">
                <a:moveTo>
                  <a:pt x="0" y="0"/>
                </a:moveTo>
                <a:lnTo>
                  <a:pt x="4526" y="0"/>
                </a:lnTo>
                <a:lnTo>
                  <a:pt x="45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2209680" y="375264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3019320" y="3752640"/>
            <a:ext cx="2057760" cy="371880"/>
          </a:xfrm>
          <a:custGeom>
            <a:avLst/>
            <a:gdLst/>
            <a:ahLst/>
            <a:rect l="0" t="0" r="r" b="b"/>
            <a:pathLst>
              <a:path w="5716" h="1033">
                <a:moveTo>
                  <a:pt x="0" y="0"/>
                </a:moveTo>
                <a:lnTo>
                  <a:pt x="5716" y="0"/>
                </a:lnTo>
                <a:lnTo>
                  <a:pt x="571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80680" y="4124160"/>
            <a:ext cx="1629360" cy="371880"/>
          </a:xfrm>
          <a:custGeom>
            <a:avLst/>
            <a:gdLst/>
            <a:ahLst/>
            <a:rect l="0" t="0" r="r" b="b"/>
            <a:pathLst>
              <a:path w="4526" h="1033">
                <a:moveTo>
                  <a:pt x="0" y="0"/>
                </a:moveTo>
                <a:lnTo>
                  <a:pt x="4526" y="0"/>
                </a:lnTo>
                <a:lnTo>
                  <a:pt x="45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2209680" y="412416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3019320" y="4124160"/>
            <a:ext cx="2057760" cy="371880"/>
          </a:xfrm>
          <a:custGeom>
            <a:avLst/>
            <a:gdLst/>
            <a:ahLst/>
            <a:rect l="0" t="0" r="r" b="b"/>
            <a:pathLst>
              <a:path w="5716" h="1033">
                <a:moveTo>
                  <a:pt x="0" y="0"/>
                </a:moveTo>
                <a:lnTo>
                  <a:pt x="5716" y="0"/>
                </a:lnTo>
                <a:lnTo>
                  <a:pt x="571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580680" y="4495680"/>
            <a:ext cx="1629360" cy="371880"/>
          </a:xfrm>
          <a:custGeom>
            <a:avLst/>
            <a:gdLst/>
            <a:ahLst/>
            <a:rect l="0" t="0" r="r" b="b"/>
            <a:pathLst>
              <a:path w="4526" h="1033">
                <a:moveTo>
                  <a:pt x="0" y="0"/>
                </a:moveTo>
                <a:lnTo>
                  <a:pt x="4526" y="0"/>
                </a:lnTo>
                <a:lnTo>
                  <a:pt x="45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2209680" y="449568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3019320" y="4495680"/>
            <a:ext cx="2057760" cy="371880"/>
          </a:xfrm>
          <a:custGeom>
            <a:avLst/>
            <a:gdLst/>
            <a:ahLst/>
            <a:rect l="0" t="0" r="r" b="b"/>
            <a:pathLst>
              <a:path w="5716" h="1033">
                <a:moveTo>
                  <a:pt x="0" y="0"/>
                </a:moveTo>
                <a:lnTo>
                  <a:pt x="5716" y="0"/>
                </a:lnTo>
                <a:lnTo>
                  <a:pt x="571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571320" y="225720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219996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209680" y="2257200"/>
            <a:ext cx="819360" cy="10080"/>
          </a:xfrm>
          <a:custGeom>
            <a:avLst/>
            <a:gdLst/>
            <a:ahLst/>
            <a:rect l="0" t="0" r="r" b="b"/>
            <a:pathLst>
              <a:path w="2276" h="28">
                <a:moveTo>
                  <a:pt x="0" y="0"/>
                </a:moveTo>
                <a:lnTo>
                  <a:pt x="2276" y="0"/>
                </a:lnTo>
                <a:lnTo>
                  <a:pt x="22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3019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3028680" y="2257200"/>
            <a:ext cx="2048400" cy="10080"/>
          </a:xfrm>
          <a:custGeom>
            <a:avLst/>
            <a:gdLst/>
            <a:ahLst/>
            <a:rect l="0" t="0" r="r" b="b"/>
            <a:pathLst>
              <a:path w="5690" h="28">
                <a:moveTo>
                  <a:pt x="0" y="0"/>
                </a:moveTo>
                <a:lnTo>
                  <a:pt x="5690" y="0"/>
                </a:lnTo>
                <a:lnTo>
                  <a:pt x="5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506700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571320" y="262872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209680" y="262872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3028680" y="2628720"/>
            <a:ext cx="2048400" cy="9720"/>
          </a:xfrm>
          <a:custGeom>
            <a:avLst/>
            <a:gdLst/>
            <a:ahLst/>
            <a:rect l="0" t="0" r="r" b="b"/>
            <a:pathLst>
              <a:path w="5690" h="27">
                <a:moveTo>
                  <a:pt x="0" y="0"/>
                </a:moveTo>
                <a:lnTo>
                  <a:pt x="5690" y="0"/>
                </a:lnTo>
                <a:lnTo>
                  <a:pt x="5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19996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3019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506700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571320" y="300024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19996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2209680" y="300024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3019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3028680" y="3000240"/>
            <a:ext cx="2048400" cy="9720"/>
          </a:xfrm>
          <a:custGeom>
            <a:avLst/>
            <a:gdLst/>
            <a:ahLst/>
            <a:rect l="0" t="0" r="r" b="b"/>
            <a:pathLst>
              <a:path w="5690" h="27">
                <a:moveTo>
                  <a:pt x="0" y="0"/>
                </a:moveTo>
                <a:lnTo>
                  <a:pt x="5690" y="0"/>
                </a:lnTo>
                <a:lnTo>
                  <a:pt x="5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506700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71320" y="337176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219996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2209680" y="337176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3019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3028680" y="3371760"/>
            <a:ext cx="2048400" cy="9720"/>
          </a:xfrm>
          <a:custGeom>
            <a:avLst/>
            <a:gdLst/>
            <a:ahLst/>
            <a:rect l="0" t="0" r="r" b="b"/>
            <a:pathLst>
              <a:path w="5690" h="27">
                <a:moveTo>
                  <a:pt x="0" y="0"/>
                </a:moveTo>
                <a:lnTo>
                  <a:pt x="5690" y="0"/>
                </a:lnTo>
                <a:lnTo>
                  <a:pt x="5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50670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571320" y="374328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219996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2209680" y="374328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3019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3028680" y="3743280"/>
            <a:ext cx="2048400" cy="9720"/>
          </a:xfrm>
          <a:custGeom>
            <a:avLst/>
            <a:gdLst/>
            <a:ahLst/>
            <a:rect l="0" t="0" r="r" b="b"/>
            <a:pathLst>
              <a:path w="5690" h="27">
                <a:moveTo>
                  <a:pt x="0" y="0"/>
                </a:moveTo>
                <a:lnTo>
                  <a:pt x="5690" y="0"/>
                </a:lnTo>
                <a:lnTo>
                  <a:pt x="5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06700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71320" y="411444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219996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209680" y="4114440"/>
            <a:ext cx="819360" cy="10080"/>
          </a:xfrm>
          <a:custGeom>
            <a:avLst/>
            <a:gdLst/>
            <a:ahLst/>
            <a:rect l="0" t="0" r="r" b="b"/>
            <a:pathLst>
              <a:path w="2276" h="28">
                <a:moveTo>
                  <a:pt x="0" y="0"/>
                </a:moveTo>
                <a:lnTo>
                  <a:pt x="2276" y="0"/>
                </a:lnTo>
                <a:lnTo>
                  <a:pt x="22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3019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3028680" y="4114440"/>
            <a:ext cx="2048400" cy="10080"/>
          </a:xfrm>
          <a:custGeom>
            <a:avLst/>
            <a:gdLst/>
            <a:ahLst/>
            <a:rect l="0" t="0" r="r" b="b"/>
            <a:pathLst>
              <a:path w="5690" h="28">
                <a:moveTo>
                  <a:pt x="0" y="0"/>
                </a:moveTo>
                <a:lnTo>
                  <a:pt x="5690" y="0"/>
                </a:lnTo>
                <a:lnTo>
                  <a:pt x="5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06700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571320" y="448596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19996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2209680" y="4485960"/>
            <a:ext cx="819360" cy="10080"/>
          </a:xfrm>
          <a:custGeom>
            <a:avLst/>
            <a:gdLst/>
            <a:ahLst/>
            <a:rect l="0" t="0" r="r" b="b"/>
            <a:pathLst>
              <a:path w="2276" h="28">
                <a:moveTo>
                  <a:pt x="0" y="0"/>
                </a:moveTo>
                <a:lnTo>
                  <a:pt x="2276" y="0"/>
                </a:lnTo>
                <a:lnTo>
                  <a:pt x="22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3019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3028680" y="4485960"/>
            <a:ext cx="2048400" cy="10080"/>
          </a:xfrm>
          <a:custGeom>
            <a:avLst/>
            <a:gdLst/>
            <a:ahLst/>
            <a:rect l="0" t="0" r="r" b="b"/>
            <a:pathLst>
              <a:path w="5690" h="28">
                <a:moveTo>
                  <a:pt x="0" y="0"/>
                </a:moveTo>
                <a:lnTo>
                  <a:pt x="5690" y="0"/>
                </a:lnTo>
                <a:lnTo>
                  <a:pt x="5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506700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71320" y="486720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2209680" y="486720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3028680" y="4867200"/>
            <a:ext cx="2048400" cy="9720"/>
          </a:xfrm>
          <a:custGeom>
            <a:avLst/>
            <a:gdLst/>
            <a:ahLst/>
            <a:rect l="0" t="0" r="r" b="b"/>
            <a:pathLst>
              <a:path w="5690" h="27">
                <a:moveTo>
                  <a:pt x="0" y="0"/>
                </a:moveTo>
                <a:lnTo>
                  <a:pt x="5690" y="0"/>
                </a:lnTo>
                <a:lnTo>
                  <a:pt x="5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71320" y="166860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会员体系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0488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类型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233352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价格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15072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权益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704880" y="2694960"/>
            <a:ext cx="136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⽉卡（⾃由训练）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333520" y="2694960"/>
            <a:ext cx="410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¥599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3150720" y="2694960"/>
            <a:ext cx="1508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瑜伽⽆限次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704880" y="3066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季卡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2333520" y="3066120"/>
            <a:ext cx="52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¥1,599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3150720" y="3066120"/>
            <a:ext cx="163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同上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次私教体验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704880" y="3437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2333520" y="343764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¥4,999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3150720" y="3437640"/>
            <a:ext cx="1980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同上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+ 4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次私教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徽章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704880" y="3809160"/>
            <a:ext cx="1063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团课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次包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2333520" y="3809160"/>
            <a:ext cx="410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¥299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3150720" y="3809160"/>
            <a:ext cx="147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普拉提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/HIIT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704880" y="41806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私教单节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2333520" y="4180680"/>
            <a:ext cx="410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3150720" y="4180680"/>
            <a:ext cx="547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60 min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704880" y="455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⽇卡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333520" y="455220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¥98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3150720" y="4552200"/>
            <a:ext cx="96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全设施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运营经理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580680" y="244764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285560" y="244764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2057040" y="244764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2828880" y="244764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3600360" y="244764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580680" y="244764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285560" y="244764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2057040" y="244764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828880" y="244764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600360" y="244764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580680" y="281916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285560" y="28191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057040" y="281916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828880" y="28191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600360" y="281916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580680" y="319068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285560" y="319068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2057040" y="319068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2828880" y="319068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3600360" y="319068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80680" y="356220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285560" y="356220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057040" y="356220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2828880" y="356220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3600360" y="356220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80680" y="393372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285560" y="393372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2057040" y="393372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2828880" y="393372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3600360" y="393372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71320" y="24382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71320" y="243828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285560" y="24382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1295280" y="24382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2057040" y="24382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2066760" y="24382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828880" y="24382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838240" y="24382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3600360" y="24382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3609720" y="243828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4543200" y="24382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571320" y="280980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1295280" y="280980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066760" y="280980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2838240" y="280980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3609720" y="280980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7132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1285560" y="2819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2057040" y="2819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282888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360036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4543200" y="2819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7132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71320" y="318132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285560" y="31906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295280" y="31813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2057040" y="31906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2066760" y="31813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282888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838240" y="31813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360036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3609720" y="318132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4543200" y="31906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571320" y="3562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571320" y="3552480"/>
            <a:ext cx="724320" cy="10080"/>
          </a:xfrm>
          <a:custGeom>
            <a:avLst/>
            <a:gdLst/>
            <a:ah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285560" y="35622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295280" y="355248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2057040" y="35622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2066760" y="355248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2828880" y="3562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2838240" y="355248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3600360" y="3562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3609720" y="3552480"/>
            <a:ext cx="943560" cy="10080"/>
          </a:xfrm>
          <a:custGeom>
            <a:avLst/>
            <a:gdLst/>
            <a:ahLst/>
            <a:rect l="0" t="0" r="r" b="b"/>
            <a:pathLst>
              <a:path w="2621" h="28">
                <a:moveTo>
                  <a:pt x="0" y="0"/>
                </a:moveTo>
                <a:lnTo>
                  <a:pt x="2621" y="0"/>
                </a:lnTo>
                <a:lnTo>
                  <a:pt x="2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4543200" y="35622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571320" y="3933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571320" y="3924000"/>
            <a:ext cx="724320" cy="10080"/>
          </a:xfrm>
          <a:custGeom>
            <a:avLst/>
            <a:gdLst/>
            <a:ah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285560" y="3933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1295280" y="392400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2057040" y="3933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2066760" y="392400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828880" y="3933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2838240" y="392400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3600360" y="3933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3609720" y="3924000"/>
            <a:ext cx="943560" cy="10080"/>
          </a:xfrm>
          <a:custGeom>
            <a:avLst/>
            <a:gdLst/>
            <a:ahLst/>
            <a:rect l="0" t="0" r="r" b="b"/>
            <a:pathLst>
              <a:path w="2621" h="28">
                <a:moveTo>
                  <a:pt x="0" y="0"/>
                </a:moveTo>
                <a:lnTo>
                  <a:pt x="2621" y="0"/>
                </a:lnTo>
                <a:lnTo>
                  <a:pt x="2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4543200" y="3933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571320" y="430524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295280" y="430524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2066760" y="430524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838240" y="430524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3609720" y="430524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571320" y="1859400"/>
            <a:ext cx="200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课表安排（周）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41876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周⼀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219024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周三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296172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周五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373320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周六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704880" y="2875680"/>
            <a:ext cx="34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7:00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418760" y="2875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晨瑜伽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2190240" y="287568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2961720" y="2875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晨瑜伽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3733200" y="287568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704880" y="3247200"/>
            <a:ext cx="42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12:00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418760" y="3247200"/>
            <a:ext cx="310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HIIT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2190240" y="32472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普拉提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2961720" y="3247200"/>
            <a:ext cx="310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HIIT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3733200" y="32472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普拉提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704880" y="3618720"/>
            <a:ext cx="42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19:00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418760" y="36187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2190240" y="36187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2961720" y="36187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私教档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3733200" y="36187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开放训练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704880" y="3990240"/>
            <a:ext cx="45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20:00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418760" y="39902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普拉提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2190240" y="3990240"/>
            <a:ext cx="310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HIIT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961720" y="39902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3733200" y="39902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571320" y="4388040"/>
            <a:ext cx="3480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教练排班：每周⼀提交 → ⼩程序同步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运营经理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580680" y="2257200"/>
            <a:ext cx="1181520" cy="371880"/>
          </a:xfrm>
          <a:custGeom>
            <a:avLst/>
            <a:gdLst/>
            <a:ahLst/>
            <a:rect l="0" t="0" r="r" b="b"/>
            <a:pathLst>
              <a:path w="3282" h="1033">
                <a:moveTo>
                  <a:pt x="0" y="0"/>
                </a:moveTo>
                <a:lnTo>
                  <a:pt x="3282" y="0"/>
                </a:lnTo>
                <a:lnTo>
                  <a:pt x="32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1761840" y="225720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2533320" y="2257200"/>
            <a:ext cx="2277000" cy="371880"/>
          </a:xfrm>
          <a:custGeom>
            <a:avLst/>
            <a:gdLst/>
            <a:ahLst/>
            <a:rect l="0" t="0" r="r" b="b"/>
            <a:pathLst>
              <a:path w="6325" h="1033">
                <a:moveTo>
                  <a:pt x="0" y="0"/>
                </a:moveTo>
                <a:lnTo>
                  <a:pt x="6325" y="0"/>
                </a:lnTo>
                <a:lnTo>
                  <a:pt x="632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580680" y="2257200"/>
            <a:ext cx="1181520" cy="371880"/>
          </a:xfrm>
          <a:custGeom>
            <a:avLst/>
            <a:gdLst/>
            <a:ahLst/>
            <a:rect l="0" t="0" r="r" b="b"/>
            <a:pathLst>
              <a:path w="3282" h="1033">
                <a:moveTo>
                  <a:pt x="0" y="0"/>
                </a:moveTo>
                <a:lnTo>
                  <a:pt x="3282" y="0"/>
                </a:lnTo>
                <a:lnTo>
                  <a:pt x="32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1761840" y="225720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2533320" y="2257200"/>
            <a:ext cx="2277000" cy="371880"/>
          </a:xfrm>
          <a:custGeom>
            <a:avLst/>
            <a:gdLst/>
            <a:ahLst/>
            <a:rect l="0" t="0" r="r" b="b"/>
            <a:pathLst>
              <a:path w="6325" h="1033">
                <a:moveTo>
                  <a:pt x="0" y="0"/>
                </a:moveTo>
                <a:lnTo>
                  <a:pt x="6325" y="0"/>
                </a:lnTo>
                <a:lnTo>
                  <a:pt x="632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580680" y="2628720"/>
            <a:ext cx="1181520" cy="371880"/>
          </a:xfrm>
          <a:custGeom>
            <a:avLst/>
            <a:gdLst/>
            <a:ahLst/>
            <a:rect l="0" t="0" r="r" b="b"/>
            <a:pathLst>
              <a:path w="3282" h="1033">
                <a:moveTo>
                  <a:pt x="0" y="0"/>
                </a:moveTo>
                <a:lnTo>
                  <a:pt x="3282" y="0"/>
                </a:lnTo>
                <a:lnTo>
                  <a:pt x="32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761840" y="262872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533320" y="2628720"/>
            <a:ext cx="2277000" cy="371880"/>
          </a:xfrm>
          <a:custGeom>
            <a:avLst/>
            <a:gdLst/>
            <a:ahLst/>
            <a:rect l="0" t="0" r="r" b="b"/>
            <a:pathLst>
              <a:path w="6325" h="1033">
                <a:moveTo>
                  <a:pt x="0" y="0"/>
                </a:moveTo>
                <a:lnTo>
                  <a:pt x="6325" y="0"/>
                </a:lnTo>
                <a:lnTo>
                  <a:pt x="632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580680" y="3000240"/>
            <a:ext cx="1181520" cy="371880"/>
          </a:xfrm>
          <a:custGeom>
            <a:avLst/>
            <a:gdLst/>
            <a:ahLst/>
            <a:rect l="0" t="0" r="r" b="b"/>
            <a:pathLst>
              <a:path w="3282" h="1033">
                <a:moveTo>
                  <a:pt x="0" y="0"/>
                </a:moveTo>
                <a:lnTo>
                  <a:pt x="3282" y="0"/>
                </a:lnTo>
                <a:lnTo>
                  <a:pt x="32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1761840" y="300024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533320" y="3000240"/>
            <a:ext cx="2277000" cy="371880"/>
          </a:xfrm>
          <a:custGeom>
            <a:avLst/>
            <a:gdLst/>
            <a:ahLst/>
            <a:rect l="0" t="0" r="r" b="b"/>
            <a:pathLst>
              <a:path w="6325" h="1033">
                <a:moveTo>
                  <a:pt x="0" y="0"/>
                </a:moveTo>
                <a:lnTo>
                  <a:pt x="6325" y="0"/>
                </a:lnTo>
                <a:lnTo>
                  <a:pt x="632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580680" y="3371760"/>
            <a:ext cx="1181520" cy="371880"/>
          </a:xfrm>
          <a:custGeom>
            <a:avLst/>
            <a:gdLst/>
            <a:ahLst/>
            <a:rect l="0" t="0" r="r" b="b"/>
            <a:pathLst>
              <a:path w="3282" h="1033">
                <a:moveTo>
                  <a:pt x="0" y="0"/>
                </a:moveTo>
                <a:lnTo>
                  <a:pt x="3282" y="0"/>
                </a:lnTo>
                <a:lnTo>
                  <a:pt x="32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1761840" y="33717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2533320" y="3371760"/>
            <a:ext cx="2277000" cy="371880"/>
          </a:xfrm>
          <a:custGeom>
            <a:avLst/>
            <a:gdLst/>
            <a:ahLst/>
            <a:rect l="0" t="0" r="r" b="b"/>
            <a:pathLst>
              <a:path w="6325" h="1033">
                <a:moveTo>
                  <a:pt x="0" y="0"/>
                </a:moveTo>
                <a:lnTo>
                  <a:pt x="6325" y="0"/>
                </a:lnTo>
                <a:lnTo>
                  <a:pt x="632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580680" y="3743280"/>
            <a:ext cx="1181520" cy="371520"/>
          </a:xfrm>
          <a:custGeom>
            <a:avLst/>
            <a:gdLst/>
            <a:ahLst/>
            <a:rect l="0" t="0" r="r" b="b"/>
            <a:pathLst>
              <a:path w="3282" h="1032">
                <a:moveTo>
                  <a:pt x="0" y="0"/>
                </a:moveTo>
                <a:lnTo>
                  <a:pt x="3282" y="0"/>
                </a:lnTo>
                <a:lnTo>
                  <a:pt x="3282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761840" y="3743280"/>
            <a:ext cx="771840" cy="371520"/>
          </a:xfrm>
          <a:custGeom>
            <a:avLst/>
            <a:gdLst/>
            <a:ahLst/>
            <a:rect l="0" t="0" r="r" b="b"/>
            <a:pathLst>
              <a:path w="2144" h="1032">
                <a:moveTo>
                  <a:pt x="0" y="0"/>
                </a:moveTo>
                <a:lnTo>
                  <a:pt x="2144" y="0"/>
                </a:lnTo>
                <a:lnTo>
                  <a:pt x="2144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2533320" y="3743280"/>
            <a:ext cx="2277000" cy="371520"/>
          </a:xfrm>
          <a:custGeom>
            <a:avLst/>
            <a:gdLst/>
            <a:ahLst/>
            <a:rect l="0" t="0" r="r" b="b"/>
            <a:pathLst>
              <a:path w="6325" h="1032">
                <a:moveTo>
                  <a:pt x="0" y="0"/>
                </a:moveTo>
                <a:lnTo>
                  <a:pt x="6325" y="0"/>
                </a:lnTo>
                <a:lnTo>
                  <a:pt x="6325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580680" y="4114440"/>
            <a:ext cx="1181520" cy="381600"/>
          </a:xfrm>
          <a:custGeom>
            <a:avLst/>
            <a:gdLst/>
            <a:ahLst/>
            <a:rect l="0" t="0" r="r" b="b"/>
            <a:pathLst>
              <a:path w="3282" h="1060">
                <a:moveTo>
                  <a:pt x="0" y="0"/>
                </a:moveTo>
                <a:lnTo>
                  <a:pt x="3282" y="0"/>
                </a:lnTo>
                <a:lnTo>
                  <a:pt x="3282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1761840" y="4114440"/>
            <a:ext cx="771840" cy="381600"/>
          </a:xfrm>
          <a:custGeom>
            <a:avLst/>
            <a:gdLst/>
            <a:ahLst/>
            <a:rect l="0" t="0" r="r" b="b"/>
            <a:pathLst>
              <a:path w="2144" h="1060">
                <a:moveTo>
                  <a:pt x="0" y="0"/>
                </a:moveTo>
                <a:lnTo>
                  <a:pt x="2144" y="0"/>
                </a:lnTo>
                <a:lnTo>
                  <a:pt x="214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2533320" y="4114440"/>
            <a:ext cx="2277000" cy="381600"/>
          </a:xfrm>
          <a:custGeom>
            <a:avLst/>
            <a:gdLst/>
            <a:ahLst/>
            <a:rect l="0" t="0" r="r" b="b"/>
            <a:pathLst>
              <a:path w="6325" h="1060">
                <a:moveTo>
                  <a:pt x="0" y="0"/>
                </a:moveTo>
                <a:lnTo>
                  <a:pt x="6325" y="0"/>
                </a:lnTo>
                <a:lnTo>
                  <a:pt x="632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571320" y="225720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175248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761840" y="225720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252396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2533320" y="2257200"/>
            <a:ext cx="2277000" cy="10080"/>
          </a:xfrm>
          <a:custGeom>
            <a:avLst/>
            <a:gdLst/>
            <a:ahLst/>
            <a:rect l="0" t="0" r="r" b="b"/>
            <a:pathLst>
              <a:path w="6325" h="28">
                <a:moveTo>
                  <a:pt x="0" y="0"/>
                </a:moveTo>
                <a:lnTo>
                  <a:pt x="6325" y="0"/>
                </a:lnTo>
                <a:lnTo>
                  <a:pt x="63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480024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571320" y="262872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1761840" y="26287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2533320" y="2628720"/>
            <a:ext cx="2277000" cy="9720"/>
          </a:xfrm>
          <a:custGeom>
            <a:avLst/>
            <a:gdLst/>
            <a:ahLst/>
            <a:rect l="0" t="0" r="r" b="b"/>
            <a:pathLst>
              <a:path w="6325" h="27">
                <a:moveTo>
                  <a:pt x="0" y="0"/>
                </a:moveTo>
                <a:lnTo>
                  <a:pt x="6325" y="0"/>
                </a:lnTo>
                <a:lnTo>
                  <a:pt x="63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175248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252396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480024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571320" y="300024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175248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1761840" y="300024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252396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2533320" y="3000240"/>
            <a:ext cx="2277000" cy="9720"/>
          </a:xfrm>
          <a:custGeom>
            <a:avLst/>
            <a:gdLst/>
            <a:ahLst/>
            <a:rect l="0" t="0" r="r" b="b"/>
            <a:pathLst>
              <a:path w="6325" h="27">
                <a:moveTo>
                  <a:pt x="0" y="0"/>
                </a:moveTo>
                <a:lnTo>
                  <a:pt x="6325" y="0"/>
                </a:lnTo>
                <a:lnTo>
                  <a:pt x="63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480024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571320" y="337176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175248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761840" y="337176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252396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2533320" y="3371760"/>
            <a:ext cx="2277000" cy="9720"/>
          </a:xfrm>
          <a:custGeom>
            <a:avLst/>
            <a:gdLst/>
            <a:ahLst/>
            <a:rect l="0" t="0" r="r" b="b"/>
            <a:pathLst>
              <a:path w="6325" h="27">
                <a:moveTo>
                  <a:pt x="0" y="0"/>
                </a:moveTo>
                <a:lnTo>
                  <a:pt x="6325" y="0"/>
                </a:lnTo>
                <a:lnTo>
                  <a:pt x="63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48002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71320" y="374328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175248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1761840" y="37432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252396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2533320" y="3743280"/>
            <a:ext cx="2277000" cy="9720"/>
          </a:xfrm>
          <a:custGeom>
            <a:avLst/>
            <a:gdLst/>
            <a:ahLst/>
            <a:rect l="0" t="0" r="r" b="b"/>
            <a:pathLst>
              <a:path w="6325" h="27">
                <a:moveTo>
                  <a:pt x="0" y="0"/>
                </a:moveTo>
                <a:lnTo>
                  <a:pt x="6325" y="0"/>
                </a:lnTo>
                <a:lnTo>
                  <a:pt x="632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480024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571320" y="411444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175248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1761840" y="411444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252396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2533320" y="4114440"/>
            <a:ext cx="2277000" cy="10080"/>
          </a:xfrm>
          <a:custGeom>
            <a:avLst/>
            <a:gdLst/>
            <a:ahLst/>
            <a:rect l="0" t="0" r="r" b="b"/>
            <a:pathLst>
              <a:path w="6325" h="28">
                <a:moveTo>
                  <a:pt x="0" y="0"/>
                </a:moveTo>
                <a:lnTo>
                  <a:pt x="6325" y="0"/>
                </a:lnTo>
                <a:lnTo>
                  <a:pt x="63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480024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571320" y="448596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1761840" y="448596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2533320" y="4485960"/>
            <a:ext cx="2277000" cy="10080"/>
          </a:xfrm>
          <a:custGeom>
            <a:avLst/>
            <a:gdLst/>
            <a:ahLst/>
            <a:rect l="0" t="0" r="r" b="b"/>
            <a:pathLst>
              <a:path w="6325" h="28">
                <a:moveTo>
                  <a:pt x="0" y="0"/>
                </a:moveTo>
                <a:lnTo>
                  <a:pt x="6325" y="0"/>
                </a:lnTo>
                <a:lnTo>
                  <a:pt x="632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571320" y="1668600"/>
            <a:ext cx="1918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每⽇清洁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SOP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70488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时段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88748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区域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265896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任务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704880" y="2694960"/>
            <a:ext cx="969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6:50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开⻔前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88748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2658960" y="2694960"/>
            <a:ext cx="2162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通⻛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镜⾯擦拭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地⾯拖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704880" y="3066120"/>
            <a:ext cx="42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12:00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887480" y="3066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2658960" y="3066120"/>
            <a:ext cx="2201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补纸⼱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沐浴露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地漏清洁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704880" y="3437640"/>
            <a:ext cx="42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14:00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1887480" y="3437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2658960" y="3437640"/>
            <a:ext cx="1849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垫⾯消毒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⽊地板湿拖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704880" y="3809160"/>
            <a:ext cx="42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19:00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1887480" y="3809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2658960" y="3809160"/>
            <a:ext cx="2020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器械酒精擦拭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哑铃归位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704880" y="4180680"/>
            <a:ext cx="901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22:00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打烊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887480" y="41806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2658960" y="4180680"/>
            <a:ext cx="1849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深度清洁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储物柜开放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571320" y="4569120"/>
            <a:ext cx="385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消毒耗材：医⽤酒精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季铵盐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次氯酸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运营经理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580680" y="207612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2981160" y="207612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4095720" y="2076120"/>
            <a:ext cx="933480" cy="371880"/>
          </a:xfrm>
          <a:custGeom>
            <a:avLst/>
            <a:gdLst/>
            <a:ahLst/>
            <a:rect l="0" t="0" r="r" b="b"/>
            <a:pathLst>
              <a:path w="2593" h="1033">
                <a:moveTo>
                  <a:pt x="0" y="0"/>
                </a:moveTo>
                <a:lnTo>
                  <a:pt x="2593" y="0"/>
                </a:lnTo>
                <a:lnTo>
                  <a:pt x="25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580680" y="207612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2981160" y="207612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4095720" y="2076120"/>
            <a:ext cx="933480" cy="371880"/>
          </a:xfrm>
          <a:custGeom>
            <a:avLst/>
            <a:gdLst/>
            <a:ahLst/>
            <a:rect l="0" t="0" r="r" b="b"/>
            <a:pathLst>
              <a:path w="2593" h="1033">
                <a:moveTo>
                  <a:pt x="0" y="0"/>
                </a:moveTo>
                <a:lnTo>
                  <a:pt x="2593" y="0"/>
                </a:lnTo>
                <a:lnTo>
                  <a:pt x="25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580680" y="244764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981160" y="244764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4095720" y="2447640"/>
            <a:ext cx="933480" cy="371880"/>
          </a:xfrm>
          <a:custGeom>
            <a:avLst/>
            <a:gdLst/>
            <a:ahLst/>
            <a:rect l="0" t="0" r="r" b="b"/>
            <a:pathLst>
              <a:path w="2593" h="1033">
                <a:moveTo>
                  <a:pt x="0" y="0"/>
                </a:moveTo>
                <a:lnTo>
                  <a:pt x="2593" y="0"/>
                </a:lnTo>
                <a:lnTo>
                  <a:pt x="25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580680" y="281916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2981160" y="281916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4095720" y="2819160"/>
            <a:ext cx="933480" cy="371880"/>
          </a:xfrm>
          <a:custGeom>
            <a:avLst/>
            <a:gdLst/>
            <a:ahLst/>
            <a:rect l="0" t="0" r="r" b="b"/>
            <a:pathLst>
              <a:path w="2593" h="1033">
                <a:moveTo>
                  <a:pt x="0" y="0"/>
                </a:moveTo>
                <a:lnTo>
                  <a:pt x="2593" y="0"/>
                </a:lnTo>
                <a:lnTo>
                  <a:pt x="25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580680" y="319068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2981160" y="319068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4095720" y="3190680"/>
            <a:ext cx="933480" cy="371880"/>
          </a:xfrm>
          <a:custGeom>
            <a:avLst/>
            <a:gdLst/>
            <a:ahLst/>
            <a:rect l="0" t="0" r="r" b="b"/>
            <a:pathLst>
              <a:path w="2593" h="1033">
                <a:moveTo>
                  <a:pt x="0" y="0"/>
                </a:moveTo>
                <a:lnTo>
                  <a:pt x="2593" y="0"/>
                </a:lnTo>
                <a:lnTo>
                  <a:pt x="25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580680" y="356220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2981160" y="356220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4095720" y="3562200"/>
            <a:ext cx="933480" cy="371880"/>
          </a:xfrm>
          <a:custGeom>
            <a:avLst/>
            <a:gdLst/>
            <a:ahLst/>
            <a:rect l="0" t="0" r="r" b="b"/>
            <a:pathLst>
              <a:path w="2593" h="1033">
                <a:moveTo>
                  <a:pt x="0" y="0"/>
                </a:moveTo>
                <a:lnTo>
                  <a:pt x="2593" y="0"/>
                </a:lnTo>
                <a:lnTo>
                  <a:pt x="25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580680" y="393372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2981160" y="393372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4095720" y="3933720"/>
            <a:ext cx="933480" cy="371880"/>
          </a:xfrm>
          <a:custGeom>
            <a:avLst/>
            <a:gdLst/>
            <a:ahLst/>
            <a:rect l="0" t="0" r="r" b="b"/>
            <a:pathLst>
              <a:path w="2593" h="1033">
                <a:moveTo>
                  <a:pt x="0" y="0"/>
                </a:moveTo>
                <a:lnTo>
                  <a:pt x="2593" y="0"/>
                </a:lnTo>
                <a:lnTo>
                  <a:pt x="25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580680" y="4305240"/>
            <a:ext cx="2400840" cy="381240"/>
          </a:xfrm>
          <a:custGeom>
            <a:avLst/>
            <a:gdLst/>
            <a:ahLst/>
            <a:rect l="0" t="0" r="r" b="b"/>
            <a:pathLst>
              <a:path w="6669" h="1059">
                <a:moveTo>
                  <a:pt x="0" y="0"/>
                </a:moveTo>
                <a:lnTo>
                  <a:pt x="6669" y="0"/>
                </a:lnTo>
                <a:lnTo>
                  <a:pt x="666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2981160" y="4305240"/>
            <a:ext cx="1114920" cy="381240"/>
          </a:xfrm>
          <a:custGeom>
            <a:avLst/>
            <a:gdLst/>
            <a:ahLst/>
            <a:rect l="0" t="0" r="r" b="b"/>
            <a:pathLst>
              <a:path w="3097" h="1059">
                <a:moveTo>
                  <a:pt x="0" y="0"/>
                </a:moveTo>
                <a:lnTo>
                  <a:pt x="3097" y="0"/>
                </a:lnTo>
                <a:lnTo>
                  <a:pt x="309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4095720" y="4305240"/>
            <a:ext cx="933480" cy="381240"/>
          </a:xfrm>
          <a:custGeom>
            <a:avLst/>
            <a:gdLst/>
            <a:ahLst/>
            <a:rect l="0" t="0" r="r" b="b"/>
            <a:pathLst>
              <a:path w="2593" h="1059">
                <a:moveTo>
                  <a:pt x="0" y="0"/>
                </a:moveTo>
                <a:lnTo>
                  <a:pt x="2593" y="0"/>
                </a:lnTo>
                <a:lnTo>
                  <a:pt x="259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580680" y="4686120"/>
            <a:ext cx="2400840" cy="371880"/>
          </a:xfrm>
          <a:custGeom>
            <a:avLst/>
            <a:gdLst/>
            <a:ahLst/>
            <a:rect l="0" t="0" r="r" b="b"/>
            <a:pathLst>
              <a:path w="6669" h="1033">
                <a:moveTo>
                  <a:pt x="0" y="0"/>
                </a:moveTo>
                <a:lnTo>
                  <a:pt x="6669" y="0"/>
                </a:lnTo>
                <a:lnTo>
                  <a:pt x="66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2981160" y="468612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4095720" y="4686120"/>
            <a:ext cx="933480" cy="371880"/>
          </a:xfrm>
          <a:custGeom>
            <a:avLst/>
            <a:gdLst/>
            <a:ahLst/>
            <a:rect l="0" t="0" r="r" b="b"/>
            <a:pathLst>
              <a:path w="2593" h="1033">
                <a:moveTo>
                  <a:pt x="0" y="0"/>
                </a:moveTo>
                <a:lnTo>
                  <a:pt x="2593" y="0"/>
                </a:lnTo>
                <a:lnTo>
                  <a:pt x="25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5713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571320" y="206676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2971440" y="206676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0" y="0"/>
                </a:moveTo>
                <a:lnTo>
                  <a:pt x="29" y="0"/>
                </a:lnTo>
                <a:lnTo>
                  <a:pt x="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2981160" y="206676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40957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4105080" y="206676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502884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571320" y="243828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2981160" y="243828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4105080" y="243828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571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2971440" y="2447640"/>
            <a:ext cx="10440" cy="381600"/>
          </a:xfrm>
          <a:custGeom>
            <a:avLst/>
            <a:gdLst/>
            <a:ahLst/>
            <a:rect l="0" t="0" r="r" b="b"/>
            <a:pathLst>
              <a:path w="29" h="1060">
                <a:moveTo>
                  <a:pt x="0" y="0"/>
                </a:moveTo>
                <a:lnTo>
                  <a:pt x="29" y="0"/>
                </a:lnTo>
                <a:lnTo>
                  <a:pt x="2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40957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502884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571320" y="2819160"/>
            <a:ext cx="2410200" cy="10080"/>
          </a:xfrm>
          <a:custGeom>
            <a:avLst/>
            <a:gdLst/>
            <a:ahLst/>
            <a:rect l="0" t="0" r="r" b="b"/>
            <a:pathLst>
              <a:path w="6695" h="28">
                <a:moveTo>
                  <a:pt x="0" y="0"/>
                </a:moveTo>
                <a:lnTo>
                  <a:pt x="6695" y="0"/>
                </a:lnTo>
                <a:lnTo>
                  <a:pt x="6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2971440" y="2828880"/>
            <a:ext cx="10440" cy="371520"/>
          </a:xfrm>
          <a:custGeom>
            <a:avLst/>
            <a:gdLst/>
            <a:ahLst/>
            <a:rect l="0" t="0" r="r" b="b"/>
            <a:pathLst>
              <a:path w="29" h="1032">
                <a:moveTo>
                  <a:pt x="0" y="0"/>
                </a:moveTo>
                <a:lnTo>
                  <a:pt x="29" y="0"/>
                </a:lnTo>
                <a:lnTo>
                  <a:pt x="2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2981160" y="281916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40957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4105080" y="281916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502884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571320" y="319068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2971440" y="320004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2981160" y="319068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40957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4105080" y="319068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502884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571320" y="356220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2971440" y="357156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2981160" y="356220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40957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4105080" y="356220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502884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571320" y="393372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2971440" y="394308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2981160" y="393372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40957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4105080" y="393372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502884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571320" y="430524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2971440" y="431460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2981160" y="430524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40957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4105080" y="430524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502884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571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571320" y="467676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2971440" y="468612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2981160" y="467676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40957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4105080" y="467676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502884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571320" y="5047920"/>
            <a:ext cx="2410200" cy="10080"/>
          </a:xfrm>
          <a:custGeom>
            <a:avLst/>
            <a:gdLst/>
            <a:ahLst/>
            <a:rect l="0" t="0" r="r" b="b"/>
            <a:pathLst>
              <a:path w="6695" h="28">
                <a:moveTo>
                  <a:pt x="0" y="0"/>
                </a:moveTo>
                <a:lnTo>
                  <a:pt x="6695" y="0"/>
                </a:lnTo>
                <a:lnTo>
                  <a:pt x="6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2981160" y="504792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4105080" y="504792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571320" y="1487880"/>
            <a:ext cx="2213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能耗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耗材预估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704880" y="21330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3105000" y="21330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⽉⽤量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4228200" y="2133000"/>
            <a:ext cx="719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⽉费⽤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704880" y="2504160"/>
            <a:ext cx="193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电（照明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空调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设备）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3105000" y="2504160"/>
            <a:ext cx="862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~1800 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4228200" y="2504160"/>
            <a:ext cx="42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1,200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704880" y="288540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⽔（淋浴为主）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3105000" y="2885400"/>
            <a:ext cx="40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~45 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4228200" y="288540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360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704880" y="32569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清洁耗材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3105000" y="3256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4228200" y="325692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704880" y="3628440"/>
            <a:ext cx="103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洗⼿液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纸⼱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3105000" y="36284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4228200" y="362844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704880" y="39996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卫⽣⽤品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3105000" y="39996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4228200" y="399960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704880" y="4371120"/>
            <a:ext cx="2230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器械易耗（杠铃⽚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瑜伽垫）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3105000" y="43711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4228200" y="437112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704880" y="4742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⽉总开⽀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4228200" y="4742640"/>
            <a:ext cx="645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~¥3,360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运营经理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580680" y="2257200"/>
            <a:ext cx="1458000" cy="381240"/>
          </a:xfrm>
          <a:custGeom>
            <a:avLst/>
            <a:gdLst/>
            <a:ahLst/>
            <a:rect l="0" t="0" r="r" b="b"/>
            <a:pathLst>
              <a:path w="4050" h="1059">
                <a:moveTo>
                  <a:pt x="0" y="0"/>
                </a:moveTo>
                <a:lnTo>
                  <a:pt x="4050" y="0"/>
                </a:lnTo>
                <a:lnTo>
                  <a:pt x="405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2038320" y="2257200"/>
            <a:ext cx="1324080" cy="381240"/>
          </a:xfrm>
          <a:custGeom>
            <a:avLst/>
            <a:gdLst/>
            <a:ahLst/>
            <a:rect l="0" t="0" r="r" b="b"/>
            <a:pathLst>
              <a:path w="3678" h="1059">
                <a:moveTo>
                  <a:pt x="0" y="0"/>
                </a:moveTo>
                <a:lnTo>
                  <a:pt x="3678" y="0"/>
                </a:lnTo>
                <a:lnTo>
                  <a:pt x="367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3362040" y="2257200"/>
            <a:ext cx="2019600" cy="381240"/>
          </a:xfrm>
          <a:custGeom>
            <a:avLst/>
            <a:gdLst/>
            <a:ahLst/>
            <a:rect l="0" t="0" r="r" b="b"/>
            <a:pathLst>
              <a:path w="5610" h="1059">
                <a:moveTo>
                  <a:pt x="0" y="0"/>
                </a:moveTo>
                <a:lnTo>
                  <a:pt x="5610" y="0"/>
                </a:lnTo>
                <a:lnTo>
                  <a:pt x="561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580680" y="2257200"/>
            <a:ext cx="1458000" cy="381240"/>
          </a:xfrm>
          <a:custGeom>
            <a:avLst/>
            <a:gdLst/>
            <a:ahLst/>
            <a:rect l="0" t="0" r="r" b="b"/>
            <a:pathLst>
              <a:path w="4050" h="1059">
                <a:moveTo>
                  <a:pt x="0" y="0"/>
                </a:moveTo>
                <a:lnTo>
                  <a:pt x="4050" y="0"/>
                </a:lnTo>
                <a:lnTo>
                  <a:pt x="405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2038320" y="2257200"/>
            <a:ext cx="1324080" cy="381240"/>
          </a:xfrm>
          <a:custGeom>
            <a:avLst/>
            <a:gdLst/>
            <a:ahLst/>
            <a:rect l="0" t="0" r="r" b="b"/>
            <a:pathLst>
              <a:path w="3678" h="1059">
                <a:moveTo>
                  <a:pt x="0" y="0"/>
                </a:moveTo>
                <a:lnTo>
                  <a:pt x="3678" y="0"/>
                </a:lnTo>
                <a:lnTo>
                  <a:pt x="367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3362040" y="2257200"/>
            <a:ext cx="2019600" cy="381240"/>
          </a:xfrm>
          <a:custGeom>
            <a:avLst/>
            <a:gdLst/>
            <a:ahLst/>
            <a:rect l="0" t="0" r="r" b="b"/>
            <a:pathLst>
              <a:path w="5610" h="1059">
                <a:moveTo>
                  <a:pt x="0" y="0"/>
                </a:moveTo>
                <a:lnTo>
                  <a:pt x="5610" y="0"/>
                </a:lnTo>
                <a:lnTo>
                  <a:pt x="561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580680" y="263808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2038320" y="2638080"/>
            <a:ext cx="1324080" cy="371880"/>
          </a:xfrm>
          <a:custGeom>
            <a:avLst/>
            <a:gdLst/>
            <a:ahLst/>
            <a:rect l="0" t="0" r="r" b="b"/>
            <a:pathLst>
              <a:path w="3678" h="1033">
                <a:moveTo>
                  <a:pt x="0" y="0"/>
                </a:moveTo>
                <a:lnTo>
                  <a:pt x="3678" y="0"/>
                </a:lnTo>
                <a:lnTo>
                  <a:pt x="36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3362040" y="2638080"/>
            <a:ext cx="2019600" cy="371880"/>
          </a:xfrm>
          <a:custGeom>
            <a:avLst/>
            <a:gdLst/>
            <a:ahLst/>
            <a:rect l="0" t="0" r="r" b="b"/>
            <a:pathLst>
              <a:path w="5610" h="1033">
                <a:moveTo>
                  <a:pt x="0" y="0"/>
                </a:moveTo>
                <a:lnTo>
                  <a:pt x="5610" y="0"/>
                </a:lnTo>
                <a:lnTo>
                  <a:pt x="561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580680" y="300960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2038320" y="3009600"/>
            <a:ext cx="1324080" cy="371880"/>
          </a:xfrm>
          <a:custGeom>
            <a:avLst/>
            <a:gdLst/>
            <a:ahLst/>
            <a:rect l="0" t="0" r="r" b="b"/>
            <a:pathLst>
              <a:path w="3678" h="1033">
                <a:moveTo>
                  <a:pt x="0" y="0"/>
                </a:moveTo>
                <a:lnTo>
                  <a:pt x="3678" y="0"/>
                </a:lnTo>
                <a:lnTo>
                  <a:pt x="36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3362040" y="3009600"/>
            <a:ext cx="2019600" cy="371880"/>
          </a:xfrm>
          <a:custGeom>
            <a:avLst/>
            <a:gdLst/>
            <a:ahLst/>
            <a:rect l="0" t="0" r="r" b="b"/>
            <a:pathLst>
              <a:path w="5610" h="1033">
                <a:moveTo>
                  <a:pt x="0" y="0"/>
                </a:moveTo>
                <a:lnTo>
                  <a:pt x="5610" y="0"/>
                </a:lnTo>
                <a:lnTo>
                  <a:pt x="561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580680" y="338112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2038320" y="3381120"/>
            <a:ext cx="1324080" cy="371880"/>
          </a:xfrm>
          <a:custGeom>
            <a:avLst/>
            <a:gdLst/>
            <a:ahLst/>
            <a:rect l="0" t="0" r="r" b="b"/>
            <a:pathLst>
              <a:path w="3678" h="1033">
                <a:moveTo>
                  <a:pt x="0" y="0"/>
                </a:moveTo>
                <a:lnTo>
                  <a:pt x="3678" y="0"/>
                </a:lnTo>
                <a:lnTo>
                  <a:pt x="36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3362040" y="3381120"/>
            <a:ext cx="2019600" cy="371880"/>
          </a:xfrm>
          <a:custGeom>
            <a:avLst/>
            <a:gdLst/>
            <a:ahLst/>
            <a:rect l="0" t="0" r="r" b="b"/>
            <a:pathLst>
              <a:path w="5610" h="1033">
                <a:moveTo>
                  <a:pt x="0" y="0"/>
                </a:moveTo>
                <a:lnTo>
                  <a:pt x="5610" y="0"/>
                </a:lnTo>
                <a:lnTo>
                  <a:pt x="561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580680" y="375264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2038320" y="3752640"/>
            <a:ext cx="1324080" cy="371880"/>
          </a:xfrm>
          <a:custGeom>
            <a:avLst/>
            <a:gdLst/>
            <a:ahLst/>
            <a:rect l="0" t="0" r="r" b="b"/>
            <a:pathLst>
              <a:path w="3678" h="1033">
                <a:moveTo>
                  <a:pt x="0" y="0"/>
                </a:moveTo>
                <a:lnTo>
                  <a:pt x="3678" y="0"/>
                </a:lnTo>
                <a:lnTo>
                  <a:pt x="36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3362040" y="3752640"/>
            <a:ext cx="2019600" cy="371880"/>
          </a:xfrm>
          <a:custGeom>
            <a:avLst/>
            <a:gdLst/>
            <a:ahLst/>
            <a:rect l="0" t="0" r="r" b="b"/>
            <a:pathLst>
              <a:path w="5610" h="1033">
                <a:moveTo>
                  <a:pt x="0" y="0"/>
                </a:moveTo>
                <a:lnTo>
                  <a:pt x="5610" y="0"/>
                </a:lnTo>
                <a:lnTo>
                  <a:pt x="561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580680" y="412416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2038320" y="4124160"/>
            <a:ext cx="1324080" cy="371880"/>
          </a:xfrm>
          <a:custGeom>
            <a:avLst/>
            <a:gdLst/>
            <a:ahLst/>
            <a:rect l="0" t="0" r="r" b="b"/>
            <a:pathLst>
              <a:path w="3678" h="1033">
                <a:moveTo>
                  <a:pt x="0" y="0"/>
                </a:moveTo>
                <a:lnTo>
                  <a:pt x="3678" y="0"/>
                </a:lnTo>
                <a:lnTo>
                  <a:pt x="36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3362040" y="4124160"/>
            <a:ext cx="2019600" cy="371880"/>
          </a:xfrm>
          <a:custGeom>
            <a:avLst/>
            <a:gdLst/>
            <a:ahLst/>
            <a:rect l="0" t="0" r="r" b="b"/>
            <a:pathLst>
              <a:path w="5610" h="1033">
                <a:moveTo>
                  <a:pt x="0" y="0"/>
                </a:moveTo>
                <a:lnTo>
                  <a:pt x="5610" y="0"/>
                </a:lnTo>
                <a:lnTo>
                  <a:pt x="561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580680" y="449568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0"/>
                </a:moveTo>
                <a:lnTo>
                  <a:pt x="4050" y="0"/>
                </a:lnTo>
                <a:lnTo>
                  <a:pt x="40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2038320" y="4495680"/>
            <a:ext cx="1324080" cy="371880"/>
          </a:xfrm>
          <a:custGeom>
            <a:avLst/>
            <a:gdLst/>
            <a:ahLst/>
            <a:rect l="0" t="0" r="r" b="b"/>
            <a:pathLst>
              <a:path w="3678" h="1033">
                <a:moveTo>
                  <a:pt x="0" y="0"/>
                </a:moveTo>
                <a:lnTo>
                  <a:pt x="3678" y="0"/>
                </a:lnTo>
                <a:lnTo>
                  <a:pt x="36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3362040" y="4495680"/>
            <a:ext cx="2019600" cy="371880"/>
          </a:xfrm>
          <a:custGeom>
            <a:avLst/>
            <a:gdLst/>
            <a:ahLst/>
            <a:rect l="0" t="0" r="r" b="b"/>
            <a:pathLst>
              <a:path w="5610" h="1033">
                <a:moveTo>
                  <a:pt x="0" y="0"/>
                </a:moveTo>
                <a:lnTo>
                  <a:pt x="5610" y="0"/>
                </a:lnTo>
                <a:lnTo>
                  <a:pt x="561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571320" y="225720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202860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2038320" y="225720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336204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3371760" y="2257200"/>
            <a:ext cx="2019600" cy="10080"/>
          </a:xfrm>
          <a:custGeom>
            <a:avLst/>
            <a:gdLst/>
            <a:ahLst/>
            <a:rect l="0" t="0" r="r" b="b"/>
            <a:pathLst>
              <a:path w="5610" h="28">
                <a:moveTo>
                  <a:pt x="0" y="0"/>
                </a:moveTo>
                <a:lnTo>
                  <a:pt x="5610" y="0"/>
                </a:lnTo>
                <a:lnTo>
                  <a:pt x="56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538128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571320" y="262872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2038320" y="262872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3371760" y="262872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202860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336204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538128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571320" y="300024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202860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2038320" y="300024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336204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3371760" y="300024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53812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571320" y="337176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20286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2038320" y="337176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33620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3371760" y="337176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53812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571320" y="374328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202860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2038320" y="374328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336204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3371760" y="374328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53812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571320" y="411444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202860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2038320" y="411444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336204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3371760" y="4114440"/>
            <a:ext cx="2019600" cy="10080"/>
          </a:xfrm>
          <a:custGeom>
            <a:avLst/>
            <a:gdLst/>
            <a:ahLst/>
            <a:rect l="0" t="0" r="r" b="b"/>
            <a:pathLst>
              <a:path w="5610" h="28">
                <a:moveTo>
                  <a:pt x="0" y="0"/>
                </a:moveTo>
                <a:lnTo>
                  <a:pt x="5610" y="0"/>
                </a:lnTo>
                <a:lnTo>
                  <a:pt x="56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538128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571320" y="4485960"/>
            <a:ext cx="1467360" cy="10080"/>
          </a:xfrm>
          <a:custGeom>
            <a:avLst/>
            <a:gdLst/>
            <a:ah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202860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2038320" y="448596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336204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3371760" y="4485960"/>
            <a:ext cx="2019600" cy="10080"/>
          </a:xfrm>
          <a:custGeom>
            <a:avLst/>
            <a:gdLst/>
            <a:ahLst/>
            <a:rect l="0" t="0" r="r" b="b"/>
            <a:pathLst>
              <a:path w="5610" h="28">
                <a:moveTo>
                  <a:pt x="0" y="0"/>
                </a:moveTo>
                <a:lnTo>
                  <a:pt x="5610" y="0"/>
                </a:lnTo>
                <a:lnTo>
                  <a:pt x="56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538128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571320" y="4867200"/>
            <a:ext cx="1467360" cy="9720"/>
          </a:xfrm>
          <a:custGeom>
            <a:avLst/>
            <a:gdLst/>
            <a:ah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2038320" y="486720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3371760" y="4867200"/>
            <a:ext cx="2019600" cy="9720"/>
          </a:xfrm>
          <a:custGeom>
            <a:avLst/>
            <a:gdLst/>
            <a:ahLst/>
            <a:rect l="0" t="0" r="r" b="b"/>
            <a:pathLst>
              <a:path w="5610" h="27">
                <a:moveTo>
                  <a:pt x="0" y="0"/>
                </a:moveTo>
                <a:lnTo>
                  <a:pt x="5610" y="0"/>
                </a:lnTo>
                <a:lnTo>
                  <a:pt x="56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571320" y="166860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关键⻛险点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70488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⻛险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216216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预警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349380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应对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704880" y="269496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⼒量区楼板挠度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2162160" y="269496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半年专业检测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3493800" y="2694960"/>
            <a:ext cx="97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加固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限载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704880" y="30661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镜⾯墙松动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216216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每⽉⽬检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3493800" y="30661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结构胶重做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704880" y="343764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声学衰减下降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2162160" y="3437640"/>
            <a:ext cx="110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季度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dB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实测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3493800" y="34376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更换吸⾳板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704880" y="380916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淋浴地漏堵塞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216216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每周检查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349380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外包疏通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704880" y="4180680"/>
            <a:ext cx="1224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异味（汗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鞋）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2162160" y="4180680"/>
            <a:ext cx="1165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每⽇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次通⻛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3493800" y="4180680"/>
            <a:ext cx="133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强排⻛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除味剂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704880" y="45522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会员受伤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2162160" y="45522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3493800" y="4552200"/>
            <a:ext cx="185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公众责任险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免责协议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运营经理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571320" y="1106640"/>
            <a:ext cx="1671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保险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免责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628560" y="22096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571320" y="1672200"/>
            <a:ext cx="915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必备险种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628560" y="25714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838080" y="2092320"/>
            <a:ext cx="4082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公众责任险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：保额 ≥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万（会员意外）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628560" y="29239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4"/>
                  <a:pt x="93" y="0"/>
                  <a:pt x="107" y="0"/>
                </a:cubicBezTo>
                <a:cubicBezTo>
                  <a:pt x="121" y="0"/>
                  <a:pt x="134" y="4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838080" y="2454480"/>
            <a:ext cx="3962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财物险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：器械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装修（保额 ≥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¥50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628560" y="32860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838080" y="2806920"/>
            <a:ext cx="2448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雇主责任险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：教练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前台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838080" y="3168720"/>
            <a:ext cx="2923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团体意外险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：可选择给会员团购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628560" y="41050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571320" y="3567600"/>
            <a:ext cx="22867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免责协议（⼊会必签）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628560" y="44668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838080" y="3988080"/>
            <a:ext cx="2088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⾃身健康状况告知义务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628560" y="48290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4"/>
                </a:cubicBezTo>
                <a:cubicBezTo>
                  <a:pt x="53" y="199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838080" y="4349880"/>
            <a:ext cx="1879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器械使⽤按教练指导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628560" y="5190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838080" y="471168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贵重物品⾃⾏保管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838080" y="5073840"/>
            <a:ext cx="2088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私教与⼯作室分责条款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运营经理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580680" y="18856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1866600" y="1885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2466720" y="18856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580680" y="18856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1866600" y="1885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2466720" y="18856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580680" y="2257200"/>
            <a:ext cx="1286280" cy="381240"/>
          </a:xfrm>
          <a:custGeom>
            <a:avLst/>
            <a:gdLst/>
            <a:ahLst/>
            <a:rect l="0" t="0" r="r" b="b"/>
            <a:pathLst>
              <a:path w="3573" h="1059">
                <a:moveTo>
                  <a:pt x="0" y="0"/>
                </a:moveTo>
                <a:lnTo>
                  <a:pt x="3573" y="0"/>
                </a:lnTo>
                <a:lnTo>
                  <a:pt x="357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1866600" y="225720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2466720" y="2257200"/>
            <a:ext cx="943560" cy="381240"/>
          </a:xfrm>
          <a:custGeom>
            <a:avLst/>
            <a:gdLst/>
            <a:ahLst/>
            <a:rect l="0" t="0" r="r" b="b"/>
            <a:pathLst>
              <a:path w="2621" h="1059">
                <a:moveTo>
                  <a:pt x="0" y="0"/>
                </a:moveTo>
                <a:lnTo>
                  <a:pt x="2621" y="0"/>
                </a:lnTo>
                <a:lnTo>
                  <a:pt x="26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580680" y="26380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1866600" y="26380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2466720" y="26380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580680" y="300960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1866600" y="30096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2466720" y="300960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580680" y="338112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1866600" y="33811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2466720" y="338112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580680" y="375264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1866600" y="3752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2466720" y="375264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580680" y="412416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1866600" y="41241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2466720" y="41241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580680" y="44956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1866600" y="4495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2466720" y="44956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580680" y="486720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1866600" y="48672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2466720" y="486720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5713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571320" y="1885680"/>
            <a:ext cx="1295640" cy="10440"/>
          </a:xfrm>
          <a:custGeom>
            <a:avLst/>
            <a:gdLst/>
            <a:ahLst/>
            <a:rect l="0" t="0" r="r" b="b"/>
            <a:pathLst>
              <a:path w="3599" h="29">
                <a:moveTo>
                  <a:pt x="0" y="0"/>
                </a:moveTo>
                <a:lnTo>
                  <a:pt x="3599" y="0"/>
                </a:lnTo>
                <a:lnTo>
                  <a:pt x="359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185724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1866600" y="1885680"/>
            <a:ext cx="600480" cy="10440"/>
          </a:xfrm>
          <a:custGeom>
            <a:avLst/>
            <a:gdLst/>
            <a:ahLst/>
            <a:rect l="0" t="0" r="r" b="b"/>
            <a:pathLst>
              <a:path w="1668" h="29">
                <a:moveTo>
                  <a:pt x="0" y="0"/>
                </a:moveTo>
                <a:lnTo>
                  <a:pt x="1668" y="0"/>
                </a:lnTo>
                <a:lnTo>
                  <a:pt x="166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245736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2466720" y="1885680"/>
            <a:ext cx="943560" cy="10440"/>
          </a:xfrm>
          <a:custGeom>
            <a:avLst/>
            <a:gdLst/>
            <a:ahLst/>
            <a:rect l="0" t="0" r="r" b="b"/>
            <a:pathLst>
              <a:path w="2621" h="29">
                <a:moveTo>
                  <a:pt x="0" y="0"/>
                </a:moveTo>
                <a:lnTo>
                  <a:pt x="2621" y="0"/>
                </a:lnTo>
                <a:lnTo>
                  <a:pt x="2621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3400200" y="18856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571320" y="225720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1866600" y="225720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2466720" y="2257200"/>
            <a:ext cx="943560" cy="10080"/>
          </a:xfrm>
          <a:custGeom>
            <a:avLst/>
            <a:gdLst/>
            <a:ahLst/>
            <a:rect l="0" t="0" r="r" b="b"/>
            <a:pathLst>
              <a:path w="2621" h="28">
                <a:moveTo>
                  <a:pt x="0" y="0"/>
                </a:moveTo>
                <a:lnTo>
                  <a:pt x="2621" y="0"/>
                </a:lnTo>
                <a:lnTo>
                  <a:pt x="2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5713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185724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245736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340020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571320" y="262872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185724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1866600" y="262872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245736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2466720" y="262872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340020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571320" y="300024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185724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1866600" y="300024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245736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2466720" y="300024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340020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571320" y="337176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185724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1866600" y="33717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245736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2466720" y="337176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34002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571320" y="374328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185724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1866600" y="37432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245736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2466720" y="374328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340020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571320" y="411444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185724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1866600" y="41144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245736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2466720" y="4114440"/>
            <a:ext cx="943560" cy="10080"/>
          </a:xfrm>
          <a:custGeom>
            <a:avLst/>
            <a:gdLst/>
            <a:ahLst/>
            <a:rect l="0" t="0" r="r" b="b"/>
            <a:pathLst>
              <a:path w="2621" h="28">
                <a:moveTo>
                  <a:pt x="0" y="0"/>
                </a:moveTo>
                <a:lnTo>
                  <a:pt x="2621" y="0"/>
                </a:lnTo>
                <a:lnTo>
                  <a:pt x="2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340020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571320" y="448596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185724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1866600" y="448596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245736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2466720" y="4485960"/>
            <a:ext cx="943560" cy="10080"/>
          </a:xfrm>
          <a:custGeom>
            <a:avLst/>
            <a:gdLst/>
            <a:ahLst/>
            <a:rect l="0" t="0" r="r" b="b"/>
            <a:pathLst>
              <a:path w="2621" h="28">
                <a:moveTo>
                  <a:pt x="0" y="0"/>
                </a:moveTo>
                <a:lnTo>
                  <a:pt x="2621" y="0"/>
                </a:lnTo>
                <a:lnTo>
                  <a:pt x="2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340020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5713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571320" y="486720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185724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1866600" y="486720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245736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2466720" y="486720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340020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571320" y="523872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1866600" y="523872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2466720" y="523872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571320" y="129744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维保计划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704880" y="1951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1990800" y="1951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2590920" y="19519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供应商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704880" y="23234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镜⾯墙检查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1990800" y="23234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259092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⾃查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704880" y="269496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镜⾯结构胶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1990800" y="2694960"/>
            <a:ext cx="37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259092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外包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70488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空调滤⽹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1990800" y="3066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季度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2590920" y="30661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70488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新⻛滤芯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1990800" y="3437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半年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2590920" y="3437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704880" y="380916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器械紧固件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1990800" y="38091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2590920" y="3809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704880" y="418068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瑜伽垫更换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1990800" y="41806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半年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2590920" y="4180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704880" y="455220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⽊地板打蜡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1990800" y="45522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2590920" y="45522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704880" y="493308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消防器材检测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1990800" y="493308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2590920" y="49330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消防公司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运营经理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571320" y="269532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4A8B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628560" y="30952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571320" y="1735200"/>
            <a:ext cx="42678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运营仪表盘建议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628560" y="3457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838080" y="2978280"/>
            <a:ext cx="3643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⽇签到数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⽇新增会员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课程出席率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628560" y="38192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838080" y="3340080"/>
            <a:ext cx="2657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私教课时占⽐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团课满员率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628560" y="41814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838080" y="3702240"/>
            <a:ext cx="2088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会员续费率（⽉环⽐）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628560" y="4543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838080" y="4064040"/>
            <a:ext cx="2781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投诉响应时⻓（⽬标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&lt; 2 h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838080" y="4426200"/>
            <a:ext cx="3101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器械使⽤频次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Top 5 / Bottom 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运营经理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117838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