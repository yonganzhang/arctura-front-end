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3162240"/>
            <a:ext cx="11049480" cy="57240"/>
          </a:xfrm>
          <a:custGeom>
            <a:avLst/>
            <a:gdLst/>
            <a:ahLst/>
            <a:rect l="0" t="0" r="r" b="b"/>
            <a:pathLst>
              <a:path w="30693" h="159">
                <a:moveTo>
                  <a:pt x="0" y="0"/>
                </a:moveTo>
                <a:lnTo>
                  <a:pt x="30693" y="0"/>
                </a:lnTo>
                <a:lnTo>
                  <a:pt x="30693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2A6F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71320" y="2201760"/>
            <a:ext cx="709704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Lift Studio · BIM </a:t>
            </a:r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协同包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71320" y="3420360"/>
            <a:ext cx="393192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IFC4 ISO +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多格式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fallback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71320" y="4015440"/>
            <a:ext cx="29257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给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BIM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⼯程师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机电协同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85840" y="6409440"/>
            <a:ext cx="372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⼯程师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76000" y="2585880"/>
            <a:ext cx="11039760" cy="1953000"/>
          </a:xfrm>
          <a:custGeom>
            <a:avLst/>
            <a:gdLst/>
            <a:ahLst/>
            <a:rect l="0" t="0" r="r" b="b"/>
            <a:pathLst>
              <a:path w="30666" h="5425">
                <a:moveTo>
                  <a:pt x="0" y="527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7"/>
                  <a:pt x="30577" y="11"/>
                </a:cubicBezTo>
                <a:cubicBezTo>
                  <a:pt x="30585" y="15"/>
                  <a:pt x="30594" y="19"/>
                  <a:pt x="30602" y="24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49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5279"/>
                </a:lnTo>
                <a:cubicBezTo>
                  <a:pt x="30666" y="5289"/>
                  <a:pt x="30665" y="5298"/>
                  <a:pt x="30664" y="5308"/>
                </a:cubicBezTo>
                <a:cubicBezTo>
                  <a:pt x="30662" y="5317"/>
                  <a:pt x="30659" y="5326"/>
                  <a:pt x="30655" y="5335"/>
                </a:cubicBezTo>
                <a:cubicBezTo>
                  <a:pt x="30652" y="5344"/>
                  <a:pt x="30647" y="5352"/>
                  <a:pt x="30642" y="5360"/>
                </a:cubicBezTo>
                <a:cubicBezTo>
                  <a:pt x="30637" y="5368"/>
                  <a:pt x="30631" y="5376"/>
                  <a:pt x="30624" y="5382"/>
                </a:cubicBezTo>
                <a:cubicBezTo>
                  <a:pt x="30617" y="5389"/>
                  <a:pt x="30610" y="5395"/>
                  <a:pt x="30602" y="5400"/>
                </a:cubicBezTo>
                <a:cubicBezTo>
                  <a:pt x="30594" y="5406"/>
                  <a:pt x="30585" y="5410"/>
                  <a:pt x="30577" y="5414"/>
                </a:cubicBezTo>
                <a:cubicBezTo>
                  <a:pt x="30568" y="5417"/>
                  <a:pt x="30559" y="5420"/>
                  <a:pt x="30549" y="5422"/>
                </a:cubicBezTo>
                <a:cubicBezTo>
                  <a:pt x="30540" y="5424"/>
                  <a:pt x="30530" y="5425"/>
                  <a:pt x="30521" y="5425"/>
                </a:cubicBezTo>
                <a:lnTo>
                  <a:pt x="146" y="5425"/>
                </a:lnTo>
                <a:cubicBezTo>
                  <a:pt x="136" y="5425"/>
                  <a:pt x="127" y="5424"/>
                  <a:pt x="117" y="5422"/>
                </a:cubicBezTo>
                <a:cubicBezTo>
                  <a:pt x="108" y="5420"/>
                  <a:pt x="99" y="5417"/>
                  <a:pt x="90" y="5414"/>
                </a:cubicBezTo>
                <a:cubicBezTo>
                  <a:pt x="81" y="5410"/>
                  <a:pt x="73" y="5406"/>
                  <a:pt x="65" y="5400"/>
                </a:cubicBezTo>
                <a:cubicBezTo>
                  <a:pt x="57" y="5395"/>
                  <a:pt x="50" y="5389"/>
                  <a:pt x="43" y="5382"/>
                </a:cubicBezTo>
                <a:cubicBezTo>
                  <a:pt x="36" y="5376"/>
                  <a:pt x="30" y="5368"/>
                  <a:pt x="25" y="5360"/>
                </a:cubicBezTo>
                <a:cubicBezTo>
                  <a:pt x="19" y="5352"/>
                  <a:pt x="15" y="5344"/>
                  <a:pt x="11" y="5335"/>
                </a:cubicBezTo>
                <a:cubicBezTo>
                  <a:pt x="8" y="5326"/>
                  <a:pt x="5" y="5317"/>
                  <a:pt x="3" y="5308"/>
                </a:cubicBezTo>
                <a:cubicBezTo>
                  <a:pt x="1" y="5298"/>
                  <a:pt x="0" y="5289"/>
                  <a:pt x="0" y="527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576000" y="2585880"/>
            <a:ext cx="11039760" cy="1953000"/>
          </a:xfrm>
          <a:custGeom>
            <a:avLst/>
            <a:gdLst/>
            <a:ahLst/>
            <a:rect l="0" t="0" r="r" b="b"/>
            <a:pathLst>
              <a:path w="30666" h="5425">
                <a:moveTo>
                  <a:pt x="0" y="527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7"/>
                  <a:pt x="30577" y="11"/>
                </a:cubicBezTo>
                <a:cubicBezTo>
                  <a:pt x="30585" y="15"/>
                  <a:pt x="30594" y="19"/>
                  <a:pt x="30602" y="24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49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5279"/>
                </a:lnTo>
                <a:cubicBezTo>
                  <a:pt x="30666" y="5289"/>
                  <a:pt x="30665" y="5298"/>
                  <a:pt x="30664" y="5308"/>
                </a:cubicBezTo>
                <a:cubicBezTo>
                  <a:pt x="30662" y="5317"/>
                  <a:pt x="30659" y="5326"/>
                  <a:pt x="30655" y="5335"/>
                </a:cubicBezTo>
                <a:cubicBezTo>
                  <a:pt x="30652" y="5344"/>
                  <a:pt x="30647" y="5352"/>
                  <a:pt x="30642" y="5360"/>
                </a:cubicBezTo>
                <a:cubicBezTo>
                  <a:pt x="30637" y="5368"/>
                  <a:pt x="30631" y="5376"/>
                  <a:pt x="30624" y="5382"/>
                </a:cubicBezTo>
                <a:cubicBezTo>
                  <a:pt x="30617" y="5389"/>
                  <a:pt x="30610" y="5395"/>
                  <a:pt x="30602" y="5400"/>
                </a:cubicBezTo>
                <a:cubicBezTo>
                  <a:pt x="30594" y="5406"/>
                  <a:pt x="30585" y="5410"/>
                  <a:pt x="30577" y="5414"/>
                </a:cubicBezTo>
                <a:cubicBezTo>
                  <a:pt x="30568" y="5417"/>
                  <a:pt x="30559" y="5420"/>
                  <a:pt x="30549" y="5422"/>
                </a:cubicBezTo>
                <a:cubicBezTo>
                  <a:pt x="30540" y="5424"/>
                  <a:pt x="30530" y="5425"/>
                  <a:pt x="30521" y="5425"/>
                </a:cubicBezTo>
                <a:lnTo>
                  <a:pt x="146" y="5425"/>
                </a:lnTo>
                <a:cubicBezTo>
                  <a:pt x="136" y="5425"/>
                  <a:pt x="127" y="5424"/>
                  <a:pt x="117" y="5422"/>
                </a:cubicBezTo>
                <a:cubicBezTo>
                  <a:pt x="108" y="5420"/>
                  <a:pt x="99" y="5417"/>
                  <a:pt x="90" y="5414"/>
                </a:cubicBezTo>
                <a:cubicBezTo>
                  <a:pt x="81" y="5410"/>
                  <a:pt x="73" y="5406"/>
                  <a:pt x="65" y="5400"/>
                </a:cubicBezTo>
                <a:cubicBezTo>
                  <a:pt x="57" y="5395"/>
                  <a:pt x="50" y="5389"/>
                  <a:pt x="43" y="5382"/>
                </a:cubicBezTo>
                <a:cubicBezTo>
                  <a:pt x="36" y="5376"/>
                  <a:pt x="30" y="5368"/>
                  <a:pt x="25" y="5360"/>
                </a:cubicBezTo>
                <a:cubicBezTo>
                  <a:pt x="19" y="5352"/>
                  <a:pt x="15" y="5344"/>
                  <a:pt x="11" y="5335"/>
                </a:cubicBezTo>
                <a:cubicBezTo>
                  <a:pt x="8" y="5326"/>
                  <a:pt x="5" y="5317"/>
                  <a:pt x="3" y="5308"/>
                </a:cubicBezTo>
                <a:cubicBezTo>
                  <a:pt x="1" y="5298"/>
                  <a:pt x="0" y="5289"/>
                  <a:pt x="0" y="527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571320" y="2002320"/>
            <a:ext cx="25588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IFC4 Schema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概览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733320" y="2739960"/>
            <a:ext cx="36507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Schema     : IFC4 (ISO 16739:2017)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733320" y="2949480"/>
            <a:ext cx="4938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Project    : Lift Studio · Boutique Fitness v1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733320" y="3149280"/>
            <a:ext cx="13964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Site       :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2127600" y="3125880"/>
            <a:ext cx="19620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底商单层，假设北向参考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733320" y="3358800"/>
            <a:ext cx="22550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Building   : 1-storey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733320" y="3558960"/>
            <a:ext cx="4938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Storey     : F1, elevation 0.0 m, height 3.5 m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733320" y="3768480"/>
            <a:ext cx="4402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Units      : SI (METRE, KILOGRAM, DEGREE)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733320" y="3968640"/>
            <a:ext cx="31140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Area       : 100 m² (10 × 10)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733320" y="4178160"/>
            <a:ext cx="45093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Export     : exports/05-fitness-studio.ifc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285840" y="6409440"/>
            <a:ext cx="372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⼯程师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1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286320" y="1916280"/>
            <a:ext cx="27349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IfcProduct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拆分统计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628560" y="5000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838080" y="4521240"/>
            <a:ext cx="4602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IfcWall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× 6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（外墙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半⾼声隔墙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淋浴隔墙）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628560" y="53625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838080" y="4883400"/>
            <a:ext cx="2768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IfcSlab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× 2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（楼板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天花）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628560" y="57243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38080" y="5245200"/>
            <a:ext cx="2986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IfcSpace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× 8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（功能分区映射）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628560" y="60768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838080" y="5607000"/>
            <a:ext cx="4696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IfcFurniture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× 60+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（器械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瑜伽垫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储物柜）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628560" y="64386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838080" y="5959440"/>
            <a:ext cx="3320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IfcDoor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× 3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（⼊⼝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淋浴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 2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628560" y="6800760"/>
            <a:ext cx="76320" cy="57240"/>
          </a:xfrm>
          <a:custGeom>
            <a:avLst/>
            <a:gdLst/>
            <a:ahLst/>
            <a:rect l="0" t="0" r="r" b="b"/>
            <a:pathLst>
              <a:path w="212" h="159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203" y="151"/>
                  <a:pt x="201" y="156"/>
                  <a:pt x="198" y="159"/>
                </a:cubicBezTo>
                <a:lnTo>
                  <a:pt x="14" y="159"/>
                </a:lnTo>
                <a:cubicBezTo>
                  <a:pt x="12" y="156"/>
                  <a:pt x="10" y="151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838080" y="6321600"/>
            <a:ext cx="4822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IfcLightFixture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× 13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（轨道射灯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线灯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吊灯）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838080" y="6683400"/>
            <a:ext cx="3911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IfcMirror/IfcWindow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× 5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（镜⾯墙分块）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285840" y="6409440"/>
            <a:ext cx="372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⼯程师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94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6286320" y="1916280"/>
            <a:ext cx="1719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导⼊校验记录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628560" y="5000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838080" y="4521240"/>
            <a:ext cx="3152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Revit 2024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—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通过（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link IFC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628560" y="53625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838080" y="4883400"/>
            <a:ext cx="3497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ArchiCAD 27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—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通过（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IFC open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628560" y="57243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838080" y="5245200"/>
            <a:ext cx="3172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BlenderBIM 0.7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—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通过（原⽣）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628560" y="60768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838080" y="5607000"/>
            <a:ext cx="4150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Solibri Oﬃce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—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通过（⽆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critical issue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838080" y="5959440"/>
            <a:ext cx="4224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Navisworks 2024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—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通过（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fbx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转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nwc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285840" y="6409440"/>
            <a:ext cx="372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⼯程师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13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6286320" y="1916280"/>
            <a:ext cx="3438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结构关注：⼒量区楼板加固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28560" y="5000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838080" y="4521240"/>
            <a:ext cx="4654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峰值荷载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：深蹲架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⼈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杠铃 ≈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350 kg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点载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628560" y="53625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838080" y="4883400"/>
            <a:ext cx="410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动荷载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：硬拉甩放瞬间冲击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2.5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安全系数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628560" y="57243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838080" y="5245200"/>
            <a:ext cx="4726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要求楼板承重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：≥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800 kg/m²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（⼒量区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24 m²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628560" y="60768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838080" y="5607000"/>
            <a:ext cx="4790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原楼板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：需现场复测，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&lt; 500 kg/m²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则底部加钢梁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1923840" y="5972040"/>
            <a:ext cx="2324520" cy="276480"/>
          </a:xfrm>
          <a:custGeom>
            <a:avLst/>
            <a:gdLst/>
            <a:ahLst/>
            <a:rect l="0" t="0" r="r" b="b"/>
            <a:pathLst>
              <a:path w="6457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6457" y="0"/>
                </a:lnTo>
                <a:lnTo>
                  <a:pt x="6457" y="768"/>
                </a:ln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838080" y="5959440"/>
            <a:ext cx="1141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BIM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标注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838080" y="6276960"/>
            <a:ext cx="4724640" cy="276480"/>
          </a:xfrm>
          <a:custGeom>
            <a:avLst/>
            <a:gdLst/>
            <a:ahLst/>
            <a:rect l="0" t="0" r="r" b="b"/>
            <a:pathLst>
              <a:path w="13124" h="768">
                <a:moveTo>
                  <a:pt x="0" y="0"/>
                </a:moveTo>
                <a:lnTo>
                  <a:pt x="13045" y="0"/>
                </a:lnTo>
                <a:cubicBezTo>
                  <a:pt x="13055" y="0"/>
                  <a:pt x="13065" y="2"/>
                  <a:pt x="13075" y="6"/>
                </a:cubicBezTo>
                <a:cubicBezTo>
                  <a:pt x="13085" y="10"/>
                  <a:pt x="13093" y="15"/>
                  <a:pt x="13101" y="23"/>
                </a:cubicBezTo>
                <a:cubicBezTo>
                  <a:pt x="13108" y="30"/>
                  <a:pt x="13114" y="39"/>
                  <a:pt x="13118" y="49"/>
                </a:cubicBezTo>
                <a:cubicBezTo>
                  <a:pt x="13122" y="58"/>
                  <a:pt x="13124" y="68"/>
                  <a:pt x="13124" y="79"/>
                </a:cubicBezTo>
                <a:lnTo>
                  <a:pt x="13124" y="688"/>
                </a:lnTo>
                <a:cubicBezTo>
                  <a:pt x="13124" y="699"/>
                  <a:pt x="13122" y="709"/>
                  <a:pt x="13118" y="719"/>
                </a:cubicBezTo>
                <a:cubicBezTo>
                  <a:pt x="13114" y="729"/>
                  <a:pt x="13108" y="737"/>
                  <a:pt x="13101" y="745"/>
                </a:cubicBezTo>
                <a:cubicBezTo>
                  <a:pt x="13093" y="752"/>
                  <a:pt x="13085" y="758"/>
                  <a:pt x="13075" y="762"/>
                </a:cubicBezTo>
                <a:cubicBezTo>
                  <a:pt x="13065" y="766"/>
                  <a:pt x="13055" y="768"/>
                  <a:pt x="13045" y="768"/>
                </a:cubicBez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1981440" y="5987160"/>
            <a:ext cx="22633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Pset_LoadBearing: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838080" y="6292080"/>
            <a:ext cx="46515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reinforced=true, design_load=800kg/m²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285840" y="6409440"/>
            <a:ext cx="372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⼯程师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36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"/>
          <p:cNvSpPr txBox="1"/>
          <p:nvPr/>
        </p:nvSpPr>
        <p:spPr>
          <a:xfrm>
            <a:off x="6286320" y="1916280"/>
            <a:ext cx="2238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MEP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协同关键点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628920" y="4521240"/>
            <a:ext cx="5360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瑜伽区独⽴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VRV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⽀路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（温控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24°C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，与⼒量区分离）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587160" y="4883400"/>
            <a:ext cx="4887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⼒量区强排⻛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500 CFM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（除汗味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降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CO₂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587160" y="5245200"/>
            <a:ext cx="5065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新⻛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300 m³/h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（≥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 m³/h/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⼈，峰值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⼈）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587160" y="5607000"/>
            <a:ext cx="4995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淋浴区给排⽔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：热⽔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DN20 × 2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、排⽔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DN75 × 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587160" y="5959440"/>
            <a:ext cx="4062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镜⾯墙顶部线灯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与结构梁避让 ≥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 mm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587160" y="6321600"/>
            <a:ext cx="4288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每器械位预留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220V × 1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（⾳响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拉伸枪）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285840" y="6409440"/>
            <a:ext cx="372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⼯程师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580680" y="2304720"/>
            <a:ext cx="867240" cy="381600"/>
          </a:xfrm>
          <a:custGeom>
            <a:avLst/>
            <a:gdLst/>
            <a:ahLst/>
            <a:rect l="0" t="0" r="r" b="b"/>
            <a:pathLst>
              <a:path w="2409" h="1060">
                <a:moveTo>
                  <a:pt x="0" y="0"/>
                </a:moveTo>
                <a:lnTo>
                  <a:pt x="2409" y="0"/>
                </a:lnTo>
                <a:lnTo>
                  <a:pt x="240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1447560" y="2304720"/>
            <a:ext cx="1019520" cy="381600"/>
          </a:xfrm>
          <a:custGeom>
            <a:avLst/>
            <a:gdLst/>
            <a:ahLst/>
            <a:rect l="0" t="0" r="r" b="b"/>
            <a:pathLst>
              <a:path w="2832" h="1060">
                <a:moveTo>
                  <a:pt x="0" y="0"/>
                </a:moveTo>
                <a:lnTo>
                  <a:pt x="2832" y="0"/>
                </a:lnTo>
                <a:lnTo>
                  <a:pt x="2832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2466720" y="2304720"/>
            <a:ext cx="3429360" cy="381600"/>
          </a:xfrm>
          <a:custGeom>
            <a:avLst/>
            <a:gdLst/>
            <a:ahLst/>
            <a:rect l="0" t="0" r="r" b="b"/>
            <a:pathLst>
              <a:path w="9526" h="1060">
                <a:moveTo>
                  <a:pt x="0" y="0"/>
                </a:moveTo>
                <a:lnTo>
                  <a:pt x="9526" y="0"/>
                </a:lnTo>
                <a:lnTo>
                  <a:pt x="9526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580680" y="2304720"/>
            <a:ext cx="867240" cy="381600"/>
          </a:xfrm>
          <a:custGeom>
            <a:avLst/>
            <a:gdLst/>
            <a:ahLst/>
            <a:rect l="0" t="0" r="r" b="b"/>
            <a:pathLst>
              <a:path w="2409" h="1060">
                <a:moveTo>
                  <a:pt x="0" y="0"/>
                </a:moveTo>
                <a:lnTo>
                  <a:pt x="2409" y="0"/>
                </a:lnTo>
                <a:lnTo>
                  <a:pt x="240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1447560" y="2304720"/>
            <a:ext cx="1019520" cy="381600"/>
          </a:xfrm>
          <a:custGeom>
            <a:avLst/>
            <a:gdLst/>
            <a:ahLst/>
            <a:rect l="0" t="0" r="r" b="b"/>
            <a:pathLst>
              <a:path w="2832" h="1060">
                <a:moveTo>
                  <a:pt x="0" y="0"/>
                </a:moveTo>
                <a:lnTo>
                  <a:pt x="2832" y="0"/>
                </a:lnTo>
                <a:lnTo>
                  <a:pt x="2832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2466720" y="2304720"/>
            <a:ext cx="3429360" cy="381600"/>
          </a:xfrm>
          <a:custGeom>
            <a:avLst/>
            <a:gdLst/>
            <a:ahLst/>
            <a:rect l="0" t="0" r="r" b="b"/>
            <a:pathLst>
              <a:path w="9526" h="1060">
                <a:moveTo>
                  <a:pt x="0" y="0"/>
                </a:moveTo>
                <a:lnTo>
                  <a:pt x="9526" y="0"/>
                </a:lnTo>
                <a:lnTo>
                  <a:pt x="9526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580680" y="2685960"/>
            <a:ext cx="867240" cy="419400"/>
          </a:xfrm>
          <a:custGeom>
            <a:avLst/>
            <a:gdLst/>
            <a:ahLst/>
            <a:rect l="0" t="0" r="r" b="b"/>
            <a:pathLst>
              <a:path w="2409" h="1165">
                <a:moveTo>
                  <a:pt x="0" y="0"/>
                </a:moveTo>
                <a:lnTo>
                  <a:pt x="2409" y="0"/>
                </a:lnTo>
                <a:lnTo>
                  <a:pt x="240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1447560" y="2685960"/>
            <a:ext cx="1019520" cy="419400"/>
          </a:xfrm>
          <a:custGeom>
            <a:avLst/>
            <a:gdLst/>
            <a:ahLst/>
            <a:rect l="0" t="0" r="r" b="b"/>
            <a:pathLst>
              <a:path w="2832" h="1165">
                <a:moveTo>
                  <a:pt x="0" y="0"/>
                </a:moveTo>
                <a:lnTo>
                  <a:pt x="2832" y="0"/>
                </a:lnTo>
                <a:lnTo>
                  <a:pt x="283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2466720" y="2685960"/>
            <a:ext cx="3429360" cy="419400"/>
          </a:xfrm>
          <a:custGeom>
            <a:avLst/>
            <a:gdLst/>
            <a:ahLst/>
            <a:rect l="0" t="0" r="r" b="b"/>
            <a:pathLst>
              <a:path w="9526" h="1165">
                <a:moveTo>
                  <a:pt x="0" y="0"/>
                </a:moveTo>
                <a:lnTo>
                  <a:pt x="9526" y="0"/>
                </a:lnTo>
                <a:lnTo>
                  <a:pt x="952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580680" y="3105000"/>
            <a:ext cx="867240" cy="429120"/>
          </a:xfrm>
          <a:custGeom>
            <a:avLst/>
            <a:gdLst/>
            <a:ahLst/>
            <a:rect l="0" t="0" r="r" b="b"/>
            <a:pathLst>
              <a:path w="2409" h="1192">
                <a:moveTo>
                  <a:pt x="0" y="0"/>
                </a:moveTo>
                <a:lnTo>
                  <a:pt x="2409" y="0"/>
                </a:lnTo>
                <a:lnTo>
                  <a:pt x="2409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1447560" y="3105000"/>
            <a:ext cx="1019520" cy="429120"/>
          </a:xfrm>
          <a:custGeom>
            <a:avLst/>
            <a:gdLst/>
            <a:ahLst/>
            <a:rect l="0" t="0" r="r" b="b"/>
            <a:pathLst>
              <a:path w="2832" h="1192">
                <a:moveTo>
                  <a:pt x="0" y="0"/>
                </a:moveTo>
                <a:lnTo>
                  <a:pt x="2832" y="0"/>
                </a:lnTo>
                <a:lnTo>
                  <a:pt x="2832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2466720" y="3105000"/>
            <a:ext cx="3429360" cy="429120"/>
          </a:xfrm>
          <a:custGeom>
            <a:avLst/>
            <a:gdLst/>
            <a:ahLst/>
            <a:rect l="0" t="0" r="r" b="b"/>
            <a:pathLst>
              <a:path w="9526" h="1192">
                <a:moveTo>
                  <a:pt x="0" y="0"/>
                </a:moveTo>
                <a:lnTo>
                  <a:pt x="9526" y="0"/>
                </a:lnTo>
                <a:lnTo>
                  <a:pt x="9526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580680" y="3533760"/>
            <a:ext cx="867240" cy="428760"/>
          </a:xfrm>
          <a:custGeom>
            <a:avLst/>
            <a:gdLst/>
            <a:ahLst/>
            <a:rect l="0" t="0" r="r" b="b"/>
            <a:pathLst>
              <a:path w="2409" h="1191">
                <a:moveTo>
                  <a:pt x="0" y="0"/>
                </a:moveTo>
                <a:lnTo>
                  <a:pt x="2409" y="0"/>
                </a:lnTo>
                <a:lnTo>
                  <a:pt x="2409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1447560" y="3533760"/>
            <a:ext cx="1019520" cy="428760"/>
          </a:xfrm>
          <a:custGeom>
            <a:avLst/>
            <a:gdLst/>
            <a:ahLst/>
            <a:rect l="0" t="0" r="r" b="b"/>
            <a:pathLst>
              <a:path w="2832" h="1191">
                <a:moveTo>
                  <a:pt x="0" y="0"/>
                </a:moveTo>
                <a:lnTo>
                  <a:pt x="2832" y="0"/>
                </a:lnTo>
                <a:lnTo>
                  <a:pt x="2832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2466720" y="3533760"/>
            <a:ext cx="3429360" cy="428760"/>
          </a:xfrm>
          <a:custGeom>
            <a:avLst/>
            <a:gdLst/>
            <a:ahLst/>
            <a:rect l="0" t="0" r="r" b="b"/>
            <a:pathLst>
              <a:path w="9526" h="1191">
                <a:moveTo>
                  <a:pt x="0" y="0"/>
                </a:moveTo>
                <a:lnTo>
                  <a:pt x="9526" y="0"/>
                </a:lnTo>
                <a:lnTo>
                  <a:pt x="9526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580680" y="3962160"/>
            <a:ext cx="867240" cy="429120"/>
          </a:xfrm>
          <a:custGeom>
            <a:avLst/>
            <a:gdLst/>
            <a:ahLst/>
            <a:rect l="0" t="0" r="r" b="b"/>
            <a:pathLst>
              <a:path w="2409" h="1192">
                <a:moveTo>
                  <a:pt x="0" y="0"/>
                </a:moveTo>
                <a:lnTo>
                  <a:pt x="2409" y="0"/>
                </a:lnTo>
                <a:lnTo>
                  <a:pt x="2409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1447560" y="3962160"/>
            <a:ext cx="1019520" cy="429120"/>
          </a:xfrm>
          <a:custGeom>
            <a:avLst/>
            <a:gdLst/>
            <a:ahLst/>
            <a:rect l="0" t="0" r="r" b="b"/>
            <a:pathLst>
              <a:path w="2832" h="1192">
                <a:moveTo>
                  <a:pt x="0" y="0"/>
                </a:moveTo>
                <a:lnTo>
                  <a:pt x="2832" y="0"/>
                </a:lnTo>
                <a:lnTo>
                  <a:pt x="2832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2466720" y="3962160"/>
            <a:ext cx="3429360" cy="429120"/>
          </a:xfrm>
          <a:custGeom>
            <a:avLst/>
            <a:gdLst/>
            <a:ahLst/>
            <a:rect l="0" t="0" r="r" b="b"/>
            <a:pathLst>
              <a:path w="9526" h="1192">
                <a:moveTo>
                  <a:pt x="0" y="0"/>
                </a:moveTo>
                <a:lnTo>
                  <a:pt x="9526" y="0"/>
                </a:lnTo>
                <a:lnTo>
                  <a:pt x="9526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580680" y="4390920"/>
            <a:ext cx="867240" cy="428760"/>
          </a:xfrm>
          <a:custGeom>
            <a:avLst/>
            <a:gdLst/>
            <a:ahLst/>
            <a:rect l="0" t="0" r="r" b="b"/>
            <a:pathLst>
              <a:path w="2409" h="1191">
                <a:moveTo>
                  <a:pt x="0" y="0"/>
                </a:moveTo>
                <a:lnTo>
                  <a:pt x="2409" y="0"/>
                </a:lnTo>
                <a:lnTo>
                  <a:pt x="2409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1447560" y="4390920"/>
            <a:ext cx="1019520" cy="428760"/>
          </a:xfrm>
          <a:custGeom>
            <a:avLst/>
            <a:gdLst/>
            <a:ahLst/>
            <a:rect l="0" t="0" r="r" b="b"/>
            <a:pathLst>
              <a:path w="2832" h="1191">
                <a:moveTo>
                  <a:pt x="0" y="0"/>
                </a:moveTo>
                <a:lnTo>
                  <a:pt x="2832" y="0"/>
                </a:lnTo>
                <a:lnTo>
                  <a:pt x="2832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2466720" y="4390920"/>
            <a:ext cx="3429360" cy="428760"/>
          </a:xfrm>
          <a:custGeom>
            <a:avLst/>
            <a:gdLst/>
            <a:ahLst/>
            <a:rect l="0" t="0" r="r" b="b"/>
            <a:pathLst>
              <a:path w="9526" h="1191">
                <a:moveTo>
                  <a:pt x="0" y="0"/>
                </a:moveTo>
                <a:lnTo>
                  <a:pt x="9526" y="0"/>
                </a:lnTo>
                <a:lnTo>
                  <a:pt x="9526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571320" y="23047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571320" y="2304720"/>
            <a:ext cx="886320" cy="10080"/>
          </a:xfrm>
          <a:custGeom>
            <a:avLst/>
            <a:gdLst/>
            <a:ahLst/>
            <a:rect l="0" t="0" r="r" b="b"/>
            <a:pathLst>
              <a:path w="2462" h="28">
                <a:moveTo>
                  <a:pt x="0" y="0"/>
                </a:moveTo>
                <a:lnTo>
                  <a:pt x="2462" y="0"/>
                </a:lnTo>
                <a:lnTo>
                  <a:pt x="24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1447560" y="23047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1457280" y="2304720"/>
            <a:ext cx="1009800" cy="10080"/>
          </a:xfrm>
          <a:custGeom>
            <a:avLst/>
            <a:gdLst/>
            <a:ahLst/>
            <a:rect l="0" t="0" r="r" b="b"/>
            <a:pathLst>
              <a:path w="2805" h="28">
                <a:moveTo>
                  <a:pt x="0" y="0"/>
                </a:moveTo>
                <a:lnTo>
                  <a:pt x="2805" y="0"/>
                </a:lnTo>
                <a:lnTo>
                  <a:pt x="28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2457360" y="23047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2466720" y="2304720"/>
            <a:ext cx="3439080" cy="10080"/>
          </a:xfrm>
          <a:custGeom>
            <a:avLst/>
            <a:gdLst/>
            <a:ahLst/>
            <a:rect l="0" t="0" r="r" b="b"/>
            <a:pathLst>
              <a:path w="9553" h="28">
                <a:moveTo>
                  <a:pt x="0" y="0"/>
                </a:moveTo>
                <a:lnTo>
                  <a:pt x="9553" y="0"/>
                </a:lnTo>
                <a:lnTo>
                  <a:pt x="95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5895720" y="23047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571320" y="2676240"/>
            <a:ext cx="886320" cy="10080"/>
          </a:xfrm>
          <a:custGeom>
            <a:avLst/>
            <a:gdLst/>
            <a:ahLst/>
            <a:rect l="0" t="0" r="r" b="b"/>
            <a:pathLst>
              <a:path w="2462" h="28">
                <a:moveTo>
                  <a:pt x="0" y="0"/>
                </a:moveTo>
                <a:lnTo>
                  <a:pt x="2462" y="0"/>
                </a:lnTo>
                <a:lnTo>
                  <a:pt x="24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1457280" y="2676240"/>
            <a:ext cx="1009800" cy="10080"/>
          </a:xfrm>
          <a:custGeom>
            <a:avLst/>
            <a:gdLst/>
            <a:ahLst/>
            <a:rect l="0" t="0" r="r" b="b"/>
            <a:pathLst>
              <a:path w="2805" h="28">
                <a:moveTo>
                  <a:pt x="0" y="0"/>
                </a:moveTo>
                <a:lnTo>
                  <a:pt x="2805" y="0"/>
                </a:lnTo>
                <a:lnTo>
                  <a:pt x="28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2466720" y="2676240"/>
            <a:ext cx="3439080" cy="10080"/>
          </a:xfrm>
          <a:custGeom>
            <a:avLst/>
            <a:gdLst/>
            <a:ahLst/>
            <a:rect l="0" t="0" r="r" b="b"/>
            <a:pathLst>
              <a:path w="9553" h="28">
                <a:moveTo>
                  <a:pt x="0" y="0"/>
                </a:moveTo>
                <a:lnTo>
                  <a:pt x="9553" y="0"/>
                </a:lnTo>
                <a:lnTo>
                  <a:pt x="95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571320" y="268596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1447560" y="268596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2457360" y="268596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5895720" y="268596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571320" y="31143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571320" y="3105000"/>
            <a:ext cx="886320" cy="9720"/>
          </a:xfrm>
          <a:custGeom>
            <a:avLst/>
            <a:gdLst/>
            <a:ahLst/>
            <a:rect l="0" t="0" r="r" b="b"/>
            <a:pathLst>
              <a:path w="2462" h="27">
                <a:moveTo>
                  <a:pt x="0" y="0"/>
                </a:moveTo>
                <a:lnTo>
                  <a:pt x="2462" y="0"/>
                </a:lnTo>
                <a:lnTo>
                  <a:pt x="24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1447560" y="311436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1457280" y="3105000"/>
            <a:ext cx="1009800" cy="9720"/>
          </a:xfrm>
          <a:custGeom>
            <a:avLst/>
            <a:gdLst/>
            <a:ahLst/>
            <a:rect l="0" t="0" r="r" b="b"/>
            <a:pathLst>
              <a:path w="2805" h="27">
                <a:moveTo>
                  <a:pt x="0" y="0"/>
                </a:moveTo>
                <a:lnTo>
                  <a:pt x="2805" y="0"/>
                </a:lnTo>
                <a:lnTo>
                  <a:pt x="28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2457360" y="31143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2466720" y="3105000"/>
            <a:ext cx="3439080" cy="9720"/>
          </a:xfrm>
          <a:custGeom>
            <a:avLst/>
            <a:gdLst/>
            <a:ahLst/>
            <a:rect l="0" t="0" r="r" b="b"/>
            <a:pathLst>
              <a:path w="9553" h="27">
                <a:moveTo>
                  <a:pt x="0" y="0"/>
                </a:moveTo>
                <a:lnTo>
                  <a:pt x="9553" y="0"/>
                </a:lnTo>
                <a:lnTo>
                  <a:pt x="95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5895720" y="311436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571320" y="35431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571320" y="3533760"/>
            <a:ext cx="886320" cy="9720"/>
          </a:xfrm>
          <a:custGeom>
            <a:avLst/>
            <a:gdLst/>
            <a:ahLst/>
            <a:rect l="0" t="0" r="r" b="b"/>
            <a:pathLst>
              <a:path w="2462" h="27">
                <a:moveTo>
                  <a:pt x="0" y="0"/>
                </a:moveTo>
                <a:lnTo>
                  <a:pt x="2462" y="0"/>
                </a:lnTo>
                <a:lnTo>
                  <a:pt x="24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1447560" y="354312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1457280" y="3533760"/>
            <a:ext cx="1009800" cy="9720"/>
          </a:xfrm>
          <a:custGeom>
            <a:avLst/>
            <a:gdLst/>
            <a:ahLst/>
            <a:rect l="0" t="0" r="r" b="b"/>
            <a:pathLst>
              <a:path w="2805" h="27">
                <a:moveTo>
                  <a:pt x="0" y="0"/>
                </a:moveTo>
                <a:lnTo>
                  <a:pt x="2805" y="0"/>
                </a:lnTo>
                <a:lnTo>
                  <a:pt x="28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2457360" y="35431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2466720" y="3533760"/>
            <a:ext cx="3439080" cy="9720"/>
          </a:xfrm>
          <a:custGeom>
            <a:avLst/>
            <a:gdLst/>
            <a:ahLst/>
            <a:rect l="0" t="0" r="r" b="b"/>
            <a:pathLst>
              <a:path w="9553" h="27">
                <a:moveTo>
                  <a:pt x="0" y="0"/>
                </a:moveTo>
                <a:lnTo>
                  <a:pt x="9553" y="0"/>
                </a:lnTo>
                <a:lnTo>
                  <a:pt x="95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5895720" y="354312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571320" y="39718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571320" y="3962160"/>
            <a:ext cx="886320" cy="10080"/>
          </a:xfrm>
          <a:custGeom>
            <a:avLst/>
            <a:gdLst/>
            <a:ahLst/>
            <a:rect l="0" t="0" r="r" b="b"/>
            <a:pathLst>
              <a:path w="2462" h="28">
                <a:moveTo>
                  <a:pt x="0" y="0"/>
                </a:moveTo>
                <a:lnTo>
                  <a:pt x="2462" y="0"/>
                </a:lnTo>
                <a:lnTo>
                  <a:pt x="24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1447560" y="397188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1457280" y="3962160"/>
            <a:ext cx="1009800" cy="10080"/>
          </a:xfrm>
          <a:custGeom>
            <a:avLst/>
            <a:gdLst/>
            <a:ahLst/>
            <a:rect l="0" t="0" r="r" b="b"/>
            <a:pathLst>
              <a:path w="2805" h="28">
                <a:moveTo>
                  <a:pt x="0" y="0"/>
                </a:moveTo>
                <a:lnTo>
                  <a:pt x="2805" y="0"/>
                </a:lnTo>
                <a:lnTo>
                  <a:pt x="28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2457360" y="39718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2466720" y="3962160"/>
            <a:ext cx="3439080" cy="10080"/>
          </a:xfrm>
          <a:custGeom>
            <a:avLst/>
            <a:gdLst/>
            <a:ahLst/>
            <a:rect l="0" t="0" r="r" b="b"/>
            <a:pathLst>
              <a:path w="9553" h="28">
                <a:moveTo>
                  <a:pt x="0" y="0"/>
                </a:moveTo>
                <a:lnTo>
                  <a:pt x="9553" y="0"/>
                </a:lnTo>
                <a:lnTo>
                  <a:pt x="95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5895720" y="397188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571320" y="44002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571320" y="4390920"/>
            <a:ext cx="886320" cy="9720"/>
          </a:xfrm>
          <a:custGeom>
            <a:avLst/>
            <a:gdLst/>
            <a:ahLst/>
            <a:rect l="0" t="0" r="r" b="b"/>
            <a:pathLst>
              <a:path w="2462" h="27">
                <a:moveTo>
                  <a:pt x="0" y="0"/>
                </a:moveTo>
                <a:lnTo>
                  <a:pt x="2462" y="0"/>
                </a:lnTo>
                <a:lnTo>
                  <a:pt x="24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1447560" y="44002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1457280" y="4390920"/>
            <a:ext cx="1009800" cy="9720"/>
          </a:xfrm>
          <a:custGeom>
            <a:avLst/>
            <a:gdLst/>
            <a:ahLst/>
            <a:rect l="0" t="0" r="r" b="b"/>
            <a:pathLst>
              <a:path w="2805" h="27">
                <a:moveTo>
                  <a:pt x="0" y="0"/>
                </a:moveTo>
                <a:lnTo>
                  <a:pt x="2805" y="0"/>
                </a:lnTo>
                <a:lnTo>
                  <a:pt x="28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2457360" y="44002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2466720" y="4390920"/>
            <a:ext cx="3439080" cy="9720"/>
          </a:xfrm>
          <a:custGeom>
            <a:avLst/>
            <a:gdLst/>
            <a:ahLst/>
            <a:rect l="0" t="0" r="r" b="b"/>
            <a:pathLst>
              <a:path w="9553" h="27">
                <a:moveTo>
                  <a:pt x="0" y="0"/>
                </a:moveTo>
                <a:lnTo>
                  <a:pt x="9553" y="0"/>
                </a:lnTo>
                <a:lnTo>
                  <a:pt x="95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5895720" y="44002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571320" y="4819320"/>
            <a:ext cx="886320" cy="10080"/>
          </a:xfrm>
          <a:custGeom>
            <a:avLst/>
            <a:gdLst/>
            <a:ahLst/>
            <a:rect l="0" t="0" r="r" b="b"/>
            <a:pathLst>
              <a:path w="2462" h="28">
                <a:moveTo>
                  <a:pt x="0" y="0"/>
                </a:moveTo>
                <a:lnTo>
                  <a:pt x="2462" y="0"/>
                </a:lnTo>
                <a:lnTo>
                  <a:pt x="24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457280" y="4819320"/>
            <a:ext cx="1009800" cy="10080"/>
          </a:xfrm>
          <a:custGeom>
            <a:avLst/>
            <a:gdLst/>
            <a:ahLst/>
            <a:rect l="0" t="0" r="r" b="b"/>
            <a:pathLst>
              <a:path w="2805" h="28">
                <a:moveTo>
                  <a:pt x="0" y="0"/>
                </a:moveTo>
                <a:lnTo>
                  <a:pt x="2805" y="0"/>
                </a:lnTo>
                <a:lnTo>
                  <a:pt x="28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2466720" y="4819320"/>
            <a:ext cx="3439080" cy="10080"/>
          </a:xfrm>
          <a:custGeom>
            <a:avLst/>
            <a:gdLst/>
            <a:ahLst/>
            <a:rect l="0" t="0" r="r" b="b"/>
            <a:pathLst>
              <a:path w="9553" h="28">
                <a:moveTo>
                  <a:pt x="0" y="0"/>
                </a:moveTo>
                <a:lnTo>
                  <a:pt x="9553" y="0"/>
                </a:lnTo>
                <a:lnTo>
                  <a:pt x="95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571320" y="1716480"/>
            <a:ext cx="18810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Fallback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格式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704880" y="2370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格式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1581120" y="2370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⽤途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704520" y="2752560"/>
            <a:ext cx="619560" cy="276480"/>
          </a:xfrm>
          <a:custGeom>
            <a:avLst/>
            <a:gdLst/>
            <a:ahLst/>
            <a:rect l="0" t="0" r="r" b="b"/>
            <a:pathLst>
              <a:path w="1721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642" y="0"/>
                </a:lnTo>
                <a:cubicBezTo>
                  <a:pt x="1652" y="0"/>
                  <a:pt x="1662" y="2"/>
                  <a:pt x="1672" y="6"/>
                </a:cubicBezTo>
                <a:cubicBezTo>
                  <a:pt x="1682" y="10"/>
                  <a:pt x="1691" y="16"/>
                  <a:pt x="1698" y="23"/>
                </a:cubicBezTo>
                <a:cubicBezTo>
                  <a:pt x="1705" y="31"/>
                  <a:pt x="1711" y="39"/>
                  <a:pt x="1715" y="49"/>
                </a:cubicBezTo>
                <a:cubicBezTo>
                  <a:pt x="1719" y="59"/>
                  <a:pt x="1721" y="69"/>
                  <a:pt x="1721" y="79"/>
                </a:cubicBezTo>
                <a:lnTo>
                  <a:pt x="1721" y="689"/>
                </a:lnTo>
                <a:cubicBezTo>
                  <a:pt x="1721" y="699"/>
                  <a:pt x="1719" y="710"/>
                  <a:pt x="1715" y="719"/>
                </a:cubicBezTo>
                <a:cubicBezTo>
                  <a:pt x="1711" y="729"/>
                  <a:pt x="1705" y="738"/>
                  <a:pt x="1698" y="745"/>
                </a:cubicBezTo>
                <a:cubicBezTo>
                  <a:pt x="1691" y="752"/>
                  <a:pt x="1682" y="758"/>
                  <a:pt x="1672" y="762"/>
                </a:cubicBezTo>
                <a:cubicBezTo>
                  <a:pt x="1662" y="766"/>
                  <a:pt x="1652" y="768"/>
                  <a:pt x="1642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2593440" y="23709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⽬标软件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762120" y="2767680"/>
            <a:ext cx="5036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.ifc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1581120" y="2770920"/>
            <a:ext cx="753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BIM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原⽣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704520" y="3181320"/>
            <a:ext cx="619560" cy="276480"/>
          </a:xfrm>
          <a:custGeom>
            <a:avLst/>
            <a:gdLst/>
            <a:ahLst/>
            <a:rect l="0" t="0" r="r" b="b"/>
            <a:pathLst>
              <a:path w="1721" h="768">
                <a:moveTo>
                  <a:pt x="0" y="687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642" y="0"/>
                </a:lnTo>
                <a:cubicBezTo>
                  <a:pt x="1652" y="0"/>
                  <a:pt x="1662" y="2"/>
                  <a:pt x="1672" y="6"/>
                </a:cubicBezTo>
                <a:cubicBezTo>
                  <a:pt x="1682" y="10"/>
                  <a:pt x="1691" y="15"/>
                  <a:pt x="1698" y="23"/>
                </a:cubicBezTo>
                <a:cubicBezTo>
                  <a:pt x="1705" y="30"/>
                  <a:pt x="1711" y="39"/>
                  <a:pt x="1715" y="49"/>
                </a:cubicBezTo>
                <a:cubicBezTo>
                  <a:pt x="1719" y="58"/>
                  <a:pt x="1721" y="68"/>
                  <a:pt x="1721" y="79"/>
                </a:cubicBezTo>
                <a:lnTo>
                  <a:pt x="1721" y="687"/>
                </a:lnTo>
                <a:cubicBezTo>
                  <a:pt x="1721" y="698"/>
                  <a:pt x="1719" y="708"/>
                  <a:pt x="1715" y="718"/>
                </a:cubicBezTo>
                <a:cubicBezTo>
                  <a:pt x="1711" y="728"/>
                  <a:pt x="1705" y="736"/>
                  <a:pt x="1698" y="744"/>
                </a:cubicBezTo>
                <a:cubicBezTo>
                  <a:pt x="1691" y="752"/>
                  <a:pt x="1682" y="758"/>
                  <a:pt x="1672" y="762"/>
                </a:cubicBezTo>
                <a:cubicBezTo>
                  <a:pt x="1662" y="766"/>
                  <a:pt x="1652" y="768"/>
                  <a:pt x="1642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4"/>
                </a:cubicBezTo>
                <a:cubicBezTo>
                  <a:pt x="16" y="736"/>
                  <a:pt x="10" y="728"/>
                  <a:pt x="6" y="718"/>
                </a:cubicBezTo>
                <a:cubicBezTo>
                  <a:pt x="2" y="708"/>
                  <a:pt x="0" y="698"/>
                  <a:pt x="0" y="687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2593440" y="2770920"/>
            <a:ext cx="3164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Revit / ArchiCAD / BlenderBIM / Solibri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762120" y="3196440"/>
            <a:ext cx="5036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.glb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581120" y="3199680"/>
            <a:ext cx="800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Web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预览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704520" y="3609720"/>
            <a:ext cx="619560" cy="276480"/>
          </a:xfrm>
          <a:custGeom>
            <a:avLst/>
            <a:gdLst/>
            <a:ahLst/>
            <a:rect l="0" t="0" r="r" b="b"/>
            <a:pathLst>
              <a:path w="1721" h="768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642" y="0"/>
                </a:lnTo>
                <a:cubicBezTo>
                  <a:pt x="1652" y="0"/>
                  <a:pt x="1662" y="2"/>
                  <a:pt x="1672" y="6"/>
                </a:cubicBezTo>
                <a:cubicBezTo>
                  <a:pt x="1682" y="10"/>
                  <a:pt x="1691" y="16"/>
                  <a:pt x="1698" y="23"/>
                </a:cubicBezTo>
                <a:cubicBezTo>
                  <a:pt x="1705" y="31"/>
                  <a:pt x="1711" y="39"/>
                  <a:pt x="1715" y="49"/>
                </a:cubicBezTo>
                <a:cubicBezTo>
                  <a:pt x="1719" y="59"/>
                  <a:pt x="1721" y="69"/>
                  <a:pt x="1721" y="80"/>
                </a:cubicBezTo>
                <a:lnTo>
                  <a:pt x="1721" y="689"/>
                </a:lnTo>
                <a:cubicBezTo>
                  <a:pt x="1721" y="700"/>
                  <a:pt x="1719" y="710"/>
                  <a:pt x="1715" y="719"/>
                </a:cubicBezTo>
                <a:cubicBezTo>
                  <a:pt x="1711" y="729"/>
                  <a:pt x="1705" y="738"/>
                  <a:pt x="1698" y="745"/>
                </a:cubicBezTo>
                <a:cubicBezTo>
                  <a:pt x="1691" y="753"/>
                  <a:pt x="1682" y="758"/>
                  <a:pt x="1672" y="762"/>
                </a:cubicBezTo>
                <a:cubicBezTo>
                  <a:pt x="1662" y="766"/>
                  <a:pt x="1652" y="768"/>
                  <a:pt x="1642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3"/>
                  <a:pt x="24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2593440" y="3199680"/>
            <a:ext cx="2764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Three.js / Babylon.js / Gltf-Viewer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762120" y="3625200"/>
            <a:ext cx="5036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.obj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1581120" y="3628440"/>
            <a:ext cx="669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经典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704520" y="4038480"/>
            <a:ext cx="619560" cy="276480"/>
          </a:xfrm>
          <a:custGeom>
            <a:avLst/>
            <a:gdLst/>
            <a:ahLst/>
            <a:rect l="0" t="0" r="r" b="b"/>
            <a:pathLst>
              <a:path w="1721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642" y="0"/>
                </a:lnTo>
                <a:cubicBezTo>
                  <a:pt x="1652" y="0"/>
                  <a:pt x="1662" y="2"/>
                  <a:pt x="1672" y="6"/>
                </a:cubicBezTo>
                <a:cubicBezTo>
                  <a:pt x="1682" y="10"/>
                  <a:pt x="1691" y="16"/>
                  <a:pt x="1698" y="23"/>
                </a:cubicBezTo>
                <a:cubicBezTo>
                  <a:pt x="1705" y="31"/>
                  <a:pt x="1711" y="39"/>
                  <a:pt x="1715" y="49"/>
                </a:cubicBezTo>
                <a:cubicBezTo>
                  <a:pt x="1719" y="59"/>
                  <a:pt x="1721" y="69"/>
                  <a:pt x="1721" y="79"/>
                </a:cubicBezTo>
                <a:lnTo>
                  <a:pt x="1721" y="689"/>
                </a:lnTo>
                <a:cubicBezTo>
                  <a:pt x="1721" y="699"/>
                  <a:pt x="1719" y="709"/>
                  <a:pt x="1715" y="719"/>
                </a:cubicBezTo>
                <a:cubicBezTo>
                  <a:pt x="1711" y="729"/>
                  <a:pt x="1705" y="737"/>
                  <a:pt x="1698" y="745"/>
                </a:cubicBezTo>
                <a:cubicBezTo>
                  <a:pt x="1691" y="752"/>
                  <a:pt x="1682" y="758"/>
                  <a:pt x="1672" y="762"/>
                </a:cubicBezTo>
                <a:cubicBezTo>
                  <a:pt x="1662" y="766"/>
                  <a:pt x="1652" y="768"/>
                  <a:pt x="1642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2593440" y="3628440"/>
            <a:ext cx="2290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SketchUp / Rhino / 3ds Max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762120" y="4053600"/>
            <a:ext cx="5036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.fbx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581120" y="40568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动画渲染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704520" y="4466880"/>
            <a:ext cx="619560" cy="276840"/>
          </a:xfrm>
          <a:custGeom>
            <a:avLst/>
            <a:gdLst/>
            <a:ahLst/>
            <a:rect l="0" t="0" r="r" b="b"/>
            <a:pathLst>
              <a:path w="1721" h="769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642" y="0"/>
                </a:lnTo>
                <a:cubicBezTo>
                  <a:pt x="1652" y="0"/>
                  <a:pt x="1662" y="2"/>
                  <a:pt x="1672" y="6"/>
                </a:cubicBezTo>
                <a:cubicBezTo>
                  <a:pt x="1682" y="11"/>
                  <a:pt x="1691" y="16"/>
                  <a:pt x="1698" y="24"/>
                </a:cubicBezTo>
                <a:cubicBezTo>
                  <a:pt x="1705" y="31"/>
                  <a:pt x="1711" y="40"/>
                  <a:pt x="1715" y="49"/>
                </a:cubicBezTo>
                <a:cubicBezTo>
                  <a:pt x="1719" y="59"/>
                  <a:pt x="1721" y="69"/>
                  <a:pt x="1721" y="80"/>
                </a:cubicBezTo>
                <a:lnTo>
                  <a:pt x="1721" y="689"/>
                </a:lnTo>
                <a:cubicBezTo>
                  <a:pt x="1721" y="700"/>
                  <a:pt x="1719" y="710"/>
                  <a:pt x="1715" y="720"/>
                </a:cubicBezTo>
                <a:cubicBezTo>
                  <a:pt x="1711" y="729"/>
                  <a:pt x="1705" y="738"/>
                  <a:pt x="1698" y="746"/>
                </a:cubicBezTo>
                <a:cubicBezTo>
                  <a:pt x="1691" y="753"/>
                  <a:pt x="1682" y="759"/>
                  <a:pt x="1672" y="763"/>
                </a:cubicBezTo>
                <a:cubicBezTo>
                  <a:pt x="1662" y="767"/>
                  <a:pt x="1652" y="769"/>
                  <a:pt x="1642" y="769"/>
                </a:cubicBezTo>
                <a:lnTo>
                  <a:pt x="80" y="769"/>
                </a:lnTo>
                <a:cubicBezTo>
                  <a:pt x="69" y="769"/>
                  <a:pt x="59" y="767"/>
                  <a:pt x="49" y="763"/>
                </a:cubicBezTo>
                <a:cubicBezTo>
                  <a:pt x="40" y="759"/>
                  <a:pt x="31" y="753"/>
                  <a:pt x="24" y="746"/>
                </a:cubicBezTo>
                <a:cubicBezTo>
                  <a:pt x="16" y="738"/>
                  <a:pt x="10" y="729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2593440" y="4056840"/>
            <a:ext cx="1740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Maya / Unity / Unreal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762120" y="4482360"/>
            <a:ext cx="5036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.dxf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581120" y="4485600"/>
            <a:ext cx="669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2D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平⾯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2593440" y="4485600"/>
            <a:ext cx="206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AutoCAD / Rhino / QCAD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285840" y="6409440"/>
            <a:ext cx="372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⼯程师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576000" y="2481120"/>
            <a:ext cx="11039760" cy="2162520"/>
          </a:xfrm>
          <a:custGeom>
            <a:avLst/>
            <a:gdLst/>
            <a:ahLst/>
            <a:rect l="0" t="0" r="r" b="b"/>
            <a:pathLst>
              <a:path w="30666" h="6007">
                <a:moveTo>
                  <a:pt x="0" y="586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7"/>
                  <a:pt x="30577" y="11"/>
                </a:cubicBezTo>
                <a:cubicBezTo>
                  <a:pt x="30585" y="15"/>
                  <a:pt x="30594" y="19"/>
                  <a:pt x="30602" y="24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49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5861"/>
                </a:lnTo>
                <a:cubicBezTo>
                  <a:pt x="30666" y="5871"/>
                  <a:pt x="30665" y="5880"/>
                  <a:pt x="30664" y="5890"/>
                </a:cubicBezTo>
                <a:cubicBezTo>
                  <a:pt x="30662" y="5899"/>
                  <a:pt x="30659" y="5908"/>
                  <a:pt x="30655" y="5917"/>
                </a:cubicBezTo>
                <a:cubicBezTo>
                  <a:pt x="30652" y="5926"/>
                  <a:pt x="30647" y="5934"/>
                  <a:pt x="30642" y="5942"/>
                </a:cubicBezTo>
                <a:cubicBezTo>
                  <a:pt x="30637" y="5950"/>
                  <a:pt x="30631" y="5958"/>
                  <a:pt x="30624" y="5964"/>
                </a:cubicBezTo>
                <a:cubicBezTo>
                  <a:pt x="30617" y="5971"/>
                  <a:pt x="30610" y="5977"/>
                  <a:pt x="30602" y="5982"/>
                </a:cubicBezTo>
                <a:cubicBezTo>
                  <a:pt x="30594" y="5988"/>
                  <a:pt x="30585" y="5992"/>
                  <a:pt x="30577" y="5996"/>
                </a:cubicBezTo>
                <a:cubicBezTo>
                  <a:pt x="30568" y="6000"/>
                  <a:pt x="30559" y="6002"/>
                  <a:pt x="30549" y="6004"/>
                </a:cubicBezTo>
                <a:cubicBezTo>
                  <a:pt x="30540" y="6006"/>
                  <a:pt x="30530" y="6007"/>
                  <a:pt x="30521" y="6007"/>
                </a:cubicBezTo>
                <a:lnTo>
                  <a:pt x="146" y="6007"/>
                </a:lnTo>
                <a:cubicBezTo>
                  <a:pt x="136" y="6007"/>
                  <a:pt x="127" y="6006"/>
                  <a:pt x="117" y="6004"/>
                </a:cubicBezTo>
                <a:cubicBezTo>
                  <a:pt x="108" y="6002"/>
                  <a:pt x="99" y="6000"/>
                  <a:pt x="90" y="5996"/>
                </a:cubicBezTo>
                <a:cubicBezTo>
                  <a:pt x="81" y="5992"/>
                  <a:pt x="73" y="5988"/>
                  <a:pt x="65" y="5982"/>
                </a:cubicBezTo>
                <a:cubicBezTo>
                  <a:pt x="57" y="5977"/>
                  <a:pt x="50" y="5971"/>
                  <a:pt x="43" y="5964"/>
                </a:cubicBezTo>
                <a:cubicBezTo>
                  <a:pt x="36" y="5958"/>
                  <a:pt x="30" y="5950"/>
                  <a:pt x="25" y="5942"/>
                </a:cubicBezTo>
                <a:cubicBezTo>
                  <a:pt x="19" y="5934"/>
                  <a:pt x="15" y="5926"/>
                  <a:pt x="11" y="5917"/>
                </a:cubicBezTo>
                <a:cubicBezTo>
                  <a:pt x="8" y="5908"/>
                  <a:pt x="5" y="5899"/>
                  <a:pt x="3" y="5890"/>
                </a:cubicBezTo>
                <a:cubicBezTo>
                  <a:pt x="1" y="5880"/>
                  <a:pt x="0" y="5871"/>
                  <a:pt x="0" y="586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576000" y="2481120"/>
            <a:ext cx="11039760" cy="2162520"/>
          </a:xfrm>
          <a:custGeom>
            <a:avLst/>
            <a:gdLst/>
            <a:ahLst/>
            <a:rect l="0" t="0" r="r" b="b"/>
            <a:pathLst>
              <a:path w="30666" h="6007">
                <a:moveTo>
                  <a:pt x="0" y="586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7"/>
                  <a:pt x="30577" y="11"/>
                </a:cubicBezTo>
                <a:cubicBezTo>
                  <a:pt x="30585" y="15"/>
                  <a:pt x="30594" y="19"/>
                  <a:pt x="30602" y="24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49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5861"/>
                </a:lnTo>
                <a:cubicBezTo>
                  <a:pt x="30666" y="5871"/>
                  <a:pt x="30665" y="5880"/>
                  <a:pt x="30664" y="5890"/>
                </a:cubicBezTo>
                <a:cubicBezTo>
                  <a:pt x="30662" y="5899"/>
                  <a:pt x="30659" y="5908"/>
                  <a:pt x="30655" y="5917"/>
                </a:cubicBezTo>
                <a:cubicBezTo>
                  <a:pt x="30652" y="5926"/>
                  <a:pt x="30647" y="5934"/>
                  <a:pt x="30642" y="5942"/>
                </a:cubicBezTo>
                <a:cubicBezTo>
                  <a:pt x="30637" y="5950"/>
                  <a:pt x="30631" y="5958"/>
                  <a:pt x="30624" y="5964"/>
                </a:cubicBezTo>
                <a:cubicBezTo>
                  <a:pt x="30617" y="5971"/>
                  <a:pt x="30610" y="5977"/>
                  <a:pt x="30602" y="5982"/>
                </a:cubicBezTo>
                <a:cubicBezTo>
                  <a:pt x="30594" y="5988"/>
                  <a:pt x="30585" y="5992"/>
                  <a:pt x="30577" y="5996"/>
                </a:cubicBezTo>
                <a:cubicBezTo>
                  <a:pt x="30568" y="6000"/>
                  <a:pt x="30559" y="6002"/>
                  <a:pt x="30549" y="6004"/>
                </a:cubicBezTo>
                <a:cubicBezTo>
                  <a:pt x="30540" y="6006"/>
                  <a:pt x="30530" y="6007"/>
                  <a:pt x="30521" y="6007"/>
                </a:cubicBezTo>
                <a:lnTo>
                  <a:pt x="146" y="6007"/>
                </a:lnTo>
                <a:cubicBezTo>
                  <a:pt x="136" y="6007"/>
                  <a:pt x="127" y="6006"/>
                  <a:pt x="117" y="6004"/>
                </a:cubicBezTo>
                <a:cubicBezTo>
                  <a:pt x="108" y="6002"/>
                  <a:pt x="99" y="6000"/>
                  <a:pt x="90" y="5996"/>
                </a:cubicBezTo>
                <a:cubicBezTo>
                  <a:pt x="81" y="5992"/>
                  <a:pt x="73" y="5988"/>
                  <a:pt x="65" y="5982"/>
                </a:cubicBezTo>
                <a:cubicBezTo>
                  <a:pt x="57" y="5977"/>
                  <a:pt x="50" y="5971"/>
                  <a:pt x="43" y="5964"/>
                </a:cubicBezTo>
                <a:cubicBezTo>
                  <a:pt x="36" y="5958"/>
                  <a:pt x="30" y="5950"/>
                  <a:pt x="25" y="5942"/>
                </a:cubicBezTo>
                <a:cubicBezTo>
                  <a:pt x="19" y="5934"/>
                  <a:pt x="15" y="5926"/>
                  <a:pt x="11" y="5917"/>
                </a:cubicBezTo>
                <a:cubicBezTo>
                  <a:pt x="8" y="5908"/>
                  <a:pt x="5" y="5899"/>
                  <a:pt x="3" y="5890"/>
                </a:cubicBezTo>
                <a:cubicBezTo>
                  <a:pt x="1" y="5880"/>
                  <a:pt x="0" y="5871"/>
                  <a:pt x="0" y="586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571320" y="189720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验证脚本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733320" y="2635200"/>
            <a:ext cx="6447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IFC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1377000" y="2611440"/>
            <a:ext cx="8924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完整性校验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733320" y="2844720"/>
            <a:ext cx="1181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python -c </a:t>
            </a:r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733320" y="3044520"/>
            <a:ext cx="2040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import ifcopenshell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733320" y="3254040"/>
            <a:ext cx="57978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m = ifcopenshell.open('exports/05-fitness-studio.ifc')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733320" y="3454200"/>
            <a:ext cx="53683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print('IfcProduct:', len(m.by_type('IfcProduct')))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733320" y="3663720"/>
            <a:ext cx="50461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print('IfcWall   :', len(m.by_type('IfcWall')))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733320" y="3863880"/>
            <a:ext cx="51534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print('IfcSpace  :', len(m.by_type('IfcSpace')))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733320" y="4073400"/>
            <a:ext cx="32212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print('Schema    :', m.schema)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733320" y="4273200"/>
            <a:ext cx="177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285840" y="6409440"/>
            <a:ext cx="372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⼯程师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580680" y="2447640"/>
            <a:ext cx="3039120" cy="371880"/>
          </a:xfrm>
          <a:custGeom>
            <a:avLst/>
            <a:gdLst/>
            <a:ahLst/>
            <a:rect l="0" t="0" r="r" b="b"/>
            <a:pathLst>
              <a:path w="8442" h="1033">
                <a:moveTo>
                  <a:pt x="0" y="0"/>
                </a:moveTo>
                <a:lnTo>
                  <a:pt x="8442" y="0"/>
                </a:lnTo>
                <a:lnTo>
                  <a:pt x="844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3619440" y="244764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4390920" y="2447640"/>
            <a:ext cx="1171800" cy="371880"/>
          </a:xfrm>
          <a:custGeom>
            <a:avLst/>
            <a:gdLst/>
            <a:ahLst/>
            <a:rect l="0" t="0" r="r" b="b"/>
            <a:pathLst>
              <a:path w="3255" h="1033">
                <a:moveTo>
                  <a:pt x="0" y="0"/>
                </a:moveTo>
                <a:lnTo>
                  <a:pt x="3255" y="0"/>
                </a:lnTo>
                <a:lnTo>
                  <a:pt x="32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580680" y="2447640"/>
            <a:ext cx="3039120" cy="371880"/>
          </a:xfrm>
          <a:custGeom>
            <a:avLst/>
            <a:gdLst/>
            <a:ahLst/>
            <a:rect l="0" t="0" r="r" b="b"/>
            <a:pathLst>
              <a:path w="8442" h="1033">
                <a:moveTo>
                  <a:pt x="0" y="0"/>
                </a:moveTo>
                <a:lnTo>
                  <a:pt x="8442" y="0"/>
                </a:lnTo>
                <a:lnTo>
                  <a:pt x="844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3619440" y="244764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4390920" y="2447640"/>
            <a:ext cx="1171800" cy="371880"/>
          </a:xfrm>
          <a:custGeom>
            <a:avLst/>
            <a:gdLst/>
            <a:ahLst/>
            <a:rect l="0" t="0" r="r" b="b"/>
            <a:pathLst>
              <a:path w="3255" h="1033">
                <a:moveTo>
                  <a:pt x="0" y="0"/>
                </a:moveTo>
                <a:lnTo>
                  <a:pt x="3255" y="0"/>
                </a:lnTo>
                <a:lnTo>
                  <a:pt x="32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580680" y="2819160"/>
            <a:ext cx="3039120" cy="371880"/>
          </a:xfrm>
          <a:custGeom>
            <a:avLst/>
            <a:gdLst/>
            <a:ahLst/>
            <a:rect l="0" t="0" r="r" b="b"/>
            <a:pathLst>
              <a:path w="8442" h="1033">
                <a:moveTo>
                  <a:pt x="0" y="0"/>
                </a:moveTo>
                <a:lnTo>
                  <a:pt x="8442" y="0"/>
                </a:lnTo>
                <a:lnTo>
                  <a:pt x="844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3619440" y="281916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4390920" y="2819160"/>
            <a:ext cx="1171800" cy="371880"/>
          </a:xfrm>
          <a:custGeom>
            <a:avLst/>
            <a:gdLst/>
            <a:ahLst/>
            <a:rect l="0" t="0" r="r" b="b"/>
            <a:pathLst>
              <a:path w="3255" h="1033">
                <a:moveTo>
                  <a:pt x="0" y="0"/>
                </a:moveTo>
                <a:lnTo>
                  <a:pt x="3255" y="0"/>
                </a:lnTo>
                <a:lnTo>
                  <a:pt x="32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580680" y="3190680"/>
            <a:ext cx="3039120" cy="371880"/>
          </a:xfrm>
          <a:custGeom>
            <a:avLst/>
            <a:gdLst/>
            <a:ahLst/>
            <a:rect l="0" t="0" r="r" b="b"/>
            <a:pathLst>
              <a:path w="8442" h="1033">
                <a:moveTo>
                  <a:pt x="0" y="0"/>
                </a:moveTo>
                <a:lnTo>
                  <a:pt x="8442" y="0"/>
                </a:lnTo>
                <a:lnTo>
                  <a:pt x="844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3619440" y="319068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4390920" y="3190680"/>
            <a:ext cx="1171800" cy="371880"/>
          </a:xfrm>
          <a:custGeom>
            <a:avLst/>
            <a:gdLst/>
            <a:ahLst/>
            <a:rect l="0" t="0" r="r" b="b"/>
            <a:pathLst>
              <a:path w="3255" h="1033">
                <a:moveTo>
                  <a:pt x="0" y="0"/>
                </a:moveTo>
                <a:lnTo>
                  <a:pt x="3255" y="0"/>
                </a:lnTo>
                <a:lnTo>
                  <a:pt x="32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580680" y="3562200"/>
            <a:ext cx="3039120" cy="371880"/>
          </a:xfrm>
          <a:custGeom>
            <a:avLst/>
            <a:gdLst/>
            <a:ahLst/>
            <a:rect l="0" t="0" r="r" b="b"/>
            <a:pathLst>
              <a:path w="8442" h="1033">
                <a:moveTo>
                  <a:pt x="0" y="0"/>
                </a:moveTo>
                <a:lnTo>
                  <a:pt x="8442" y="0"/>
                </a:lnTo>
                <a:lnTo>
                  <a:pt x="844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3619440" y="356220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4390920" y="3562200"/>
            <a:ext cx="1171800" cy="371880"/>
          </a:xfrm>
          <a:custGeom>
            <a:avLst/>
            <a:gdLst/>
            <a:ahLst/>
            <a:rect l="0" t="0" r="r" b="b"/>
            <a:pathLst>
              <a:path w="3255" h="1033">
                <a:moveTo>
                  <a:pt x="0" y="0"/>
                </a:moveTo>
                <a:lnTo>
                  <a:pt x="3255" y="0"/>
                </a:lnTo>
                <a:lnTo>
                  <a:pt x="32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580680" y="3933720"/>
            <a:ext cx="3039120" cy="371880"/>
          </a:xfrm>
          <a:custGeom>
            <a:avLst/>
            <a:gdLst/>
            <a:ahLst/>
            <a:rect l="0" t="0" r="r" b="b"/>
            <a:pathLst>
              <a:path w="8442" h="1033">
                <a:moveTo>
                  <a:pt x="0" y="0"/>
                </a:moveTo>
                <a:lnTo>
                  <a:pt x="8442" y="0"/>
                </a:lnTo>
                <a:lnTo>
                  <a:pt x="844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3619440" y="393372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4390920" y="3933720"/>
            <a:ext cx="1171800" cy="371880"/>
          </a:xfrm>
          <a:custGeom>
            <a:avLst/>
            <a:gdLst/>
            <a:ahLst/>
            <a:rect l="0" t="0" r="r" b="b"/>
            <a:pathLst>
              <a:path w="3255" h="1033">
                <a:moveTo>
                  <a:pt x="0" y="0"/>
                </a:moveTo>
                <a:lnTo>
                  <a:pt x="3255" y="0"/>
                </a:lnTo>
                <a:lnTo>
                  <a:pt x="32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580680" y="4305240"/>
            <a:ext cx="3039120" cy="381240"/>
          </a:xfrm>
          <a:custGeom>
            <a:avLst/>
            <a:gdLst/>
            <a:ahLst/>
            <a:rect l="0" t="0" r="r" b="b"/>
            <a:pathLst>
              <a:path w="8442" h="1059">
                <a:moveTo>
                  <a:pt x="0" y="0"/>
                </a:moveTo>
                <a:lnTo>
                  <a:pt x="8442" y="0"/>
                </a:lnTo>
                <a:lnTo>
                  <a:pt x="844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3619440" y="4305240"/>
            <a:ext cx="771840" cy="381240"/>
          </a:xfrm>
          <a:custGeom>
            <a:avLst/>
            <a:gdLst/>
            <a:ahLst/>
            <a:rect l="0" t="0" r="r" b="b"/>
            <a:pathLst>
              <a:path w="2144" h="1059">
                <a:moveTo>
                  <a:pt x="0" y="0"/>
                </a:moveTo>
                <a:lnTo>
                  <a:pt x="2144" y="0"/>
                </a:lnTo>
                <a:lnTo>
                  <a:pt x="214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4390920" y="4305240"/>
            <a:ext cx="1171800" cy="381240"/>
          </a:xfrm>
          <a:custGeom>
            <a:avLst/>
            <a:gdLst/>
            <a:ahLst/>
            <a:rect l="0" t="0" r="r" b="b"/>
            <a:pathLst>
              <a:path w="3255" h="1059">
                <a:moveTo>
                  <a:pt x="0" y="0"/>
                </a:moveTo>
                <a:lnTo>
                  <a:pt x="3255" y="0"/>
                </a:lnTo>
                <a:lnTo>
                  <a:pt x="325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5713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571320" y="2438280"/>
            <a:ext cx="3048480" cy="9720"/>
          </a:xfrm>
          <a:custGeom>
            <a:avLst/>
            <a:gdLst/>
            <a:ahLst/>
            <a:rect l="0" t="0" r="r" b="b"/>
            <a:pathLst>
              <a:path w="8468" h="27">
                <a:moveTo>
                  <a:pt x="0" y="0"/>
                </a:moveTo>
                <a:lnTo>
                  <a:pt x="8468" y="0"/>
                </a:lnTo>
                <a:lnTo>
                  <a:pt x="84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3609720" y="2438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3619440" y="243828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4381200" y="2438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4390920" y="2438280"/>
            <a:ext cx="1171800" cy="9720"/>
          </a:xfrm>
          <a:custGeom>
            <a:avLst/>
            <a:gdLst/>
            <a:ahLst/>
            <a:rect l="0" t="0" r="r" b="b"/>
            <a:pathLst>
              <a:path w="3255" h="27">
                <a:moveTo>
                  <a:pt x="0" y="0"/>
                </a:moveTo>
                <a:lnTo>
                  <a:pt x="3255" y="0"/>
                </a:lnTo>
                <a:lnTo>
                  <a:pt x="32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555300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571320" y="2819160"/>
            <a:ext cx="3048480" cy="10080"/>
          </a:xfrm>
          <a:custGeom>
            <a:avLst/>
            <a:gdLst/>
            <a:ahLst/>
            <a:rect l="0" t="0" r="r" b="b"/>
            <a:pathLst>
              <a:path w="8468" h="28">
                <a:moveTo>
                  <a:pt x="0" y="0"/>
                </a:moveTo>
                <a:lnTo>
                  <a:pt x="8468" y="0"/>
                </a:lnTo>
                <a:lnTo>
                  <a:pt x="84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3619440" y="281916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4390920" y="2819160"/>
            <a:ext cx="1171800" cy="10080"/>
          </a:xfrm>
          <a:custGeom>
            <a:avLst/>
            <a:gdLst/>
            <a:ahLst/>
            <a:rect l="0" t="0" r="r" b="b"/>
            <a:pathLst>
              <a:path w="3255" h="28">
                <a:moveTo>
                  <a:pt x="0" y="0"/>
                </a:moveTo>
                <a:lnTo>
                  <a:pt x="3255" y="0"/>
                </a:lnTo>
                <a:lnTo>
                  <a:pt x="32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360972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438120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555300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571320" y="3190680"/>
            <a:ext cx="3048480" cy="9720"/>
          </a:xfrm>
          <a:custGeom>
            <a:avLst/>
            <a:gdLst/>
            <a:ahLst/>
            <a:rect l="0" t="0" r="r" b="b"/>
            <a:pathLst>
              <a:path w="8468" h="27">
                <a:moveTo>
                  <a:pt x="0" y="0"/>
                </a:moveTo>
                <a:lnTo>
                  <a:pt x="8468" y="0"/>
                </a:lnTo>
                <a:lnTo>
                  <a:pt x="84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360972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3619440" y="319068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438120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4390920" y="3190680"/>
            <a:ext cx="1171800" cy="9720"/>
          </a:xfrm>
          <a:custGeom>
            <a:avLst/>
            <a:gdLst/>
            <a:ahLst/>
            <a:rect l="0" t="0" r="r" b="b"/>
            <a:pathLst>
              <a:path w="3255" h="27">
                <a:moveTo>
                  <a:pt x="0" y="0"/>
                </a:moveTo>
                <a:lnTo>
                  <a:pt x="3255" y="0"/>
                </a:lnTo>
                <a:lnTo>
                  <a:pt x="32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555300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571320" y="3562200"/>
            <a:ext cx="3048480" cy="9720"/>
          </a:xfrm>
          <a:custGeom>
            <a:avLst/>
            <a:gdLst/>
            <a:ahLst/>
            <a:rect l="0" t="0" r="r" b="b"/>
            <a:pathLst>
              <a:path w="8468" h="27">
                <a:moveTo>
                  <a:pt x="0" y="0"/>
                </a:moveTo>
                <a:lnTo>
                  <a:pt x="8468" y="0"/>
                </a:lnTo>
                <a:lnTo>
                  <a:pt x="84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360972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3619440" y="356220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438120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4390920" y="3562200"/>
            <a:ext cx="1171800" cy="9720"/>
          </a:xfrm>
          <a:custGeom>
            <a:avLst/>
            <a:gdLst/>
            <a:ahLst/>
            <a:rect l="0" t="0" r="r" b="b"/>
            <a:pathLst>
              <a:path w="3255" h="27">
                <a:moveTo>
                  <a:pt x="0" y="0"/>
                </a:moveTo>
                <a:lnTo>
                  <a:pt x="3255" y="0"/>
                </a:lnTo>
                <a:lnTo>
                  <a:pt x="32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555300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571320" y="3933720"/>
            <a:ext cx="3048480" cy="9720"/>
          </a:xfrm>
          <a:custGeom>
            <a:avLst/>
            <a:gdLst/>
            <a:ahLst/>
            <a:rect l="0" t="0" r="r" b="b"/>
            <a:pathLst>
              <a:path w="8468" h="27">
                <a:moveTo>
                  <a:pt x="0" y="0"/>
                </a:moveTo>
                <a:lnTo>
                  <a:pt x="8468" y="0"/>
                </a:lnTo>
                <a:lnTo>
                  <a:pt x="84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360972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3619440" y="393372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438120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4390920" y="3933720"/>
            <a:ext cx="1171800" cy="9720"/>
          </a:xfrm>
          <a:custGeom>
            <a:avLst/>
            <a:gdLst/>
            <a:ahLst/>
            <a:rect l="0" t="0" r="r" b="b"/>
            <a:pathLst>
              <a:path w="3255" h="27">
                <a:moveTo>
                  <a:pt x="0" y="0"/>
                </a:moveTo>
                <a:lnTo>
                  <a:pt x="3255" y="0"/>
                </a:lnTo>
                <a:lnTo>
                  <a:pt x="32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555300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571320" y="4305240"/>
            <a:ext cx="3048480" cy="9720"/>
          </a:xfrm>
          <a:custGeom>
            <a:avLst/>
            <a:gdLst/>
            <a:ahLst/>
            <a:rect l="0" t="0" r="r" b="b"/>
            <a:pathLst>
              <a:path w="8468" h="27">
                <a:moveTo>
                  <a:pt x="0" y="0"/>
                </a:moveTo>
                <a:lnTo>
                  <a:pt x="8468" y="0"/>
                </a:lnTo>
                <a:lnTo>
                  <a:pt x="84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360972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3619440" y="430524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438120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4390920" y="4305240"/>
            <a:ext cx="1171800" cy="9720"/>
          </a:xfrm>
          <a:custGeom>
            <a:avLst/>
            <a:gdLst/>
            <a:ahLst/>
            <a:rect l="0" t="0" r="r" b="b"/>
            <a:pathLst>
              <a:path w="3255" h="27">
                <a:moveTo>
                  <a:pt x="0" y="0"/>
                </a:moveTo>
                <a:lnTo>
                  <a:pt x="3255" y="0"/>
                </a:lnTo>
                <a:lnTo>
                  <a:pt x="32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555300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571320" y="4676760"/>
            <a:ext cx="3048480" cy="9720"/>
          </a:xfrm>
          <a:custGeom>
            <a:avLst/>
            <a:gdLst/>
            <a:ahLst/>
            <a:rect l="0" t="0" r="r" b="b"/>
            <a:pathLst>
              <a:path w="8468" h="27">
                <a:moveTo>
                  <a:pt x="0" y="0"/>
                </a:moveTo>
                <a:lnTo>
                  <a:pt x="8468" y="0"/>
                </a:lnTo>
                <a:lnTo>
                  <a:pt x="84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3619440" y="467676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4390920" y="4676760"/>
            <a:ext cx="1171800" cy="9720"/>
          </a:xfrm>
          <a:custGeom>
            <a:avLst/>
            <a:gdLst/>
            <a:ahLst/>
            <a:rect l="0" t="0" r="r" b="b"/>
            <a:pathLst>
              <a:path w="3255" h="27">
                <a:moveTo>
                  <a:pt x="0" y="0"/>
                </a:moveTo>
                <a:lnTo>
                  <a:pt x="3255" y="0"/>
                </a:lnTo>
                <a:lnTo>
                  <a:pt x="32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571320" y="1859400"/>
            <a:ext cx="1719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建议碰撞检测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704880" y="25041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检测对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3744360" y="25041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优先级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451620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⼯具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704880" y="2885400"/>
            <a:ext cx="2962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镜⾯墙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vs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顶部线灯（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 mm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净距）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3744360" y="28854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4516200" y="2885400"/>
            <a:ext cx="498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Solibri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704880" y="3256920"/>
            <a:ext cx="2861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哑铃架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vs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天花⾼度（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3.4 m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净⾼）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3744360" y="32569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4516200" y="3256920"/>
            <a:ext cx="898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Navisworks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704880" y="3628440"/>
            <a:ext cx="1744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瑜伽区吊顶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vs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新⻛管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3744360" y="36284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4516200" y="3628440"/>
            <a:ext cx="910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BlenderBIM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704880" y="3999600"/>
            <a:ext cx="1573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淋浴给排⽔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vs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电路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3744360" y="39996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4516200" y="3999600"/>
            <a:ext cx="397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Revit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704880" y="4371120"/>
            <a:ext cx="2256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镜⾯结构胶挂装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vs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墙体预埋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3744360" y="43711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4516200" y="4371120"/>
            <a:ext cx="397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Revit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285840" y="6409440"/>
            <a:ext cx="372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⼯程师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571320" y="269532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2A6F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628560" y="30952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571320" y="1735200"/>
            <a:ext cx="304884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下⼀步协同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628560" y="3457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0"/>
                  <a:pt x="160" y="198"/>
                  <a:pt x="147" y="203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3"/>
                </a:cubicBezTo>
                <a:cubicBezTo>
                  <a:pt x="53" y="198"/>
                  <a:pt x="41" y="190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838080" y="2978280"/>
            <a:ext cx="4106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LOD 350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深化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：器械精确模型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固定锚点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628560" y="38192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838080" y="3340080"/>
            <a:ext cx="3717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⼒量区楼板加固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BIM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：钢梁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加厚层族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628560" y="41814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838080" y="3702240"/>
            <a:ext cx="3953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MEP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详图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：新⻛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强排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空调独⽴⼦模型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613800" y="4578840"/>
            <a:ext cx="82080" cy="141840"/>
          </a:xfrm>
          <a:custGeom>
            <a:avLst/>
            <a:gdLst/>
            <a:ahLst/>
            <a:rect l="0" t="0" r="r" b="b"/>
            <a:pathLst>
              <a:path w="228" h="394">
                <a:moveTo>
                  <a:pt x="0" y="0"/>
                </a:moveTo>
                <a:lnTo>
                  <a:pt x="0" y="201"/>
                </a:lnTo>
                <a:cubicBezTo>
                  <a:pt x="0" y="234"/>
                  <a:pt x="17" y="241"/>
                  <a:pt x="17" y="241"/>
                </a:cubicBezTo>
                <a:lnTo>
                  <a:pt x="204" y="388"/>
                </a:lnTo>
                <a:cubicBezTo>
                  <a:pt x="235" y="411"/>
                  <a:pt x="227" y="362"/>
                  <a:pt x="227" y="362"/>
                </a:cubicBezTo>
                <a:lnTo>
                  <a:pt x="227" y="178"/>
                </a:lnTo>
                <a:lnTo>
                  <a:pt x="0" y="0"/>
                </a:lnTo>
                <a:close/>
              </a:path>
            </a:pathLst>
          </a:custGeom>
          <a:solidFill>
            <a:srgbClr val="6621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694800" y="4578840"/>
            <a:ext cx="82080" cy="141840"/>
          </a:xfrm>
          <a:custGeom>
            <a:avLst/>
            <a:gdLst/>
            <a:ahLst/>
            <a:rect l="0" t="0" r="r" b="b"/>
            <a:pathLst>
              <a:path w="228" h="394">
                <a:moveTo>
                  <a:pt x="228" y="0"/>
                </a:moveTo>
                <a:lnTo>
                  <a:pt x="228" y="201"/>
                </a:lnTo>
                <a:cubicBezTo>
                  <a:pt x="228" y="234"/>
                  <a:pt x="210" y="241"/>
                  <a:pt x="210" y="241"/>
                </a:cubicBezTo>
                <a:cubicBezTo>
                  <a:pt x="210" y="241"/>
                  <a:pt x="52" y="365"/>
                  <a:pt x="23" y="388"/>
                </a:cubicBezTo>
                <a:cubicBezTo>
                  <a:pt x="-8" y="411"/>
                  <a:pt x="1" y="362"/>
                  <a:pt x="1" y="362"/>
                </a:cubicBezTo>
                <a:lnTo>
                  <a:pt x="1" y="178"/>
                </a:lnTo>
                <a:lnTo>
                  <a:pt x="228" y="0"/>
                </a:lnTo>
                <a:close/>
              </a:path>
            </a:pathLst>
          </a:custGeom>
          <a:solidFill>
            <a:srgbClr val="C169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613800" y="4514760"/>
            <a:ext cx="163080" cy="130320"/>
          </a:xfrm>
          <a:custGeom>
            <a:avLst/>
            <a:gdLst/>
            <a:ahLst/>
            <a:rect l="0" t="0" r="r" b="b"/>
            <a:pathLst>
              <a:path w="453" h="362">
                <a:moveTo>
                  <a:pt x="247" y="8"/>
                </a:moveTo>
                <a:cubicBezTo>
                  <a:pt x="235" y="-2"/>
                  <a:pt x="215" y="-2"/>
                  <a:pt x="202" y="8"/>
                </a:cubicBezTo>
                <a:lnTo>
                  <a:pt x="9" y="162"/>
                </a:lnTo>
                <a:cubicBezTo>
                  <a:pt x="-3" y="172"/>
                  <a:pt x="-3" y="188"/>
                  <a:pt x="9" y="198"/>
                </a:cubicBezTo>
                <a:lnTo>
                  <a:pt x="203" y="355"/>
                </a:lnTo>
                <a:cubicBezTo>
                  <a:pt x="215" y="365"/>
                  <a:pt x="235" y="365"/>
                  <a:pt x="247" y="355"/>
                </a:cubicBezTo>
                <a:lnTo>
                  <a:pt x="444" y="196"/>
                </a:lnTo>
                <a:cubicBezTo>
                  <a:pt x="456" y="187"/>
                  <a:pt x="456" y="170"/>
                  <a:pt x="444" y="161"/>
                </a:cubicBezTo>
                <a:lnTo>
                  <a:pt x="247" y="8"/>
                </a:ln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689400" y="4635000"/>
            <a:ext cx="11880" cy="88200"/>
          </a:xfrm>
          <a:custGeom>
            <a:avLst/>
            <a:gdLst/>
            <a:ahLst/>
            <a:rect l="0" t="0" r="r" b="b"/>
            <a:pathLst>
              <a:path w="33" h="245">
                <a:moveTo>
                  <a:pt x="16" y="245"/>
                </a:moveTo>
                <a:cubicBezTo>
                  <a:pt x="7" y="245"/>
                  <a:pt x="0" y="237"/>
                  <a:pt x="0" y="227"/>
                </a:cubicBezTo>
                <a:lnTo>
                  <a:pt x="0" y="17"/>
                </a:lnTo>
                <a:cubicBezTo>
                  <a:pt x="0" y="8"/>
                  <a:pt x="7" y="0"/>
                  <a:pt x="16" y="0"/>
                </a:cubicBezTo>
                <a:cubicBezTo>
                  <a:pt x="26" y="0"/>
                  <a:pt x="33" y="8"/>
                  <a:pt x="33" y="17"/>
                </a:cubicBezTo>
                <a:lnTo>
                  <a:pt x="33" y="227"/>
                </a:lnTo>
                <a:cubicBezTo>
                  <a:pt x="33" y="237"/>
                  <a:pt x="26" y="245"/>
                  <a:pt x="16" y="245"/>
                </a:cubicBez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638640" y="4534200"/>
            <a:ext cx="115200" cy="117720"/>
          </a:xfrm>
          <a:custGeom>
            <a:avLst/>
            <a:gdLst/>
            <a:ahLst/>
            <a:rect l="0" t="0" r="r" b="b"/>
            <a:pathLst>
              <a:path w="320" h="327">
                <a:moveTo>
                  <a:pt x="320" y="251"/>
                </a:moveTo>
                <a:cubicBezTo>
                  <a:pt x="320" y="269"/>
                  <a:pt x="321" y="278"/>
                  <a:pt x="303" y="291"/>
                </a:cubicBezTo>
                <a:lnTo>
                  <a:pt x="263" y="321"/>
                </a:lnTo>
                <a:cubicBezTo>
                  <a:pt x="245" y="334"/>
                  <a:pt x="238" y="323"/>
                  <a:pt x="238" y="305"/>
                </a:cubicBezTo>
                <a:lnTo>
                  <a:pt x="238" y="257"/>
                </a:lnTo>
                <a:cubicBezTo>
                  <a:pt x="238" y="254"/>
                  <a:pt x="237" y="251"/>
                  <a:pt x="233" y="247"/>
                </a:cubicBezTo>
                <a:cubicBezTo>
                  <a:pt x="192" y="212"/>
                  <a:pt x="30" y="83"/>
                  <a:pt x="0" y="60"/>
                </a:cubicBezTo>
                <a:lnTo>
                  <a:pt x="75" y="0"/>
                </a:lnTo>
                <a:cubicBezTo>
                  <a:pt x="96" y="15"/>
                  <a:pt x="249" y="134"/>
                  <a:pt x="314" y="184"/>
                </a:cubicBezTo>
                <a:cubicBezTo>
                  <a:pt x="317" y="187"/>
                  <a:pt x="320" y="190"/>
                  <a:pt x="320" y="193"/>
                </a:cubicBezTo>
                <a:lnTo>
                  <a:pt x="320" y="251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638640" y="4534200"/>
            <a:ext cx="114480" cy="91080"/>
          </a:xfrm>
          <a:custGeom>
            <a:avLst/>
            <a:gdLst/>
            <a:ahLst/>
            <a:rect l="0" t="0" r="r" b="b"/>
            <a:pathLst>
              <a:path w="318" h="253">
                <a:moveTo>
                  <a:pt x="314" y="185"/>
                </a:moveTo>
                <a:cubicBezTo>
                  <a:pt x="249" y="135"/>
                  <a:pt x="96" y="15"/>
                  <a:pt x="75" y="0"/>
                </a:cubicBezTo>
                <a:lnTo>
                  <a:pt x="47" y="22"/>
                </a:lnTo>
                <a:lnTo>
                  <a:pt x="0" y="60"/>
                </a:lnTo>
                <a:cubicBezTo>
                  <a:pt x="30" y="83"/>
                  <a:pt x="192" y="213"/>
                  <a:pt x="233" y="247"/>
                </a:cubicBezTo>
                <a:cubicBezTo>
                  <a:pt x="236" y="249"/>
                  <a:pt x="237" y="251"/>
                  <a:pt x="237" y="253"/>
                </a:cubicBezTo>
                <a:lnTo>
                  <a:pt x="318" y="189"/>
                </a:lnTo>
                <a:cubicBezTo>
                  <a:pt x="317" y="188"/>
                  <a:pt x="316" y="187"/>
                  <a:pt x="314" y="185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653760" y="4534200"/>
            <a:ext cx="100080" cy="109080"/>
          </a:xfrm>
          <a:custGeom>
            <a:avLst/>
            <a:gdLst/>
            <a:ahLst/>
            <a:rect l="0" t="0" r="r" b="b"/>
            <a:pathLst>
              <a:path w="278" h="303">
                <a:moveTo>
                  <a:pt x="278" y="251"/>
                </a:moveTo>
                <a:lnTo>
                  <a:pt x="278" y="193"/>
                </a:lnTo>
                <a:cubicBezTo>
                  <a:pt x="278" y="190"/>
                  <a:pt x="275" y="187"/>
                  <a:pt x="272" y="184"/>
                </a:cubicBezTo>
                <a:cubicBezTo>
                  <a:pt x="207" y="134"/>
                  <a:pt x="54" y="15"/>
                  <a:pt x="33" y="0"/>
                </a:cubicBezTo>
                <a:lnTo>
                  <a:pt x="0" y="27"/>
                </a:lnTo>
                <a:cubicBezTo>
                  <a:pt x="54" y="70"/>
                  <a:pt x="201" y="183"/>
                  <a:pt x="240" y="215"/>
                </a:cubicBezTo>
                <a:cubicBezTo>
                  <a:pt x="244" y="218"/>
                  <a:pt x="244" y="222"/>
                  <a:pt x="244" y="225"/>
                </a:cubicBezTo>
                <a:lnTo>
                  <a:pt x="244" y="303"/>
                </a:lnTo>
                <a:lnTo>
                  <a:pt x="260" y="291"/>
                </a:lnTo>
                <a:cubicBezTo>
                  <a:pt x="279" y="278"/>
                  <a:pt x="278" y="269"/>
                  <a:pt x="278" y="251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653760" y="4534200"/>
            <a:ext cx="99360" cy="77760"/>
          </a:xfrm>
          <a:custGeom>
            <a:avLst/>
            <a:gdLst/>
            <a:ahLst/>
            <a:rect l="0" t="0" r="r" b="b"/>
            <a:pathLst>
              <a:path w="276" h="216">
                <a:moveTo>
                  <a:pt x="272" y="184"/>
                </a:moveTo>
                <a:cubicBezTo>
                  <a:pt x="207" y="134"/>
                  <a:pt x="54" y="15"/>
                  <a:pt x="33" y="0"/>
                </a:cubicBezTo>
                <a:lnTo>
                  <a:pt x="0" y="27"/>
                </a:lnTo>
                <a:cubicBezTo>
                  <a:pt x="54" y="70"/>
                  <a:pt x="201" y="183"/>
                  <a:pt x="240" y="215"/>
                </a:cubicBezTo>
                <a:cubicBezTo>
                  <a:pt x="240" y="216"/>
                  <a:pt x="241" y="216"/>
                  <a:pt x="241" y="216"/>
                </a:cubicBezTo>
                <a:lnTo>
                  <a:pt x="276" y="188"/>
                </a:lnTo>
                <a:cubicBezTo>
                  <a:pt x="275" y="187"/>
                  <a:pt x="274" y="186"/>
                  <a:pt x="272" y="184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838080" y="4064040"/>
            <a:ext cx="4961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Solibri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规则集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：健身空间专⽤（承重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净⾼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新⻛）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1514160" y="4495680"/>
            <a:ext cx="3772440" cy="276480"/>
          </a:xfrm>
          <a:custGeom>
            <a:avLst/>
            <a:gdLst/>
            <a:ahLst/>
            <a:rect l="0" t="0" r="r" b="b"/>
            <a:pathLst>
              <a:path w="10479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0399" y="0"/>
                </a:lnTo>
                <a:cubicBezTo>
                  <a:pt x="10410" y="0"/>
                  <a:pt x="10420" y="2"/>
                  <a:pt x="10430" y="6"/>
                </a:cubicBezTo>
                <a:cubicBezTo>
                  <a:pt x="10440" y="10"/>
                  <a:pt x="10448" y="16"/>
                  <a:pt x="10456" y="23"/>
                </a:cubicBezTo>
                <a:cubicBezTo>
                  <a:pt x="10463" y="31"/>
                  <a:pt x="10469" y="39"/>
                  <a:pt x="10473" y="49"/>
                </a:cubicBezTo>
                <a:cubicBezTo>
                  <a:pt x="10477" y="59"/>
                  <a:pt x="10479" y="69"/>
                  <a:pt x="10479" y="79"/>
                </a:cubicBezTo>
                <a:lnTo>
                  <a:pt x="10479" y="689"/>
                </a:lnTo>
                <a:cubicBezTo>
                  <a:pt x="10479" y="699"/>
                  <a:pt x="10477" y="709"/>
                  <a:pt x="10473" y="719"/>
                </a:cubicBezTo>
                <a:cubicBezTo>
                  <a:pt x="10469" y="729"/>
                  <a:pt x="10463" y="737"/>
                  <a:pt x="10456" y="745"/>
                </a:cubicBezTo>
                <a:cubicBezTo>
                  <a:pt x="10448" y="752"/>
                  <a:pt x="10440" y="758"/>
                  <a:pt x="10430" y="762"/>
                </a:cubicBezTo>
                <a:cubicBezTo>
                  <a:pt x="10420" y="766"/>
                  <a:pt x="10410" y="768"/>
                  <a:pt x="10399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812160" y="4483080"/>
            <a:ext cx="696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交付：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1567800" y="4510800"/>
            <a:ext cx="36460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exports/05-fitness-studio.ifc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5283720" y="4483080"/>
            <a:ext cx="1191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本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PPTX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285840" y="6409440"/>
            <a:ext cx="372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⼯程师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