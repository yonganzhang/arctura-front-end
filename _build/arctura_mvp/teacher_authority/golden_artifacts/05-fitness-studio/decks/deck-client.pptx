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571320" y="255240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C97D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580680" y="4190760"/>
            <a:ext cx="1076760" cy="371880"/>
          </a:xfrm>
          <a:custGeom>
            <a:avLst/>
            <a:gdLst/>
            <a:ahLst/>
            <a:rect l="0" t="0" r="r" b="b"/>
            <a:pathLst>
              <a:path w="2991" h="1033">
                <a:moveTo>
                  <a:pt x="0" y="0"/>
                </a:moveTo>
                <a:lnTo>
                  <a:pt x="2991" y="0"/>
                </a:lnTo>
                <a:lnTo>
                  <a:pt x="29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657080" y="419076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2600280" y="419076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580680" y="4190760"/>
            <a:ext cx="1076760" cy="371880"/>
          </a:xfrm>
          <a:custGeom>
            <a:avLst/>
            <a:gdLst/>
            <a:ahLst/>
            <a:rect l="0" t="0" r="r" b="b"/>
            <a:pathLst>
              <a:path w="2991" h="1033">
                <a:moveTo>
                  <a:pt x="0" y="0"/>
                </a:moveTo>
                <a:lnTo>
                  <a:pt x="2991" y="0"/>
                </a:lnTo>
                <a:lnTo>
                  <a:pt x="29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657080" y="419076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2600280" y="419076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580680" y="4562280"/>
            <a:ext cx="1076760" cy="371880"/>
          </a:xfrm>
          <a:custGeom>
            <a:avLst/>
            <a:gdLst/>
            <a:ahLst/>
            <a:rect l="0" t="0" r="r" b="b"/>
            <a:pathLst>
              <a:path w="2991" h="1033">
                <a:moveTo>
                  <a:pt x="0" y="0"/>
                </a:moveTo>
                <a:lnTo>
                  <a:pt x="2991" y="0"/>
                </a:lnTo>
                <a:lnTo>
                  <a:pt x="29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1657080" y="456228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2600280" y="456228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571320" y="41814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571320" y="4181400"/>
            <a:ext cx="1086120" cy="9720"/>
          </a:xfrm>
          <a:custGeom>
            <a:avLst/>
            <a:gdLst/>
            <a:ah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1647720" y="41814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1657080" y="4181400"/>
            <a:ext cx="943560" cy="9720"/>
          </a:xfrm>
          <a:custGeom>
            <a:avLst/>
            <a:gdLst/>
            <a:ahLst/>
            <a:rect l="0" t="0" r="r" b="b"/>
            <a:pathLst>
              <a:path w="2621" h="27">
                <a:moveTo>
                  <a:pt x="0" y="0"/>
                </a:moveTo>
                <a:lnTo>
                  <a:pt x="2621" y="0"/>
                </a:lnTo>
                <a:lnTo>
                  <a:pt x="2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2590560" y="41814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2600280" y="418140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3362040" y="41814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571320" y="4552920"/>
            <a:ext cx="1086120" cy="9720"/>
          </a:xfrm>
          <a:custGeom>
            <a:avLst/>
            <a:gdLst/>
            <a:ah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657080" y="4552920"/>
            <a:ext cx="943560" cy="9720"/>
          </a:xfrm>
          <a:custGeom>
            <a:avLst/>
            <a:gdLst/>
            <a:ahLst/>
            <a:rect l="0" t="0" r="r" b="b"/>
            <a:pathLst>
              <a:path w="2621" h="27">
                <a:moveTo>
                  <a:pt x="0" y="0"/>
                </a:moveTo>
                <a:lnTo>
                  <a:pt x="2621" y="0"/>
                </a:lnTo>
                <a:lnTo>
                  <a:pt x="2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2600280" y="455292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571320" y="45622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1647720" y="45622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2590560" y="45622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3362040" y="45622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571320" y="4924080"/>
            <a:ext cx="1086120" cy="10080"/>
          </a:xfrm>
          <a:custGeom>
            <a:avLst/>
            <a:gdLst/>
            <a:ah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657080" y="4924080"/>
            <a:ext cx="943560" cy="10080"/>
          </a:xfrm>
          <a:custGeom>
            <a:avLst/>
            <a:gdLst/>
            <a:ahLst/>
            <a:rect l="0" t="0" r="r" b="b"/>
            <a:pathLst>
              <a:path w="2621" h="28">
                <a:moveTo>
                  <a:pt x="0" y="0"/>
                </a:moveTo>
                <a:lnTo>
                  <a:pt x="2621" y="0"/>
                </a:lnTo>
                <a:lnTo>
                  <a:pt x="2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2600280" y="492408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571320" y="1592280"/>
            <a:ext cx="305604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Lift Studio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571320" y="2810520"/>
            <a:ext cx="394848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100 m² · v1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571320" y="3396240"/>
            <a:ext cx="19818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给 业主 的⽅案介绍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04880" y="42472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设计周期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784880" y="42472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⽅案版本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2727720" y="424728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决策点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04880" y="4618800"/>
            <a:ext cx="96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29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秒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784880" y="461880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727720" y="4618800"/>
            <a:ext cx="37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18450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142920" y="350280"/>
            <a:ext cx="6190920" cy="3862080"/>
          </a:xfrm>
          <a:custGeom>
            <a:avLst/>
            <a:gdLst/>
            <a:ahLst/>
            <a:rect l="0" t="0" r="r" b="b"/>
            <a:pathLst>
              <a:path w="17197" h="10728">
                <a:moveTo>
                  <a:pt x="1190" y="1196"/>
                </a:moveTo>
                <a:lnTo>
                  <a:pt x="1190" y="9108"/>
                </a:lnTo>
                <a:cubicBezTo>
                  <a:pt x="1190" y="9136"/>
                  <a:pt x="1195" y="9163"/>
                  <a:pt x="1206" y="9189"/>
                </a:cubicBezTo>
                <a:cubicBezTo>
                  <a:pt x="1217" y="9215"/>
                  <a:pt x="1232" y="9238"/>
                  <a:pt x="1252" y="9258"/>
                </a:cubicBezTo>
                <a:cubicBezTo>
                  <a:pt x="1272" y="9278"/>
                  <a:pt x="1295" y="9293"/>
                  <a:pt x="1321" y="9304"/>
                </a:cubicBezTo>
                <a:cubicBezTo>
                  <a:pt x="1347" y="9314"/>
                  <a:pt x="1374" y="9320"/>
                  <a:pt x="1402" y="9320"/>
                </a:cubicBezTo>
                <a:lnTo>
                  <a:pt x="15796" y="9320"/>
                </a:lnTo>
                <a:cubicBezTo>
                  <a:pt x="15824" y="9320"/>
                  <a:pt x="15851" y="9314"/>
                  <a:pt x="15877" y="9304"/>
                </a:cubicBezTo>
                <a:cubicBezTo>
                  <a:pt x="15903" y="9293"/>
                  <a:pt x="15926" y="9278"/>
                  <a:pt x="15946" y="9258"/>
                </a:cubicBezTo>
                <a:cubicBezTo>
                  <a:pt x="15966" y="9238"/>
                  <a:pt x="15981" y="9215"/>
                  <a:pt x="15992" y="9189"/>
                </a:cubicBezTo>
                <a:cubicBezTo>
                  <a:pt x="16002" y="9163"/>
                  <a:pt x="16008" y="9136"/>
                  <a:pt x="16008" y="9108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0728"/>
                </a:lnTo>
                <a:lnTo>
                  <a:pt x="0" y="107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571320" y="704880"/>
            <a:ext cx="5333760" cy="29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"/>
          <p:cNvSpPr/>
          <p:nvPr/>
        </p:nvSpPr>
        <p:spPr>
          <a:xfrm>
            <a:off x="628560" y="453384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0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20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6286320" y="198324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⻛格定调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628560" y="48956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2"/>
                  <a:pt x="53" y="15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5"/>
                  <a:pt x="171" y="22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838080" y="4416480"/>
            <a:ext cx="4784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关键词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industrial · mirror-heavy · strong-clean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628560" y="5257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838080" y="4778640"/>
            <a:ext cx="3643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主⾊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：哑⿊墙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镜⾯银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电光⻩点缀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628560" y="56196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838080" y="5140440"/>
            <a:ext cx="3341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感觉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：专业、⾼能量、社媒出⽚率⾼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838080" y="5502240"/>
            <a:ext cx="35924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对标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Barry's · Equinox · SPEEDFIT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142920" y="188640"/>
            <a:ext cx="6190920" cy="4194720"/>
          </a:xfrm>
          <a:custGeom>
            <a:avLst/>
            <a:gdLst/>
            <a:ahLst/>
            <a:rect l="0" t="0" r="r" b="b"/>
            <a:pathLst>
              <a:path w="17197" h="11652">
                <a:moveTo>
                  <a:pt x="1190" y="1195"/>
                </a:moveTo>
                <a:lnTo>
                  <a:pt x="1190" y="10033"/>
                </a:lnTo>
                <a:cubicBezTo>
                  <a:pt x="1190" y="10061"/>
                  <a:pt x="1195" y="10088"/>
                  <a:pt x="1206" y="10114"/>
                </a:cubicBezTo>
                <a:cubicBezTo>
                  <a:pt x="1217" y="10140"/>
                  <a:pt x="1232" y="10163"/>
                  <a:pt x="1252" y="10183"/>
                </a:cubicBezTo>
                <a:cubicBezTo>
                  <a:pt x="1272" y="10203"/>
                  <a:pt x="1295" y="10218"/>
                  <a:pt x="1321" y="10229"/>
                </a:cubicBezTo>
                <a:cubicBezTo>
                  <a:pt x="1347" y="10240"/>
                  <a:pt x="1374" y="10245"/>
                  <a:pt x="1402" y="10245"/>
                </a:cubicBezTo>
                <a:lnTo>
                  <a:pt x="15796" y="10245"/>
                </a:lnTo>
                <a:cubicBezTo>
                  <a:pt x="15824" y="10245"/>
                  <a:pt x="15851" y="10240"/>
                  <a:pt x="15877" y="10229"/>
                </a:cubicBezTo>
                <a:cubicBezTo>
                  <a:pt x="15903" y="10218"/>
                  <a:pt x="15926" y="10203"/>
                  <a:pt x="15946" y="10183"/>
                </a:cubicBezTo>
                <a:cubicBezTo>
                  <a:pt x="15966" y="10163"/>
                  <a:pt x="15981" y="10140"/>
                  <a:pt x="15992" y="10114"/>
                </a:cubicBezTo>
                <a:cubicBezTo>
                  <a:pt x="16002" y="10088"/>
                  <a:pt x="16008" y="10061"/>
                  <a:pt x="16008" y="10033"/>
                </a:cubicBezTo>
                <a:lnTo>
                  <a:pt x="16008" y="1195"/>
                </a:lnTo>
                <a:cubicBezTo>
                  <a:pt x="16008" y="1167"/>
                  <a:pt x="16002" y="1140"/>
                  <a:pt x="15992" y="1114"/>
                </a:cubicBezTo>
                <a:cubicBezTo>
                  <a:pt x="15981" y="1088"/>
                  <a:pt x="15966" y="1065"/>
                  <a:pt x="15946" y="1046"/>
                </a:cubicBezTo>
                <a:cubicBezTo>
                  <a:pt x="15926" y="1026"/>
                  <a:pt x="15903" y="1010"/>
                  <a:pt x="15877" y="1000"/>
                </a:cubicBezTo>
                <a:cubicBezTo>
                  <a:pt x="15851" y="989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89"/>
                  <a:pt x="1321" y="1000"/>
                </a:cubicBezTo>
                <a:cubicBezTo>
                  <a:pt x="1295" y="1010"/>
                  <a:pt x="1272" y="1026"/>
                  <a:pt x="1252" y="1046"/>
                </a:cubicBezTo>
                <a:cubicBezTo>
                  <a:pt x="1232" y="1065"/>
                  <a:pt x="1217" y="1088"/>
                  <a:pt x="1206" y="1114"/>
                </a:cubicBezTo>
                <a:cubicBezTo>
                  <a:pt x="1195" y="1140"/>
                  <a:pt x="1190" y="1167"/>
                  <a:pt x="1190" y="1195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2"/>
                </a:lnTo>
                <a:lnTo>
                  <a:pt x="0" y="11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02" name=""/>
          <p:cNvPicPr/>
          <p:nvPr/>
        </p:nvPicPr>
        <p:blipFill>
          <a:blip r:embed="rId1"/>
          <a:stretch/>
        </p:blipFill>
        <p:spPr>
          <a:xfrm>
            <a:off x="571320" y="5428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628560" y="47052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6286320" y="1983240"/>
            <a:ext cx="1433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第⼀眼印象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628560" y="50670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838080" y="4587840"/>
            <a:ext cx="3116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进⻔即看到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LOGO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接待台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628560" y="5419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838080" y="4950000"/>
            <a:ext cx="3435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展示墙挂蛋⽩粉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护具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品牌周边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628560" y="5781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838080" y="5302440"/>
            <a:ext cx="2678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接待椅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张，新客⼊会洽谈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838080" y="5664240"/>
            <a:ext cx="3083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灯光：聚光打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LOGO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，强品牌感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142920" y="188640"/>
            <a:ext cx="6190920" cy="4194720"/>
          </a:xfrm>
          <a:custGeom>
            <a:avLst/>
            <a:gdLst/>
            <a:ahLst/>
            <a:rect l="0" t="0" r="r" b="b"/>
            <a:pathLst>
              <a:path w="17197" h="11652">
                <a:moveTo>
                  <a:pt x="1190" y="1195"/>
                </a:moveTo>
                <a:lnTo>
                  <a:pt x="1190" y="10033"/>
                </a:lnTo>
                <a:cubicBezTo>
                  <a:pt x="1190" y="10061"/>
                  <a:pt x="1195" y="10088"/>
                  <a:pt x="1206" y="10114"/>
                </a:cubicBezTo>
                <a:cubicBezTo>
                  <a:pt x="1217" y="10140"/>
                  <a:pt x="1232" y="10163"/>
                  <a:pt x="1252" y="10183"/>
                </a:cubicBezTo>
                <a:cubicBezTo>
                  <a:pt x="1272" y="10203"/>
                  <a:pt x="1295" y="10218"/>
                  <a:pt x="1321" y="10229"/>
                </a:cubicBezTo>
                <a:cubicBezTo>
                  <a:pt x="1347" y="10240"/>
                  <a:pt x="1374" y="10245"/>
                  <a:pt x="1402" y="10245"/>
                </a:cubicBezTo>
                <a:lnTo>
                  <a:pt x="15796" y="10245"/>
                </a:lnTo>
                <a:cubicBezTo>
                  <a:pt x="15824" y="10245"/>
                  <a:pt x="15851" y="10240"/>
                  <a:pt x="15877" y="10229"/>
                </a:cubicBezTo>
                <a:cubicBezTo>
                  <a:pt x="15903" y="10218"/>
                  <a:pt x="15926" y="10203"/>
                  <a:pt x="15946" y="10183"/>
                </a:cubicBezTo>
                <a:cubicBezTo>
                  <a:pt x="15966" y="10163"/>
                  <a:pt x="15981" y="10140"/>
                  <a:pt x="15992" y="10114"/>
                </a:cubicBezTo>
                <a:cubicBezTo>
                  <a:pt x="16002" y="10088"/>
                  <a:pt x="16008" y="10061"/>
                  <a:pt x="16008" y="10033"/>
                </a:cubicBezTo>
                <a:lnTo>
                  <a:pt x="16008" y="1195"/>
                </a:lnTo>
                <a:cubicBezTo>
                  <a:pt x="16008" y="1167"/>
                  <a:pt x="16002" y="1140"/>
                  <a:pt x="15992" y="1114"/>
                </a:cubicBezTo>
                <a:cubicBezTo>
                  <a:pt x="15981" y="1088"/>
                  <a:pt x="15966" y="1065"/>
                  <a:pt x="15946" y="1046"/>
                </a:cubicBezTo>
                <a:cubicBezTo>
                  <a:pt x="15926" y="1026"/>
                  <a:pt x="15903" y="1010"/>
                  <a:pt x="15877" y="1000"/>
                </a:cubicBezTo>
                <a:cubicBezTo>
                  <a:pt x="15851" y="989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89"/>
                  <a:pt x="1321" y="1000"/>
                </a:cubicBezTo>
                <a:cubicBezTo>
                  <a:pt x="1295" y="1010"/>
                  <a:pt x="1272" y="1026"/>
                  <a:pt x="1252" y="1046"/>
                </a:cubicBezTo>
                <a:cubicBezTo>
                  <a:pt x="1232" y="1065"/>
                  <a:pt x="1217" y="1088"/>
                  <a:pt x="1206" y="1114"/>
                </a:cubicBezTo>
                <a:cubicBezTo>
                  <a:pt x="1195" y="1140"/>
                  <a:pt x="1190" y="1167"/>
                  <a:pt x="1190" y="1195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2"/>
                </a:lnTo>
                <a:lnTo>
                  <a:pt x="0" y="11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19" name=""/>
          <p:cNvPicPr/>
          <p:nvPr/>
        </p:nvPicPr>
        <p:blipFill>
          <a:blip r:embed="rId1"/>
          <a:stretch/>
        </p:blipFill>
        <p:spPr>
          <a:xfrm>
            <a:off x="571320" y="5428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"/>
          <p:cNvSpPr/>
          <p:nvPr/>
        </p:nvSpPr>
        <p:spPr>
          <a:xfrm>
            <a:off x="628560" y="47052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6286320" y="1983240"/>
            <a:ext cx="22928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核⼼：⾃由⼒量区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628560" y="50670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838080" y="4587840"/>
            <a:ext cx="3618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层哑铃架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6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⽀杠铃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1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举重平台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628560" y="5419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838080" y="4950000"/>
            <a:ext cx="3542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地⾯：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 mm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橡胶地垫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下衬加固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628560" y="5781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838080" y="5302440"/>
            <a:ext cx="3119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层⾼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3.5 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满⾜深蹲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硬拉甩放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838080" y="5664240"/>
            <a:ext cx="2088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电光⻩标线划分安全区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142920" y="188640"/>
            <a:ext cx="6190920" cy="4194720"/>
          </a:xfrm>
          <a:custGeom>
            <a:avLst/>
            <a:gdLst/>
            <a:ahLst/>
            <a:rect l="0" t="0" r="r" b="b"/>
            <a:pathLst>
              <a:path w="17197" h="11652">
                <a:moveTo>
                  <a:pt x="1190" y="1195"/>
                </a:moveTo>
                <a:lnTo>
                  <a:pt x="1190" y="10033"/>
                </a:lnTo>
                <a:cubicBezTo>
                  <a:pt x="1190" y="10061"/>
                  <a:pt x="1195" y="10088"/>
                  <a:pt x="1206" y="10114"/>
                </a:cubicBezTo>
                <a:cubicBezTo>
                  <a:pt x="1217" y="10140"/>
                  <a:pt x="1232" y="10163"/>
                  <a:pt x="1252" y="10183"/>
                </a:cubicBezTo>
                <a:cubicBezTo>
                  <a:pt x="1272" y="10203"/>
                  <a:pt x="1295" y="10218"/>
                  <a:pt x="1321" y="10229"/>
                </a:cubicBezTo>
                <a:cubicBezTo>
                  <a:pt x="1347" y="10240"/>
                  <a:pt x="1374" y="10245"/>
                  <a:pt x="1402" y="10245"/>
                </a:cubicBezTo>
                <a:lnTo>
                  <a:pt x="15796" y="10245"/>
                </a:lnTo>
                <a:cubicBezTo>
                  <a:pt x="15824" y="10245"/>
                  <a:pt x="15851" y="10240"/>
                  <a:pt x="15877" y="10229"/>
                </a:cubicBezTo>
                <a:cubicBezTo>
                  <a:pt x="15903" y="10218"/>
                  <a:pt x="15926" y="10203"/>
                  <a:pt x="15946" y="10183"/>
                </a:cubicBezTo>
                <a:cubicBezTo>
                  <a:pt x="15966" y="10163"/>
                  <a:pt x="15981" y="10140"/>
                  <a:pt x="15992" y="10114"/>
                </a:cubicBezTo>
                <a:cubicBezTo>
                  <a:pt x="16002" y="10088"/>
                  <a:pt x="16008" y="10061"/>
                  <a:pt x="16008" y="10033"/>
                </a:cubicBezTo>
                <a:lnTo>
                  <a:pt x="16008" y="1195"/>
                </a:lnTo>
                <a:cubicBezTo>
                  <a:pt x="16008" y="1167"/>
                  <a:pt x="16002" y="1140"/>
                  <a:pt x="15992" y="1114"/>
                </a:cubicBezTo>
                <a:cubicBezTo>
                  <a:pt x="15981" y="1088"/>
                  <a:pt x="15966" y="1065"/>
                  <a:pt x="15946" y="1046"/>
                </a:cubicBezTo>
                <a:cubicBezTo>
                  <a:pt x="15926" y="1026"/>
                  <a:pt x="15903" y="1010"/>
                  <a:pt x="15877" y="1000"/>
                </a:cubicBezTo>
                <a:cubicBezTo>
                  <a:pt x="15851" y="989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89"/>
                  <a:pt x="1321" y="1000"/>
                </a:cubicBezTo>
                <a:cubicBezTo>
                  <a:pt x="1295" y="1010"/>
                  <a:pt x="1272" y="1026"/>
                  <a:pt x="1252" y="1046"/>
                </a:cubicBezTo>
                <a:cubicBezTo>
                  <a:pt x="1232" y="1065"/>
                  <a:pt x="1217" y="1088"/>
                  <a:pt x="1206" y="1114"/>
                </a:cubicBezTo>
                <a:cubicBezTo>
                  <a:pt x="1195" y="1140"/>
                  <a:pt x="1190" y="1167"/>
                  <a:pt x="1190" y="1195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2"/>
                </a:lnTo>
                <a:lnTo>
                  <a:pt x="0" y="11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36" name=""/>
          <p:cNvPicPr/>
          <p:nvPr/>
        </p:nvPicPr>
        <p:blipFill>
          <a:blip r:embed="rId1"/>
          <a:stretch/>
        </p:blipFill>
        <p:spPr>
          <a:xfrm>
            <a:off x="571320" y="5428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"/>
          <p:cNvSpPr/>
          <p:nvPr/>
        </p:nvSpPr>
        <p:spPr>
          <a:xfrm>
            <a:off x="628560" y="47052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6286320" y="1983240"/>
            <a:ext cx="22136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瑜伽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普拉提区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628560" y="50670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838080" y="4587840"/>
            <a:ext cx="2858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⽊地板铺装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6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垫位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2×3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格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628560" y="5419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838080" y="4950000"/>
            <a:ext cx="3132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与⼒量区声学分隔（哑⿊吸⾳板）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628560" y="5781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838080" y="5302440"/>
            <a:ext cx="2657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镜⾯墙全反射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m × 2.4 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838080" y="5664240"/>
            <a:ext cx="2506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顶部线性灯带突出动作线条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142920" y="188640"/>
            <a:ext cx="6190920" cy="4194720"/>
          </a:xfrm>
          <a:custGeom>
            <a:avLst/>
            <a:gdLst/>
            <a:ahLst/>
            <a:rect l="0" t="0" r="r" b="b"/>
            <a:pathLst>
              <a:path w="17197" h="11652">
                <a:moveTo>
                  <a:pt x="1190" y="1195"/>
                </a:moveTo>
                <a:lnTo>
                  <a:pt x="1190" y="10033"/>
                </a:lnTo>
                <a:cubicBezTo>
                  <a:pt x="1190" y="10061"/>
                  <a:pt x="1195" y="10088"/>
                  <a:pt x="1206" y="10114"/>
                </a:cubicBezTo>
                <a:cubicBezTo>
                  <a:pt x="1217" y="10140"/>
                  <a:pt x="1232" y="10163"/>
                  <a:pt x="1252" y="10183"/>
                </a:cubicBezTo>
                <a:cubicBezTo>
                  <a:pt x="1272" y="10203"/>
                  <a:pt x="1295" y="10218"/>
                  <a:pt x="1321" y="10229"/>
                </a:cubicBezTo>
                <a:cubicBezTo>
                  <a:pt x="1347" y="10240"/>
                  <a:pt x="1374" y="10245"/>
                  <a:pt x="1402" y="10245"/>
                </a:cubicBezTo>
                <a:lnTo>
                  <a:pt x="15796" y="10245"/>
                </a:lnTo>
                <a:cubicBezTo>
                  <a:pt x="15824" y="10245"/>
                  <a:pt x="15851" y="10240"/>
                  <a:pt x="15877" y="10229"/>
                </a:cubicBezTo>
                <a:cubicBezTo>
                  <a:pt x="15903" y="10218"/>
                  <a:pt x="15926" y="10203"/>
                  <a:pt x="15946" y="10183"/>
                </a:cubicBezTo>
                <a:cubicBezTo>
                  <a:pt x="15966" y="10163"/>
                  <a:pt x="15981" y="10140"/>
                  <a:pt x="15992" y="10114"/>
                </a:cubicBezTo>
                <a:cubicBezTo>
                  <a:pt x="16002" y="10088"/>
                  <a:pt x="16008" y="10061"/>
                  <a:pt x="16008" y="10033"/>
                </a:cubicBezTo>
                <a:lnTo>
                  <a:pt x="16008" y="1195"/>
                </a:lnTo>
                <a:cubicBezTo>
                  <a:pt x="16008" y="1167"/>
                  <a:pt x="16002" y="1140"/>
                  <a:pt x="15992" y="1114"/>
                </a:cubicBezTo>
                <a:cubicBezTo>
                  <a:pt x="15981" y="1088"/>
                  <a:pt x="15966" y="1065"/>
                  <a:pt x="15946" y="1046"/>
                </a:cubicBezTo>
                <a:cubicBezTo>
                  <a:pt x="15926" y="1026"/>
                  <a:pt x="15903" y="1010"/>
                  <a:pt x="15877" y="1000"/>
                </a:cubicBezTo>
                <a:cubicBezTo>
                  <a:pt x="15851" y="989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89"/>
                  <a:pt x="1321" y="1000"/>
                </a:cubicBezTo>
                <a:cubicBezTo>
                  <a:pt x="1295" y="1010"/>
                  <a:pt x="1272" y="1026"/>
                  <a:pt x="1252" y="1046"/>
                </a:cubicBezTo>
                <a:cubicBezTo>
                  <a:pt x="1232" y="1065"/>
                  <a:pt x="1217" y="1088"/>
                  <a:pt x="1206" y="1114"/>
                </a:cubicBezTo>
                <a:cubicBezTo>
                  <a:pt x="1195" y="1140"/>
                  <a:pt x="1190" y="1167"/>
                  <a:pt x="1190" y="1195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2"/>
                </a:lnTo>
                <a:lnTo>
                  <a:pt x="0" y="11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53" name=""/>
          <p:cNvPicPr/>
          <p:nvPr/>
        </p:nvPicPr>
        <p:blipFill>
          <a:blip r:embed="rId1"/>
          <a:stretch/>
        </p:blipFill>
        <p:spPr>
          <a:xfrm>
            <a:off x="571320" y="5428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"/>
          <p:cNvSpPr/>
          <p:nvPr/>
        </p:nvSpPr>
        <p:spPr>
          <a:xfrm>
            <a:off x="628560" y="47052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6286320" y="1983240"/>
            <a:ext cx="28170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私教咨询⻆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储物柜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628560" y="50670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838080" y="4587840"/>
            <a:ext cx="3305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咨询⻆视觉独⽴：⽊质隔屏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暖光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628560" y="5419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838080" y="4950000"/>
            <a:ext cx="2634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个独⽴储物柜，带密码锁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628560" y="5781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838080" y="5302440"/>
            <a:ext cx="1253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⻓凳⽅便换鞋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838080" y="5664240"/>
            <a:ext cx="2817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淋浴⼲湿分离，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间独⽴隔间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142920" y="371520"/>
            <a:ext cx="6190920" cy="4191480"/>
          </a:xfrm>
          <a:custGeom>
            <a:avLst/>
            <a:gdLst/>
            <a:ahLst/>
            <a:rect l="0" t="0" r="r" b="b"/>
            <a:pathLst>
              <a:path w="17197" h="11643">
                <a:moveTo>
                  <a:pt x="1190" y="1190"/>
                </a:moveTo>
                <a:lnTo>
                  <a:pt x="1190" y="10028"/>
                </a:lnTo>
                <a:cubicBezTo>
                  <a:pt x="1190" y="10056"/>
                  <a:pt x="1195" y="10083"/>
                  <a:pt x="1206" y="10109"/>
                </a:cubicBezTo>
                <a:cubicBezTo>
                  <a:pt x="1217" y="10135"/>
                  <a:pt x="1232" y="10158"/>
                  <a:pt x="1252" y="10178"/>
                </a:cubicBezTo>
                <a:cubicBezTo>
                  <a:pt x="1272" y="10198"/>
                  <a:pt x="1295" y="10213"/>
                  <a:pt x="1321" y="10224"/>
                </a:cubicBezTo>
                <a:cubicBezTo>
                  <a:pt x="1347" y="10234"/>
                  <a:pt x="1374" y="10240"/>
                  <a:pt x="1402" y="10240"/>
                </a:cubicBezTo>
                <a:lnTo>
                  <a:pt x="15796" y="10240"/>
                </a:lnTo>
                <a:cubicBezTo>
                  <a:pt x="15824" y="10240"/>
                  <a:pt x="15851" y="10234"/>
                  <a:pt x="15877" y="10224"/>
                </a:cubicBezTo>
                <a:cubicBezTo>
                  <a:pt x="15903" y="10213"/>
                  <a:pt x="15926" y="10198"/>
                  <a:pt x="15946" y="10178"/>
                </a:cubicBezTo>
                <a:cubicBezTo>
                  <a:pt x="15966" y="10158"/>
                  <a:pt x="15981" y="10135"/>
                  <a:pt x="15992" y="10109"/>
                </a:cubicBezTo>
                <a:cubicBezTo>
                  <a:pt x="16002" y="10083"/>
                  <a:pt x="16008" y="10056"/>
                  <a:pt x="16008" y="10028"/>
                </a:cubicBezTo>
                <a:lnTo>
                  <a:pt x="16008" y="1190"/>
                </a:lnTo>
                <a:cubicBezTo>
                  <a:pt x="16008" y="1162"/>
                  <a:pt x="16002" y="1135"/>
                  <a:pt x="15992" y="1109"/>
                </a:cubicBezTo>
                <a:cubicBezTo>
                  <a:pt x="15981" y="1083"/>
                  <a:pt x="15966" y="1060"/>
                  <a:pt x="15946" y="1040"/>
                </a:cubicBezTo>
                <a:cubicBezTo>
                  <a:pt x="15926" y="1020"/>
                  <a:pt x="15903" y="1005"/>
                  <a:pt x="15877" y="994"/>
                </a:cubicBezTo>
                <a:cubicBezTo>
                  <a:pt x="15851" y="984"/>
                  <a:pt x="15824" y="978"/>
                  <a:pt x="15796" y="978"/>
                </a:cubicBezTo>
                <a:lnTo>
                  <a:pt x="1402" y="978"/>
                </a:lnTo>
                <a:cubicBezTo>
                  <a:pt x="1374" y="978"/>
                  <a:pt x="1347" y="984"/>
                  <a:pt x="1321" y="994"/>
                </a:cubicBezTo>
                <a:cubicBezTo>
                  <a:pt x="1295" y="1005"/>
                  <a:pt x="1272" y="1020"/>
                  <a:pt x="1252" y="1040"/>
                </a:cubicBezTo>
                <a:cubicBezTo>
                  <a:pt x="1232" y="1060"/>
                  <a:pt x="1217" y="1083"/>
                  <a:pt x="1206" y="1109"/>
                </a:cubicBezTo>
                <a:cubicBezTo>
                  <a:pt x="1195" y="1135"/>
                  <a:pt x="1190" y="1162"/>
                  <a:pt x="1190" y="1190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43"/>
                </a:lnTo>
                <a:lnTo>
                  <a:pt x="0" y="1164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70" name=""/>
          <p:cNvPicPr/>
          <p:nvPr/>
        </p:nvPicPr>
        <p:blipFill>
          <a:blip r:embed="rId1"/>
          <a:stretch/>
        </p:blipFill>
        <p:spPr>
          <a:xfrm>
            <a:off x="571320" y="72396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"/>
          <p:cNvSpPr/>
          <p:nvPr/>
        </p:nvSpPr>
        <p:spPr>
          <a:xfrm>
            <a:off x="628560" y="48862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6286320" y="2163960"/>
            <a:ext cx="2006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平⾯图（俯视）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628560" y="52480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838080" y="4768920"/>
            <a:ext cx="3076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× 10 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整层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8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个功能分区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628560" y="56005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838080" y="5131080"/>
            <a:ext cx="3758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动线：⼊⼝ → 储物柜 → 训练区 → 淋浴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838080" y="5483520"/>
            <a:ext cx="3944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⼒量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24 m² 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 m² 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镜⾯墙满墙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182276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580680" y="2638080"/>
            <a:ext cx="352800" cy="371880"/>
          </a:xfrm>
          <a:custGeom>
            <a:avLst/>
            <a:gdLst/>
            <a:ahLst/>
            <a:rect l="0" t="0" r="r" b="b"/>
            <a:pathLst>
              <a:path w="980" h="1033">
                <a:moveTo>
                  <a:pt x="0" y="0"/>
                </a:moveTo>
                <a:lnTo>
                  <a:pt x="980" y="0"/>
                </a:lnTo>
                <a:lnTo>
                  <a:pt x="98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933120" y="263808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2219040" y="2638080"/>
            <a:ext cx="3229560" cy="371880"/>
          </a:xfrm>
          <a:custGeom>
            <a:avLst/>
            <a:gdLst/>
            <a:ahLst/>
            <a:rect l="0" t="0" r="r" b="b"/>
            <a:pathLst>
              <a:path w="8971" h="1033">
                <a:moveTo>
                  <a:pt x="0" y="0"/>
                </a:moveTo>
                <a:lnTo>
                  <a:pt x="8971" y="0"/>
                </a:lnTo>
                <a:lnTo>
                  <a:pt x="897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580680" y="2638080"/>
            <a:ext cx="352800" cy="371880"/>
          </a:xfrm>
          <a:custGeom>
            <a:avLst/>
            <a:gdLst/>
            <a:ahLst/>
            <a:rect l="0" t="0" r="r" b="b"/>
            <a:pathLst>
              <a:path w="980" h="1033">
                <a:moveTo>
                  <a:pt x="0" y="0"/>
                </a:moveTo>
                <a:lnTo>
                  <a:pt x="980" y="0"/>
                </a:lnTo>
                <a:lnTo>
                  <a:pt x="98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933120" y="263808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2219040" y="2638080"/>
            <a:ext cx="3229560" cy="371880"/>
          </a:xfrm>
          <a:custGeom>
            <a:avLst/>
            <a:gdLst/>
            <a:ahLst/>
            <a:rect l="0" t="0" r="r" b="b"/>
            <a:pathLst>
              <a:path w="8971" h="1033">
                <a:moveTo>
                  <a:pt x="0" y="0"/>
                </a:moveTo>
                <a:lnTo>
                  <a:pt x="8971" y="0"/>
                </a:lnTo>
                <a:lnTo>
                  <a:pt x="897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580680" y="3009600"/>
            <a:ext cx="352800" cy="371880"/>
          </a:xfrm>
          <a:custGeom>
            <a:avLst/>
            <a:gdLst/>
            <a:ahLst/>
            <a:rect l="0" t="0" r="r" b="b"/>
            <a:pathLst>
              <a:path w="980" h="1033">
                <a:moveTo>
                  <a:pt x="0" y="0"/>
                </a:moveTo>
                <a:lnTo>
                  <a:pt x="980" y="0"/>
                </a:lnTo>
                <a:lnTo>
                  <a:pt x="98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933120" y="300960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2219040" y="3009600"/>
            <a:ext cx="3229560" cy="371880"/>
          </a:xfrm>
          <a:custGeom>
            <a:avLst/>
            <a:gdLst/>
            <a:ahLst/>
            <a:rect l="0" t="0" r="r" b="b"/>
            <a:pathLst>
              <a:path w="8971" h="1033">
                <a:moveTo>
                  <a:pt x="0" y="0"/>
                </a:moveTo>
                <a:lnTo>
                  <a:pt x="8971" y="0"/>
                </a:lnTo>
                <a:lnTo>
                  <a:pt x="897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580680" y="3381120"/>
            <a:ext cx="352800" cy="371880"/>
          </a:xfrm>
          <a:custGeom>
            <a:avLst/>
            <a:gdLst/>
            <a:ahLst/>
            <a:rect l="0" t="0" r="r" b="b"/>
            <a:pathLst>
              <a:path w="980" h="1033">
                <a:moveTo>
                  <a:pt x="0" y="0"/>
                </a:moveTo>
                <a:lnTo>
                  <a:pt x="980" y="0"/>
                </a:lnTo>
                <a:lnTo>
                  <a:pt x="98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933120" y="338112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2219040" y="3381120"/>
            <a:ext cx="3229560" cy="371880"/>
          </a:xfrm>
          <a:custGeom>
            <a:avLst/>
            <a:gdLst/>
            <a:ahLst/>
            <a:rect l="0" t="0" r="r" b="b"/>
            <a:pathLst>
              <a:path w="8971" h="1033">
                <a:moveTo>
                  <a:pt x="0" y="0"/>
                </a:moveTo>
                <a:lnTo>
                  <a:pt x="8971" y="0"/>
                </a:lnTo>
                <a:lnTo>
                  <a:pt x="897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580680" y="3752640"/>
            <a:ext cx="352800" cy="371880"/>
          </a:xfrm>
          <a:custGeom>
            <a:avLst/>
            <a:gdLst/>
            <a:ahLst/>
            <a:rect l="0" t="0" r="r" b="b"/>
            <a:pathLst>
              <a:path w="980" h="1033">
                <a:moveTo>
                  <a:pt x="0" y="0"/>
                </a:moveTo>
                <a:lnTo>
                  <a:pt x="980" y="0"/>
                </a:lnTo>
                <a:lnTo>
                  <a:pt x="98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933120" y="375264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2219040" y="3752640"/>
            <a:ext cx="3229560" cy="371880"/>
          </a:xfrm>
          <a:custGeom>
            <a:avLst/>
            <a:gdLst/>
            <a:ahLst/>
            <a:rect l="0" t="0" r="r" b="b"/>
            <a:pathLst>
              <a:path w="8971" h="1033">
                <a:moveTo>
                  <a:pt x="0" y="0"/>
                </a:moveTo>
                <a:lnTo>
                  <a:pt x="8971" y="0"/>
                </a:lnTo>
                <a:lnTo>
                  <a:pt x="897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580680" y="4124160"/>
            <a:ext cx="352800" cy="371880"/>
          </a:xfrm>
          <a:custGeom>
            <a:avLst/>
            <a:gdLst/>
            <a:ahLst/>
            <a:rect l="0" t="0" r="r" b="b"/>
            <a:pathLst>
              <a:path w="980" h="1033">
                <a:moveTo>
                  <a:pt x="0" y="0"/>
                </a:moveTo>
                <a:lnTo>
                  <a:pt x="980" y="0"/>
                </a:lnTo>
                <a:lnTo>
                  <a:pt x="98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933120" y="412416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2219040" y="4124160"/>
            <a:ext cx="3229560" cy="371880"/>
          </a:xfrm>
          <a:custGeom>
            <a:avLst/>
            <a:gdLst/>
            <a:ahLst/>
            <a:rect l="0" t="0" r="r" b="b"/>
            <a:pathLst>
              <a:path w="8971" h="1033">
                <a:moveTo>
                  <a:pt x="0" y="0"/>
                </a:moveTo>
                <a:lnTo>
                  <a:pt x="8971" y="0"/>
                </a:lnTo>
                <a:lnTo>
                  <a:pt x="897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571320" y="2628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571320" y="2628720"/>
            <a:ext cx="371880" cy="9720"/>
          </a:xfrm>
          <a:custGeom>
            <a:avLst/>
            <a:gdLst/>
            <a:ahLst/>
            <a:rect l="0" t="0" r="r" b="b"/>
            <a:pathLst>
              <a:path w="1033" h="27">
                <a:moveTo>
                  <a:pt x="0" y="0"/>
                </a:moveTo>
                <a:lnTo>
                  <a:pt x="1033" y="0"/>
                </a:lnTo>
                <a:lnTo>
                  <a:pt x="10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933120" y="26287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942840" y="262872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2219040" y="26287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2228760" y="2628720"/>
            <a:ext cx="3229200" cy="9720"/>
          </a:xfrm>
          <a:custGeom>
            <a:avLst/>
            <a:gdLst/>
            <a:ahLst/>
            <a:rect l="0" t="0" r="r" b="b"/>
            <a:pathLst>
              <a:path w="8970" h="27">
                <a:moveTo>
                  <a:pt x="0" y="0"/>
                </a:moveTo>
                <a:lnTo>
                  <a:pt x="8970" y="0"/>
                </a:lnTo>
                <a:lnTo>
                  <a:pt x="89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5448240" y="2628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571320" y="3000240"/>
            <a:ext cx="371880" cy="9720"/>
          </a:xfrm>
          <a:custGeom>
            <a:avLst/>
            <a:gdLst/>
            <a:ahLst/>
            <a:rect l="0" t="0" r="r" b="b"/>
            <a:pathLst>
              <a:path w="1033" h="27">
                <a:moveTo>
                  <a:pt x="0" y="0"/>
                </a:moveTo>
                <a:lnTo>
                  <a:pt x="1033" y="0"/>
                </a:lnTo>
                <a:lnTo>
                  <a:pt x="10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942840" y="300024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2228760" y="3000240"/>
            <a:ext cx="3229200" cy="9720"/>
          </a:xfrm>
          <a:custGeom>
            <a:avLst/>
            <a:gdLst/>
            <a:ahLst/>
            <a:rect l="0" t="0" r="r" b="b"/>
            <a:pathLst>
              <a:path w="8970" h="27">
                <a:moveTo>
                  <a:pt x="0" y="0"/>
                </a:moveTo>
                <a:lnTo>
                  <a:pt x="8970" y="0"/>
                </a:lnTo>
                <a:lnTo>
                  <a:pt x="89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93312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221904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544824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571320" y="3371760"/>
            <a:ext cx="371880" cy="9720"/>
          </a:xfrm>
          <a:custGeom>
            <a:avLst/>
            <a:gdLst/>
            <a:ahLst/>
            <a:rect l="0" t="0" r="r" b="b"/>
            <a:pathLst>
              <a:path w="1033" h="27">
                <a:moveTo>
                  <a:pt x="0" y="0"/>
                </a:moveTo>
                <a:lnTo>
                  <a:pt x="1033" y="0"/>
                </a:lnTo>
                <a:lnTo>
                  <a:pt x="10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93312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942840" y="337176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221904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2228760" y="3371760"/>
            <a:ext cx="3229200" cy="9720"/>
          </a:xfrm>
          <a:custGeom>
            <a:avLst/>
            <a:gdLst/>
            <a:ahLst/>
            <a:rect l="0" t="0" r="r" b="b"/>
            <a:pathLst>
              <a:path w="8970" h="27">
                <a:moveTo>
                  <a:pt x="0" y="0"/>
                </a:moveTo>
                <a:lnTo>
                  <a:pt x="8970" y="0"/>
                </a:lnTo>
                <a:lnTo>
                  <a:pt x="89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544824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571320" y="3743280"/>
            <a:ext cx="371880" cy="9720"/>
          </a:xfrm>
          <a:custGeom>
            <a:avLst/>
            <a:gdLst/>
            <a:ahLst/>
            <a:rect l="0" t="0" r="r" b="b"/>
            <a:pathLst>
              <a:path w="1033" h="27">
                <a:moveTo>
                  <a:pt x="0" y="0"/>
                </a:moveTo>
                <a:lnTo>
                  <a:pt x="1033" y="0"/>
                </a:lnTo>
                <a:lnTo>
                  <a:pt x="10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93312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942840" y="374328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221904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2228760" y="3743280"/>
            <a:ext cx="3229200" cy="9720"/>
          </a:xfrm>
          <a:custGeom>
            <a:avLst/>
            <a:gdLst/>
            <a:ahLst/>
            <a:rect l="0" t="0" r="r" b="b"/>
            <a:pathLst>
              <a:path w="8970" h="27">
                <a:moveTo>
                  <a:pt x="0" y="0"/>
                </a:moveTo>
                <a:lnTo>
                  <a:pt x="8970" y="0"/>
                </a:lnTo>
                <a:lnTo>
                  <a:pt x="89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544824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571320" y="4114440"/>
            <a:ext cx="371880" cy="10080"/>
          </a:xfrm>
          <a:custGeom>
            <a:avLst/>
            <a:gdLst/>
            <a:ahLst/>
            <a:rect l="0" t="0" r="r" b="b"/>
            <a:pathLst>
              <a:path w="1033" h="28">
                <a:moveTo>
                  <a:pt x="0" y="0"/>
                </a:moveTo>
                <a:lnTo>
                  <a:pt x="1033" y="0"/>
                </a:lnTo>
                <a:lnTo>
                  <a:pt x="10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93312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942840" y="4114440"/>
            <a:ext cx="1286280" cy="10080"/>
          </a:xfrm>
          <a:custGeom>
            <a:avLst/>
            <a:gdLst/>
            <a:ahLst/>
            <a:rect l="0" t="0" r="r" b="b"/>
            <a:pathLst>
              <a:path w="3573" h="28">
                <a:moveTo>
                  <a:pt x="0" y="0"/>
                </a:moveTo>
                <a:lnTo>
                  <a:pt x="3573" y="0"/>
                </a:lnTo>
                <a:lnTo>
                  <a:pt x="35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221904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2228760" y="4114440"/>
            <a:ext cx="3229200" cy="10080"/>
          </a:xfrm>
          <a:custGeom>
            <a:avLst/>
            <a:gdLst/>
            <a:ahLst/>
            <a:rect l="0" t="0" r="r" b="b"/>
            <a:pathLst>
              <a:path w="8970" h="28">
                <a:moveTo>
                  <a:pt x="0" y="0"/>
                </a:moveTo>
                <a:lnTo>
                  <a:pt x="8970" y="0"/>
                </a:lnTo>
                <a:lnTo>
                  <a:pt x="89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544824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571320" y="4485960"/>
            <a:ext cx="371880" cy="10080"/>
          </a:xfrm>
          <a:custGeom>
            <a:avLst/>
            <a:gdLst/>
            <a:ahLst/>
            <a:rect l="0" t="0" r="r" b="b"/>
            <a:pathLst>
              <a:path w="1033" h="28">
                <a:moveTo>
                  <a:pt x="0" y="0"/>
                </a:moveTo>
                <a:lnTo>
                  <a:pt x="1033" y="0"/>
                </a:lnTo>
                <a:lnTo>
                  <a:pt x="10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942840" y="4485960"/>
            <a:ext cx="1286280" cy="10080"/>
          </a:xfrm>
          <a:custGeom>
            <a:avLst/>
            <a:gdLst/>
            <a:ahLst/>
            <a:rect l="0" t="0" r="r" b="b"/>
            <a:pathLst>
              <a:path w="3573" h="28">
                <a:moveTo>
                  <a:pt x="0" y="0"/>
                </a:moveTo>
                <a:lnTo>
                  <a:pt x="3573" y="0"/>
                </a:lnTo>
                <a:lnTo>
                  <a:pt x="35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2228760" y="4485960"/>
            <a:ext cx="3229200" cy="10080"/>
          </a:xfrm>
          <a:custGeom>
            <a:avLst/>
            <a:gdLst/>
            <a:ahLst/>
            <a:rect l="0" t="0" r="r" b="b"/>
            <a:pathLst>
              <a:path w="8970" h="28">
                <a:moveTo>
                  <a:pt x="0" y="0"/>
                </a:moveTo>
                <a:lnTo>
                  <a:pt x="8970" y="0"/>
                </a:lnTo>
                <a:lnTo>
                  <a:pt x="89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571320" y="2049840"/>
            <a:ext cx="14940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4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个决策点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704880" y="269496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#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1064880" y="269496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决策点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2350800" y="2694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选项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704880" y="306612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1064880" y="30661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主⾊⾛向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2350800" y="3066120"/>
            <a:ext cx="2694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纯⼯业⿊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⿊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暖⽊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⿊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深红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704880" y="343764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1064880" y="343764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镜⾯墙范围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2350800" y="3437640"/>
            <a:ext cx="2986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单⾯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m 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双⾯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型（贵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¥3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704880" y="380916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1064880" y="380916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瑜伽区地板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2350800" y="3809160"/>
            <a:ext cx="3150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实⽊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橡⽊复合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⽵地板（成本递增）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704880" y="418068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1064880" y="418068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声学分隔形式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2350800" y="4180680"/>
            <a:ext cx="2809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软隔断帘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半⾼吸⾳墙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全⾼隔墙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580680" y="2066760"/>
            <a:ext cx="2353320" cy="381240"/>
          </a:xfrm>
          <a:custGeom>
            <a:avLst/>
            <a:gdLst/>
            <a:ahLst/>
            <a:rect l="0" t="0" r="r" b="b"/>
            <a:pathLst>
              <a:path w="6537" h="1059">
                <a:moveTo>
                  <a:pt x="0" y="0"/>
                </a:moveTo>
                <a:lnTo>
                  <a:pt x="6537" y="0"/>
                </a:lnTo>
                <a:lnTo>
                  <a:pt x="653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2933640" y="2066760"/>
            <a:ext cx="1028880" cy="381240"/>
          </a:xfrm>
          <a:custGeom>
            <a:avLst/>
            <a:gdLst/>
            <a:ahLst/>
            <a:rect l="0" t="0" r="r" b="b"/>
            <a:pathLst>
              <a:path w="2858" h="1059">
                <a:moveTo>
                  <a:pt x="0" y="0"/>
                </a:moveTo>
                <a:lnTo>
                  <a:pt x="2858" y="0"/>
                </a:lnTo>
                <a:lnTo>
                  <a:pt x="285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580680" y="2066760"/>
            <a:ext cx="2353320" cy="381240"/>
          </a:xfrm>
          <a:custGeom>
            <a:avLst/>
            <a:gdLst/>
            <a:ahLst/>
            <a:rect l="0" t="0" r="r" b="b"/>
            <a:pathLst>
              <a:path w="6537" h="1059">
                <a:moveTo>
                  <a:pt x="0" y="0"/>
                </a:moveTo>
                <a:lnTo>
                  <a:pt x="6537" y="0"/>
                </a:lnTo>
                <a:lnTo>
                  <a:pt x="653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2933640" y="2066760"/>
            <a:ext cx="1028880" cy="381240"/>
          </a:xfrm>
          <a:custGeom>
            <a:avLst/>
            <a:gdLst/>
            <a:ahLst/>
            <a:rect l="0" t="0" r="r" b="b"/>
            <a:pathLst>
              <a:path w="2858" h="1059">
                <a:moveTo>
                  <a:pt x="0" y="0"/>
                </a:moveTo>
                <a:lnTo>
                  <a:pt x="2858" y="0"/>
                </a:lnTo>
                <a:lnTo>
                  <a:pt x="285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580680" y="2447640"/>
            <a:ext cx="2353320" cy="371880"/>
          </a:xfrm>
          <a:custGeom>
            <a:avLst/>
            <a:gdLst/>
            <a:ahLst/>
            <a:rect l="0" t="0" r="r" b="b"/>
            <a:pathLst>
              <a:path w="6537" h="1033">
                <a:moveTo>
                  <a:pt x="0" y="0"/>
                </a:moveTo>
                <a:lnTo>
                  <a:pt x="6537" y="0"/>
                </a:lnTo>
                <a:lnTo>
                  <a:pt x="653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2933640" y="2447640"/>
            <a:ext cx="1028880" cy="371880"/>
          </a:xfrm>
          <a:custGeom>
            <a:avLst/>
            <a:gdLst/>
            <a:ahLst/>
            <a:rect l="0" t="0" r="r" b="b"/>
            <a:pathLst>
              <a:path w="2858" h="1033">
                <a:moveTo>
                  <a:pt x="0" y="0"/>
                </a:moveTo>
                <a:lnTo>
                  <a:pt x="2858" y="0"/>
                </a:lnTo>
                <a:lnTo>
                  <a:pt x="285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580680" y="2819160"/>
            <a:ext cx="2353320" cy="371880"/>
          </a:xfrm>
          <a:custGeom>
            <a:avLst/>
            <a:gdLst/>
            <a:ahLst/>
            <a:rect l="0" t="0" r="r" b="b"/>
            <a:pathLst>
              <a:path w="6537" h="1033">
                <a:moveTo>
                  <a:pt x="0" y="0"/>
                </a:moveTo>
                <a:lnTo>
                  <a:pt x="6537" y="0"/>
                </a:lnTo>
                <a:lnTo>
                  <a:pt x="653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2933640" y="2819160"/>
            <a:ext cx="1028880" cy="371880"/>
          </a:xfrm>
          <a:custGeom>
            <a:avLst/>
            <a:gdLst/>
            <a:ahLst/>
            <a:rect l="0" t="0" r="r" b="b"/>
            <a:pathLst>
              <a:path w="2858" h="1033">
                <a:moveTo>
                  <a:pt x="0" y="0"/>
                </a:moveTo>
                <a:lnTo>
                  <a:pt x="2858" y="0"/>
                </a:lnTo>
                <a:lnTo>
                  <a:pt x="285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580680" y="3190680"/>
            <a:ext cx="2353320" cy="371880"/>
          </a:xfrm>
          <a:custGeom>
            <a:avLst/>
            <a:gdLst/>
            <a:ahLst/>
            <a:rect l="0" t="0" r="r" b="b"/>
            <a:pathLst>
              <a:path w="6537" h="1033">
                <a:moveTo>
                  <a:pt x="0" y="0"/>
                </a:moveTo>
                <a:lnTo>
                  <a:pt x="6537" y="0"/>
                </a:lnTo>
                <a:lnTo>
                  <a:pt x="653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2933640" y="3190680"/>
            <a:ext cx="1028880" cy="371880"/>
          </a:xfrm>
          <a:custGeom>
            <a:avLst/>
            <a:gdLst/>
            <a:ahLst/>
            <a:rect l="0" t="0" r="r" b="b"/>
            <a:pathLst>
              <a:path w="2858" h="1033">
                <a:moveTo>
                  <a:pt x="0" y="0"/>
                </a:moveTo>
                <a:lnTo>
                  <a:pt x="2858" y="0"/>
                </a:lnTo>
                <a:lnTo>
                  <a:pt x="285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580680" y="3562200"/>
            <a:ext cx="2353320" cy="371880"/>
          </a:xfrm>
          <a:custGeom>
            <a:avLst/>
            <a:gdLst/>
            <a:ahLst/>
            <a:rect l="0" t="0" r="r" b="b"/>
            <a:pathLst>
              <a:path w="6537" h="1033">
                <a:moveTo>
                  <a:pt x="0" y="0"/>
                </a:moveTo>
                <a:lnTo>
                  <a:pt x="6537" y="0"/>
                </a:lnTo>
                <a:lnTo>
                  <a:pt x="653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2933640" y="3562200"/>
            <a:ext cx="1028880" cy="371880"/>
          </a:xfrm>
          <a:custGeom>
            <a:avLst/>
            <a:gdLst/>
            <a:ahLst/>
            <a:rect l="0" t="0" r="r" b="b"/>
            <a:pathLst>
              <a:path w="2858" h="1033">
                <a:moveTo>
                  <a:pt x="0" y="0"/>
                </a:moveTo>
                <a:lnTo>
                  <a:pt x="2858" y="0"/>
                </a:lnTo>
                <a:lnTo>
                  <a:pt x="285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580680" y="3933720"/>
            <a:ext cx="2353320" cy="371880"/>
          </a:xfrm>
          <a:custGeom>
            <a:avLst/>
            <a:gdLst/>
            <a:ahLst/>
            <a:rect l="0" t="0" r="r" b="b"/>
            <a:pathLst>
              <a:path w="6537" h="1033">
                <a:moveTo>
                  <a:pt x="0" y="0"/>
                </a:moveTo>
                <a:lnTo>
                  <a:pt x="6537" y="0"/>
                </a:lnTo>
                <a:lnTo>
                  <a:pt x="653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2933640" y="3933720"/>
            <a:ext cx="1028880" cy="371880"/>
          </a:xfrm>
          <a:custGeom>
            <a:avLst/>
            <a:gdLst/>
            <a:ahLst/>
            <a:rect l="0" t="0" r="r" b="b"/>
            <a:pathLst>
              <a:path w="2858" h="1033">
                <a:moveTo>
                  <a:pt x="0" y="0"/>
                </a:moveTo>
                <a:lnTo>
                  <a:pt x="2858" y="0"/>
                </a:lnTo>
                <a:lnTo>
                  <a:pt x="285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580680" y="4305240"/>
            <a:ext cx="2353320" cy="371880"/>
          </a:xfrm>
          <a:custGeom>
            <a:avLst/>
            <a:gdLst/>
            <a:ahLst/>
            <a:rect l="0" t="0" r="r" b="b"/>
            <a:pathLst>
              <a:path w="6537" h="1033">
                <a:moveTo>
                  <a:pt x="0" y="0"/>
                </a:moveTo>
                <a:lnTo>
                  <a:pt x="6537" y="0"/>
                </a:lnTo>
                <a:lnTo>
                  <a:pt x="653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2933640" y="4305240"/>
            <a:ext cx="1028880" cy="371880"/>
          </a:xfrm>
          <a:custGeom>
            <a:avLst/>
            <a:gdLst/>
            <a:ahLst/>
            <a:rect l="0" t="0" r="r" b="b"/>
            <a:pathLst>
              <a:path w="2858" h="1033">
                <a:moveTo>
                  <a:pt x="0" y="0"/>
                </a:moveTo>
                <a:lnTo>
                  <a:pt x="2858" y="0"/>
                </a:lnTo>
                <a:lnTo>
                  <a:pt x="285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57132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571320" y="2066760"/>
            <a:ext cx="2372040" cy="9720"/>
          </a:xfrm>
          <a:custGeom>
            <a:avLst/>
            <a:gdLst/>
            <a:ahLst/>
            <a:rect l="0" t="0" r="r" b="b"/>
            <a:pathLst>
              <a:path w="6589" h="27">
                <a:moveTo>
                  <a:pt x="0" y="0"/>
                </a:moveTo>
                <a:lnTo>
                  <a:pt x="6589" y="0"/>
                </a:lnTo>
                <a:lnTo>
                  <a:pt x="65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293364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2943000" y="2066760"/>
            <a:ext cx="1019520" cy="9720"/>
          </a:xfrm>
          <a:custGeom>
            <a:avLst/>
            <a:gdLst/>
            <a:ah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395280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571320" y="2438280"/>
            <a:ext cx="2372040" cy="9720"/>
          </a:xfrm>
          <a:custGeom>
            <a:avLst/>
            <a:gdLst/>
            <a:ahLst/>
            <a:rect l="0" t="0" r="r" b="b"/>
            <a:pathLst>
              <a:path w="6589" h="27">
                <a:moveTo>
                  <a:pt x="0" y="0"/>
                </a:moveTo>
                <a:lnTo>
                  <a:pt x="6589" y="0"/>
                </a:lnTo>
                <a:lnTo>
                  <a:pt x="65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2943000" y="2438280"/>
            <a:ext cx="1019520" cy="9720"/>
          </a:xfrm>
          <a:custGeom>
            <a:avLst/>
            <a:gdLst/>
            <a:ah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571320" y="2447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2933640" y="2447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3952800" y="2447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571320" y="2819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571320" y="2809800"/>
            <a:ext cx="2372040" cy="9720"/>
          </a:xfrm>
          <a:custGeom>
            <a:avLst/>
            <a:gdLst/>
            <a:ahLst/>
            <a:rect l="0" t="0" r="r" b="b"/>
            <a:pathLst>
              <a:path w="6589" h="27">
                <a:moveTo>
                  <a:pt x="0" y="0"/>
                </a:moveTo>
                <a:lnTo>
                  <a:pt x="6589" y="0"/>
                </a:lnTo>
                <a:lnTo>
                  <a:pt x="65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2933640" y="2819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2943000" y="2809800"/>
            <a:ext cx="1019520" cy="9720"/>
          </a:xfrm>
          <a:custGeom>
            <a:avLst/>
            <a:gdLst/>
            <a:ah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3952800" y="2819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571320" y="31906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571320" y="3181320"/>
            <a:ext cx="2372040" cy="9720"/>
          </a:xfrm>
          <a:custGeom>
            <a:avLst/>
            <a:gdLst/>
            <a:ahLst/>
            <a:rect l="0" t="0" r="r" b="b"/>
            <a:pathLst>
              <a:path w="6589" h="27">
                <a:moveTo>
                  <a:pt x="0" y="0"/>
                </a:moveTo>
                <a:lnTo>
                  <a:pt x="6589" y="0"/>
                </a:lnTo>
                <a:lnTo>
                  <a:pt x="65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2933640" y="31906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2943000" y="3181320"/>
            <a:ext cx="1019520" cy="9720"/>
          </a:xfrm>
          <a:custGeom>
            <a:avLst/>
            <a:gdLst/>
            <a:ah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3952800" y="31906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571320" y="35622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571320" y="3552480"/>
            <a:ext cx="2372040" cy="10080"/>
          </a:xfrm>
          <a:custGeom>
            <a:avLst/>
            <a:gdLst/>
            <a:ahLst/>
            <a:rect l="0" t="0" r="r" b="b"/>
            <a:pathLst>
              <a:path w="6589" h="28">
                <a:moveTo>
                  <a:pt x="0" y="0"/>
                </a:moveTo>
                <a:lnTo>
                  <a:pt x="6589" y="0"/>
                </a:lnTo>
                <a:lnTo>
                  <a:pt x="65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2933640" y="35622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2943000" y="3552480"/>
            <a:ext cx="1019520" cy="10080"/>
          </a:xfrm>
          <a:custGeom>
            <a:avLst/>
            <a:gdLst/>
            <a:ahLst/>
            <a:rect l="0" t="0" r="r" b="b"/>
            <a:pathLst>
              <a:path w="2832" h="28">
                <a:moveTo>
                  <a:pt x="0" y="0"/>
                </a:moveTo>
                <a:lnTo>
                  <a:pt x="2832" y="0"/>
                </a:lnTo>
                <a:lnTo>
                  <a:pt x="2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3952800" y="35622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571320" y="3933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571320" y="3924000"/>
            <a:ext cx="2372040" cy="10080"/>
          </a:xfrm>
          <a:custGeom>
            <a:avLst/>
            <a:gdLst/>
            <a:ahLst/>
            <a:rect l="0" t="0" r="r" b="b"/>
            <a:pathLst>
              <a:path w="6589" h="28">
                <a:moveTo>
                  <a:pt x="0" y="0"/>
                </a:moveTo>
                <a:lnTo>
                  <a:pt x="6589" y="0"/>
                </a:lnTo>
                <a:lnTo>
                  <a:pt x="65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2933640" y="3933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2943000" y="3924000"/>
            <a:ext cx="1019520" cy="10080"/>
          </a:xfrm>
          <a:custGeom>
            <a:avLst/>
            <a:gdLst/>
            <a:ahLst/>
            <a:rect l="0" t="0" r="r" b="b"/>
            <a:pathLst>
              <a:path w="2832" h="28">
                <a:moveTo>
                  <a:pt x="0" y="0"/>
                </a:moveTo>
                <a:lnTo>
                  <a:pt x="2832" y="0"/>
                </a:lnTo>
                <a:lnTo>
                  <a:pt x="2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3952800" y="3933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571320" y="4305240"/>
            <a:ext cx="2372040" cy="9720"/>
          </a:xfrm>
          <a:custGeom>
            <a:avLst/>
            <a:gdLst/>
            <a:ahLst/>
            <a:rect l="0" t="0" r="r" b="b"/>
            <a:pathLst>
              <a:path w="6589" h="27">
                <a:moveTo>
                  <a:pt x="0" y="0"/>
                </a:moveTo>
                <a:lnTo>
                  <a:pt x="6589" y="0"/>
                </a:lnTo>
                <a:lnTo>
                  <a:pt x="65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293364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2943000" y="4305240"/>
            <a:ext cx="1019520" cy="9720"/>
          </a:xfrm>
          <a:custGeom>
            <a:avLst/>
            <a:gdLst/>
            <a:ah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395280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571320" y="4676760"/>
            <a:ext cx="2372040" cy="9720"/>
          </a:xfrm>
          <a:custGeom>
            <a:avLst/>
            <a:gdLst/>
            <a:ahLst/>
            <a:rect l="0" t="0" r="r" b="b"/>
            <a:pathLst>
              <a:path w="6589" h="27">
                <a:moveTo>
                  <a:pt x="0" y="0"/>
                </a:moveTo>
                <a:lnTo>
                  <a:pt x="6589" y="0"/>
                </a:lnTo>
                <a:lnTo>
                  <a:pt x="65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2943000" y="4676760"/>
            <a:ext cx="1019520" cy="9720"/>
          </a:xfrm>
          <a:custGeom>
            <a:avLst/>
            <a:gdLst/>
            <a:ah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571320" y="1478160"/>
            <a:ext cx="16711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预算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⼯期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704880" y="21330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项⽬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3066120" y="21330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⾦额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704880" y="2504160"/>
            <a:ext cx="2190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拆改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地⾯加固（⼒量区）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3066120" y="2504160"/>
            <a:ext cx="651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¥70,000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704880" y="2875680"/>
            <a:ext cx="1991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镜⾯墙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⽊地板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软装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3066120" y="2875680"/>
            <a:ext cx="694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¥110,000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704880" y="3247200"/>
            <a:ext cx="2240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器械（哑铃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杠铃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普拉提）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3066120" y="3247200"/>
            <a:ext cx="728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¥100,000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704880" y="3618720"/>
            <a:ext cx="1650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灯光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电路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通⻛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3066120" y="3618720"/>
            <a:ext cx="660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¥40,000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704880" y="3990240"/>
            <a:ext cx="1337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软装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品牌视觉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3066120" y="3990240"/>
            <a:ext cx="660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¥30,000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704880" y="43711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合计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3066120" y="4371120"/>
            <a:ext cx="764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¥350,000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571320" y="4759560"/>
            <a:ext cx="7962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⼯期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6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周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：拆改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隔断电路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镜⾯⽊地板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器械进场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验收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571320" y="264780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C97D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571320" y="2933640"/>
            <a:ext cx="11049480" cy="304920"/>
          </a:xfrm>
          <a:custGeom>
            <a:avLst/>
            <a:gdLst/>
            <a:ahLst/>
            <a:rect l="0" t="0" r="r" b="b"/>
            <a:pathLst>
              <a:path w="30693" h="847">
                <a:moveTo>
                  <a:pt x="0" y="0"/>
                </a:moveTo>
                <a:lnTo>
                  <a:pt x="30693" y="0"/>
                </a:lnTo>
                <a:lnTo>
                  <a:pt x="30693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C97D5C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571320" y="2933640"/>
            <a:ext cx="38520" cy="304920"/>
          </a:xfrm>
          <a:custGeom>
            <a:avLst/>
            <a:gdLst/>
            <a:ahLst/>
            <a:rect l="0" t="0" r="r" b="b"/>
            <a:pathLst>
              <a:path w="107" h="847">
                <a:moveTo>
                  <a:pt x="0" y="0"/>
                </a:moveTo>
                <a:lnTo>
                  <a:pt x="107" y="0"/>
                </a:lnTo>
                <a:lnTo>
                  <a:pt x="107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C97D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571320" y="1687320"/>
            <a:ext cx="182952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下⼀步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628560" y="35049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5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817560" y="2930760"/>
            <a:ext cx="23220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70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⽅案已就绪 </a:t>
            </a:r>
            <a:r>
              <a:rPr lang="en-US" sz="170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70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等你反馈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628560" y="38671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838080" y="3387960"/>
            <a:ext cx="37346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微调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（颜⾊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数字）→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分钟出新版本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628560" y="42289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838080" y="3749760"/>
            <a:ext cx="2983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重排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（器械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分区）→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838080" y="4111920"/>
            <a:ext cx="3012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换⻛格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（整套配⾊）→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571320" y="4530960"/>
            <a:ext cx="26816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联系：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Studio Copilot Team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