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056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55375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驱动的精品健身连锁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分钟出⽅案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07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投资⼈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合伙⼈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19832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市场机会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4587840"/>
            <a:ext cx="4513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中国健身会员渗透率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1.0%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美国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~20%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38080" y="4950000"/>
            <a:ext cx="3984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精品⼩⼯作室（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Boutique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）年增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15-20%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5302440"/>
            <a:ext cx="383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传统⼤店空置率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30%+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，⼩店坪效⾼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8080" y="5664240"/>
            <a:ext cx="482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 35-50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万，回本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&lt; 20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286320" y="1983240"/>
            <a:ext cx="3501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产品：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100 m²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标准精品店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38080" y="4587840"/>
            <a:ext cx="3886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⾃由⼒量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m²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38080" y="4950000"/>
            <a:ext cx="3384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私教咨询⻆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38080" y="5302440"/>
            <a:ext cx="229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全反射镜⾯墙（打卡点）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38080" y="5664240"/>
            <a:ext cx="2342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⼯业⻛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可复制视觉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286320" y="19832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核⼼差异化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4587840"/>
            <a:ext cx="404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9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分钟出完整⽅案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⾏业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4950000"/>
            <a:ext cx="4597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选址 → 平⾯ → 渲染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施⼯包⼀键⽣成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38080" y="5302440"/>
            <a:ext cx="473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种⼯业格式交付（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DXF/GLB/OBJ/FBX/IFC4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38080" y="5664240"/>
            <a:ext cx="4010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设计费从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降⾄近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，利好快速铺店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6000" y="3595680"/>
            <a:ext cx="11039760" cy="1343160"/>
          </a:xfrm>
          <a:custGeom>
            <a:avLst/>
            <a:gdLst/>
            <a:ahLst/>
            <a:rect l="0" t="0" r="r" b="b"/>
            <a:pathLst>
              <a:path w="30666" h="3731">
                <a:moveTo>
                  <a:pt x="0" y="3586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5"/>
                  <a:pt x="30666" y="145"/>
                </a:cubicBezTo>
                <a:lnTo>
                  <a:pt x="30666" y="3586"/>
                </a:lnTo>
                <a:cubicBezTo>
                  <a:pt x="30666" y="3595"/>
                  <a:pt x="30665" y="3605"/>
                  <a:pt x="30664" y="3614"/>
                </a:cubicBezTo>
                <a:cubicBezTo>
                  <a:pt x="30662" y="3623"/>
                  <a:pt x="30659" y="3632"/>
                  <a:pt x="30655" y="3641"/>
                </a:cubicBezTo>
                <a:cubicBezTo>
                  <a:pt x="30652" y="3650"/>
                  <a:pt x="30647" y="3659"/>
                  <a:pt x="30642" y="3666"/>
                </a:cubicBezTo>
                <a:cubicBezTo>
                  <a:pt x="30637" y="3674"/>
                  <a:pt x="30631" y="3682"/>
                  <a:pt x="30624" y="3689"/>
                </a:cubicBezTo>
                <a:cubicBezTo>
                  <a:pt x="30617" y="3695"/>
                  <a:pt x="30610" y="3701"/>
                  <a:pt x="30602" y="3707"/>
                </a:cubicBezTo>
                <a:cubicBezTo>
                  <a:pt x="30594" y="3712"/>
                  <a:pt x="30585" y="3716"/>
                  <a:pt x="30577" y="3720"/>
                </a:cubicBezTo>
                <a:cubicBezTo>
                  <a:pt x="30568" y="3724"/>
                  <a:pt x="30559" y="3726"/>
                  <a:pt x="30549" y="3728"/>
                </a:cubicBezTo>
                <a:cubicBezTo>
                  <a:pt x="30540" y="3730"/>
                  <a:pt x="30530" y="3731"/>
                  <a:pt x="30521" y="3731"/>
                </a:cubicBezTo>
                <a:lnTo>
                  <a:pt x="146" y="3731"/>
                </a:lnTo>
                <a:cubicBezTo>
                  <a:pt x="136" y="3731"/>
                  <a:pt x="127" y="3730"/>
                  <a:pt x="117" y="3728"/>
                </a:cubicBezTo>
                <a:cubicBezTo>
                  <a:pt x="108" y="3726"/>
                  <a:pt x="99" y="3724"/>
                  <a:pt x="90" y="3720"/>
                </a:cubicBezTo>
                <a:cubicBezTo>
                  <a:pt x="81" y="3716"/>
                  <a:pt x="73" y="3712"/>
                  <a:pt x="65" y="3707"/>
                </a:cubicBezTo>
                <a:cubicBezTo>
                  <a:pt x="57" y="3701"/>
                  <a:pt x="50" y="3695"/>
                  <a:pt x="43" y="3689"/>
                </a:cubicBezTo>
                <a:cubicBezTo>
                  <a:pt x="36" y="3682"/>
                  <a:pt x="30" y="3674"/>
                  <a:pt x="25" y="3666"/>
                </a:cubicBezTo>
                <a:cubicBezTo>
                  <a:pt x="19" y="3659"/>
                  <a:pt x="15" y="3650"/>
                  <a:pt x="11" y="3641"/>
                </a:cubicBezTo>
                <a:cubicBezTo>
                  <a:pt x="8" y="3632"/>
                  <a:pt x="5" y="3623"/>
                  <a:pt x="3" y="3614"/>
                </a:cubicBezTo>
                <a:cubicBezTo>
                  <a:pt x="1" y="3605"/>
                  <a:pt x="0" y="3595"/>
                  <a:pt x="0" y="35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6000" y="3595680"/>
            <a:ext cx="11039760" cy="1343160"/>
          </a:xfrm>
          <a:custGeom>
            <a:avLst/>
            <a:gdLst/>
            <a:ahLst/>
            <a:rect l="0" t="0" r="r" b="b"/>
            <a:pathLst>
              <a:path w="30666" h="3731">
                <a:moveTo>
                  <a:pt x="0" y="3586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5"/>
                  <a:pt x="30666" y="145"/>
                </a:cubicBezTo>
                <a:lnTo>
                  <a:pt x="30666" y="3586"/>
                </a:lnTo>
                <a:cubicBezTo>
                  <a:pt x="30666" y="3595"/>
                  <a:pt x="30665" y="3605"/>
                  <a:pt x="30664" y="3614"/>
                </a:cubicBezTo>
                <a:cubicBezTo>
                  <a:pt x="30662" y="3623"/>
                  <a:pt x="30659" y="3632"/>
                  <a:pt x="30655" y="3641"/>
                </a:cubicBezTo>
                <a:cubicBezTo>
                  <a:pt x="30652" y="3650"/>
                  <a:pt x="30647" y="3659"/>
                  <a:pt x="30642" y="3666"/>
                </a:cubicBezTo>
                <a:cubicBezTo>
                  <a:pt x="30637" y="3674"/>
                  <a:pt x="30631" y="3682"/>
                  <a:pt x="30624" y="3689"/>
                </a:cubicBezTo>
                <a:cubicBezTo>
                  <a:pt x="30617" y="3695"/>
                  <a:pt x="30610" y="3701"/>
                  <a:pt x="30602" y="3707"/>
                </a:cubicBezTo>
                <a:cubicBezTo>
                  <a:pt x="30594" y="3712"/>
                  <a:pt x="30585" y="3716"/>
                  <a:pt x="30577" y="3720"/>
                </a:cubicBezTo>
                <a:cubicBezTo>
                  <a:pt x="30568" y="3724"/>
                  <a:pt x="30559" y="3726"/>
                  <a:pt x="30549" y="3728"/>
                </a:cubicBezTo>
                <a:cubicBezTo>
                  <a:pt x="30540" y="3730"/>
                  <a:pt x="30530" y="3731"/>
                  <a:pt x="30521" y="3731"/>
                </a:cubicBezTo>
                <a:lnTo>
                  <a:pt x="146" y="3731"/>
                </a:lnTo>
                <a:cubicBezTo>
                  <a:pt x="136" y="3731"/>
                  <a:pt x="127" y="3730"/>
                  <a:pt x="117" y="3728"/>
                </a:cubicBezTo>
                <a:cubicBezTo>
                  <a:pt x="108" y="3726"/>
                  <a:pt x="99" y="3724"/>
                  <a:pt x="90" y="3720"/>
                </a:cubicBezTo>
                <a:cubicBezTo>
                  <a:pt x="81" y="3716"/>
                  <a:pt x="73" y="3712"/>
                  <a:pt x="65" y="3707"/>
                </a:cubicBezTo>
                <a:cubicBezTo>
                  <a:pt x="57" y="3701"/>
                  <a:pt x="50" y="3695"/>
                  <a:pt x="43" y="3689"/>
                </a:cubicBezTo>
                <a:cubicBezTo>
                  <a:pt x="36" y="3682"/>
                  <a:pt x="30" y="3674"/>
                  <a:pt x="25" y="3666"/>
                </a:cubicBezTo>
                <a:cubicBezTo>
                  <a:pt x="19" y="3659"/>
                  <a:pt x="15" y="3650"/>
                  <a:pt x="11" y="3641"/>
                </a:cubicBezTo>
                <a:cubicBezTo>
                  <a:pt x="8" y="3632"/>
                  <a:pt x="5" y="3623"/>
                  <a:pt x="3" y="3614"/>
                </a:cubicBezTo>
                <a:cubicBezTo>
                  <a:pt x="1" y="3605"/>
                  <a:pt x="0" y="3595"/>
                  <a:pt x="0" y="35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71320" y="160200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单位经济模型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71320" y="2183400"/>
            <a:ext cx="28483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¥350K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71320" y="3283200"/>
            <a:ext cx="1235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330440" y="2183400"/>
            <a:ext cx="22996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¥58K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330440" y="3283200"/>
            <a:ext cx="1208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⽉满租收⼊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*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089920" y="2183400"/>
            <a:ext cx="25747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18-22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089920" y="3283200"/>
            <a:ext cx="999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回收⽉数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*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33320" y="37260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⽉收⼊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267920" y="374940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=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69668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⽉卡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053080" y="374940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80 × ¥599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447000" y="37260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团课包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981240" y="374940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40 × ¥299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37552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私教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731560" y="3749400"/>
            <a:ext cx="1181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30h × ¥300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33320" y="3958920"/>
            <a:ext cx="5261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    = ¥47,920 + ¥11,960 + ¥9,000  ≈ ¥69,000 (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987880" y="39355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满员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344280" y="395892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33320" y="41356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保守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89720" y="415908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70%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625760" y="413568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利⽤率：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338200" y="4159080"/>
            <a:ext cx="1503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≈ ¥48,000 /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839760" y="413568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33320" y="4368600"/>
            <a:ext cx="2147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CAPEX   = ¥350,000 (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878200" y="43452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装修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234240" y="436860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+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341520" y="43452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器械含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76120" y="436860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33320" y="45450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回收期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67920" y="4568760"/>
            <a:ext cx="1074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≈ 18-22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340000" y="4545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80680" y="244764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800000" y="2447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914560" y="244764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876480" y="24476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80680" y="244764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800000" y="2447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914560" y="244764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876480" y="24476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80680" y="281916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800000" y="281916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914560" y="281916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876480" y="281916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80680" y="319068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800000" y="3190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914560" y="319068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876480" y="319068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80680" y="356220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800000" y="3562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914560" y="356220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876480" y="356220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80680" y="393372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800000" y="39337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914560" y="393372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0"/>
                </a:moveTo>
                <a:lnTo>
                  <a:pt x="2673" y="0"/>
                </a:lnTo>
                <a:lnTo>
                  <a:pt x="26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876480" y="393372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80680" y="430524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800000" y="430524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914560" y="4305240"/>
            <a:ext cx="962280" cy="381240"/>
          </a:xfrm>
          <a:custGeom>
            <a:avLst/>
            <a:gdLst/>
            <a:ahLst/>
            <a:rect l="0" t="0" r="r" b="b"/>
            <a:pathLst>
              <a:path w="2673" h="1059">
                <a:moveTo>
                  <a:pt x="0" y="0"/>
                </a:moveTo>
                <a:lnTo>
                  <a:pt x="2673" y="0"/>
                </a:lnTo>
                <a:lnTo>
                  <a:pt x="26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876480" y="4305240"/>
            <a:ext cx="848160" cy="381240"/>
          </a:xfrm>
          <a:custGeom>
            <a:avLst/>
            <a:gdLst/>
            <a:ahLst/>
            <a:rect l="0" t="0" r="r" b="b"/>
            <a:pathLst>
              <a:path w="2356" h="1059">
                <a:moveTo>
                  <a:pt x="0" y="0"/>
                </a:moveTo>
                <a:lnTo>
                  <a:pt x="2356" y="0"/>
                </a:lnTo>
                <a:lnTo>
                  <a:pt x="235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243828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79064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800000" y="2438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91456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923920" y="2438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8671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876480" y="243828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7242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71320" y="281916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800000" y="28191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923920" y="28191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876480" y="2819160"/>
            <a:ext cx="857520" cy="10080"/>
          </a:xfrm>
          <a:custGeom>
            <a:avLst/>
            <a:gdLst/>
            <a:ah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7906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9145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8671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7242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571320" y="319068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7906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800000" y="31906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9145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923920" y="31906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8671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876480" y="319068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7242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356220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7906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800000" y="356220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9145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923920" y="3562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8671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876480" y="356220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7242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1320" y="393372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7906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800000" y="3933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9145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923920" y="3933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8671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876480" y="393372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47242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1320" y="430524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7906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800000" y="43052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9145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923920" y="4305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38671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876480" y="430524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7242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1320" y="467676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800000" y="4676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923920" y="4676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876480" y="4676760"/>
            <a:ext cx="857520" cy="9720"/>
          </a:xfrm>
          <a:custGeom>
            <a:avLst/>
            <a:gdLst/>
            <a:ah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71320" y="1859400"/>
            <a:ext cx="1617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⾏业对标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928160" y="2504160"/>
            <a:ext cx="85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Lift Studio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04452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超级猩猩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40014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乐刻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0488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单店⾯积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928160" y="2885400"/>
            <a:ext cx="56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044520" y="2885400"/>
            <a:ext cx="59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001400" y="2885400"/>
            <a:ext cx="59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04880" y="3256920"/>
            <a:ext cx="1010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928160" y="3256920"/>
            <a:ext cx="48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044520" y="3256920"/>
            <a:ext cx="48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001400" y="3256920"/>
            <a:ext cx="549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704880" y="3628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928160" y="362844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044520" y="3628440"/>
            <a:ext cx="744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001400" y="362844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048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928160" y="399960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04452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00140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综合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928160" y="437112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044520" y="4371120"/>
            <a:ext cx="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001400" y="4371120"/>
            <a:ext cx="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0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286320" y="191628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样板已成型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838080" y="4521240"/>
            <a:ext cx="5389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种格式交付：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(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 / GLB (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 / IFC4 (BIM)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38080" y="4826160"/>
            <a:ext cx="2707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OBJ (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 / FBX (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动画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38080" y="5187960"/>
            <a:ext cx="548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个业态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模板池（健身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美发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838080" y="5492880"/>
            <a:ext cx="978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⽛科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...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38080" y="5845320"/>
            <a:ext cx="3522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VI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营销素材⼀套⽣成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80680" y="2257200"/>
            <a:ext cx="514800" cy="381240"/>
          </a:xfrm>
          <a:custGeom>
            <a:avLst/>
            <a:gdLst/>
            <a:ahLst/>
            <a:rect l="0" t="0" r="r" b="b"/>
            <a:pathLst>
              <a:path w="1430" h="1059">
                <a:moveTo>
                  <a:pt x="0" y="0"/>
                </a:moveTo>
                <a:lnTo>
                  <a:pt x="1430" y="0"/>
                </a:lnTo>
                <a:lnTo>
                  <a:pt x="14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095120" y="2257200"/>
            <a:ext cx="2705400" cy="381240"/>
          </a:xfrm>
          <a:custGeom>
            <a:avLst/>
            <a:gdLst/>
            <a:ahLst/>
            <a:rect l="0" t="0" r="r" b="b"/>
            <a:pathLst>
              <a:path w="7515" h="1059">
                <a:moveTo>
                  <a:pt x="0" y="0"/>
                </a:moveTo>
                <a:lnTo>
                  <a:pt x="7515" y="0"/>
                </a:lnTo>
                <a:lnTo>
                  <a:pt x="75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80680" y="2257200"/>
            <a:ext cx="514800" cy="381240"/>
          </a:xfrm>
          <a:custGeom>
            <a:avLst/>
            <a:gdLst/>
            <a:ahLst/>
            <a:rect l="0" t="0" r="r" b="b"/>
            <a:pathLst>
              <a:path w="1430" h="1059">
                <a:moveTo>
                  <a:pt x="0" y="0"/>
                </a:moveTo>
                <a:lnTo>
                  <a:pt x="1430" y="0"/>
                </a:lnTo>
                <a:lnTo>
                  <a:pt x="14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095120" y="2257200"/>
            <a:ext cx="2705400" cy="381240"/>
          </a:xfrm>
          <a:custGeom>
            <a:avLst/>
            <a:gdLst/>
            <a:ahLst/>
            <a:rect l="0" t="0" r="r" b="b"/>
            <a:pathLst>
              <a:path w="7515" h="1059">
                <a:moveTo>
                  <a:pt x="0" y="0"/>
                </a:moveTo>
                <a:lnTo>
                  <a:pt x="7515" y="0"/>
                </a:lnTo>
                <a:lnTo>
                  <a:pt x="75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80680" y="26380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095120" y="263808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80680" y="300960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095120" y="300960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80680" y="338112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95120" y="338112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80680" y="375264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095120" y="375264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80680" y="412416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95120" y="412416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80680" y="44956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095120" y="4495680"/>
            <a:ext cx="2705400" cy="371880"/>
          </a:xfrm>
          <a:custGeom>
            <a:avLst/>
            <a:gdLst/>
            <a:ahLst/>
            <a:rect l="0" t="0" r="r" b="b"/>
            <a:pathLst>
              <a:path w="7515" h="1033">
                <a:moveTo>
                  <a:pt x="0" y="0"/>
                </a:moveTo>
                <a:lnTo>
                  <a:pt x="7515" y="0"/>
                </a:lnTo>
                <a:lnTo>
                  <a:pt x="7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1320" y="225720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09512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104840" y="2257200"/>
            <a:ext cx="2695680" cy="10080"/>
          </a:xfrm>
          <a:custGeom>
            <a:avLst/>
            <a:gdLst/>
            <a:ahLst/>
            <a:rect l="0" t="0" r="r" b="b"/>
            <a:pathLst>
              <a:path w="7488" h="28">
                <a:moveTo>
                  <a:pt x="0" y="0"/>
                </a:moveTo>
                <a:lnTo>
                  <a:pt x="7488" y="0"/>
                </a:lnTo>
                <a:lnTo>
                  <a:pt x="7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79080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71320" y="262872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04840" y="2628720"/>
            <a:ext cx="2695680" cy="9720"/>
          </a:xfrm>
          <a:custGeom>
            <a:avLst/>
            <a:gdLst/>
            <a:ahLst/>
            <a:rect l="0" t="0" r="r" b="b"/>
            <a:pathLst>
              <a:path w="7488" h="27">
                <a:moveTo>
                  <a:pt x="0" y="0"/>
                </a:moveTo>
                <a:lnTo>
                  <a:pt x="7488" y="0"/>
                </a:lnTo>
                <a:lnTo>
                  <a:pt x="7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0951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79080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300024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095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104840" y="3000240"/>
            <a:ext cx="2695680" cy="9720"/>
          </a:xfrm>
          <a:custGeom>
            <a:avLst/>
            <a:gdLst/>
            <a:ahLst/>
            <a:rect l="0" t="0" r="r" b="b"/>
            <a:pathLst>
              <a:path w="7488" h="27">
                <a:moveTo>
                  <a:pt x="0" y="0"/>
                </a:moveTo>
                <a:lnTo>
                  <a:pt x="7488" y="0"/>
                </a:lnTo>
                <a:lnTo>
                  <a:pt x="7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379080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71320" y="337176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095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104840" y="3371760"/>
            <a:ext cx="2695680" cy="9720"/>
          </a:xfrm>
          <a:custGeom>
            <a:avLst/>
            <a:gdLst/>
            <a:ahLst/>
            <a:rect l="0" t="0" r="r" b="b"/>
            <a:pathLst>
              <a:path w="7488" h="27">
                <a:moveTo>
                  <a:pt x="0" y="0"/>
                </a:moveTo>
                <a:lnTo>
                  <a:pt x="7488" y="0"/>
                </a:lnTo>
                <a:lnTo>
                  <a:pt x="7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379080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71320" y="374328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095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104840" y="3743280"/>
            <a:ext cx="2695680" cy="9720"/>
          </a:xfrm>
          <a:custGeom>
            <a:avLst/>
            <a:gdLst/>
            <a:ahLst/>
            <a:rect l="0" t="0" r="r" b="b"/>
            <a:pathLst>
              <a:path w="7488" h="27">
                <a:moveTo>
                  <a:pt x="0" y="0"/>
                </a:moveTo>
                <a:lnTo>
                  <a:pt x="7488" y="0"/>
                </a:lnTo>
                <a:lnTo>
                  <a:pt x="7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79080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71320" y="411444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095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104840" y="4114440"/>
            <a:ext cx="2695680" cy="10080"/>
          </a:xfrm>
          <a:custGeom>
            <a:avLst/>
            <a:gdLst/>
            <a:ahLst/>
            <a:rect l="0" t="0" r="r" b="b"/>
            <a:pathLst>
              <a:path w="7488" h="28">
                <a:moveTo>
                  <a:pt x="0" y="0"/>
                </a:moveTo>
                <a:lnTo>
                  <a:pt x="7488" y="0"/>
                </a:lnTo>
                <a:lnTo>
                  <a:pt x="7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79080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71320" y="448596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0951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104840" y="4485960"/>
            <a:ext cx="2695680" cy="10080"/>
          </a:xfrm>
          <a:custGeom>
            <a:avLst/>
            <a:gdLst/>
            <a:ahLst/>
            <a:rect l="0" t="0" r="r" b="b"/>
            <a:pathLst>
              <a:path w="7488" h="28">
                <a:moveTo>
                  <a:pt x="0" y="0"/>
                </a:moveTo>
                <a:lnTo>
                  <a:pt x="7488" y="0"/>
                </a:lnTo>
                <a:lnTo>
                  <a:pt x="7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379080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71320" y="486720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104840" y="4867200"/>
            <a:ext cx="2695680" cy="9720"/>
          </a:xfrm>
          <a:custGeom>
            <a:avLst/>
            <a:gdLst/>
            <a:ahLst/>
            <a:rect l="0" t="0" r="r" b="b"/>
            <a:pathLst>
              <a:path w="7488" h="27">
                <a:moveTo>
                  <a:pt x="0" y="0"/>
                </a:moveTo>
                <a:lnTo>
                  <a:pt x="7488" y="0"/>
                </a:lnTo>
                <a:lnTo>
                  <a:pt x="7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71320" y="1668600"/>
            <a:ext cx="2303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周从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0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到开业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224360" y="2323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⾥程碑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04880" y="2694960"/>
            <a:ext cx="2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224360" y="2694960"/>
            <a:ext cx="253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地⾯加固（⼒量区承重）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04880" y="30661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224360" y="306612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⽔电改造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墙体隔断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04880" y="343764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224360" y="343764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⽊地板铺装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04880" y="380916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224360" y="3809160"/>
            <a:ext cx="165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04880" y="418068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224360" y="4180680"/>
            <a:ext cx="13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器械进场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调试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04880" y="455220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224360" y="4552200"/>
            <a:ext cx="1166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试运营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80680" y="2257200"/>
            <a:ext cx="1724400" cy="381240"/>
          </a:xfrm>
          <a:custGeom>
            <a:avLst/>
            <a:gdLst/>
            <a:ahLst/>
            <a:rect l="0" t="0" r="r" b="b"/>
            <a:pathLst>
              <a:path w="4790" h="1059">
                <a:moveTo>
                  <a:pt x="0" y="0"/>
                </a:moveTo>
                <a:lnTo>
                  <a:pt x="4790" y="0"/>
                </a:lnTo>
                <a:lnTo>
                  <a:pt x="479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304720" y="2257200"/>
            <a:ext cx="1029240" cy="381240"/>
          </a:xfrm>
          <a:custGeom>
            <a:avLst/>
            <a:gdLst/>
            <a:ahLst/>
            <a:rect l="0" t="0" r="r" b="b"/>
            <a:pathLst>
              <a:path w="2859" h="1059">
                <a:moveTo>
                  <a:pt x="0" y="0"/>
                </a:moveTo>
                <a:lnTo>
                  <a:pt x="2859" y="0"/>
                </a:lnTo>
                <a:lnTo>
                  <a:pt x="28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333600" y="2257200"/>
            <a:ext cx="705240" cy="381240"/>
          </a:xfrm>
          <a:custGeom>
            <a:avLst/>
            <a:gdLst/>
            <a:ahLst/>
            <a:rect l="0" t="0" r="r" b="b"/>
            <a:pathLst>
              <a:path w="1959" h="1059">
                <a:moveTo>
                  <a:pt x="0" y="0"/>
                </a:moveTo>
                <a:lnTo>
                  <a:pt x="1959" y="0"/>
                </a:lnTo>
                <a:lnTo>
                  <a:pt x="19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80680" y="2257200"/>
            <a:ext cx="1724400" cy="381240"/>
          </a:xfrm>
          <a:custGeom>
            <a:avLst/>
            <a:gdLst/>
            <a:ahLst/>
            <a:rect l="0" t="0" r="r" b="b"/>
            <a:pathLst>
              <a:path w="4790" h="1059">
                <a:moveTo>
                  <a:pt x="0" y="0"/>
                </a:moveTo>
                <a:lnTo>
                  <a:pt x="4790" y="0"/>
                </a:lnTo>
                <a:lnTo>
                  <a:pt x="479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304720" y="2257200"/>
            <a:ext cx="1029240" cy="381240"/>
          </a:xfrm>
          <a:custGeom>
            <a:avLst/>
            <a:gdLst/>
            <a:ahLst/>
            <a:rect l="0" t="0" r="r" b="b"/>
            <a:pathLst>
              <a:path w="2859" h="1059">
                <a:moveTo>
                  <a:pt x="0" y="0"/>
                </a:moveTo>
                <a:lnTo>
                  <a:pt x="2859" y="0"/>
                </a:lnTo>
                <a:lnTo>
                  <a:pt x="28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3333600" y="2257200"/>
            <a:ext cx="705240" cy="381240"/>
          </a:xfrm>
          <a:custGeom>
            <a:avLst/>
            <a:gdLst/>
            <a:ahLst/>
            <a:rect l="0" t="0" r="r" b="b"/>
            <a:pathLst>
              <a:path w="1959" h="1059">
                <a:moveTo>
                  <a:pt x="0" y="0"/>
                </a:moveTo>
                <a:lnTo>
                  <a:pt x="1959" y="0"/>
                </a:lnTo>
                <a:lnTo>
                  <a:pt x="19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80680" y="263808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2304720" y="26380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3333600" y="263808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80680" y="300960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304720" y="300960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3333600" y="300960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80680" y="338112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2304720" y="338112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333600" y="33811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80680" y="375264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304720" y="375264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3333600" y="375264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80680" y="412416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304720" y="412416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333600" y="41241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80680" y="449568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304720" y="44956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3333600" y="449568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71320" y="225720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30472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314440" y="225720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32388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3333600" y="225720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40287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71320" y="262872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314440" y="262872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3333600" y="2628720"/>
            <a:ext cx="705240" cy="9720"/>
          </a:xfrm>
          <a:custGeom>
            <a:avLst/>
            <a:gdLst/>
            <a:ah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3047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3238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0287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71320" y="300024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3047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314440" y="300024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33238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3333600" y="3000240"/>
            <a:ext cx="705240" cy="9720"/>
          </a:xfrm>
          <a:custGeom>
            <a:avLst/>
            <a:gdLst/>
            <a:ah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40287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571320" y="337176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23047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314440" y="337176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3238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333600" y="3371760"/>
            <a:ext cx="705240" cy="9720"/>
          </a:xfrm>
          <a:custGeom>
            <a:avLst/>
            <a:gdLst/>
            <a:ah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40287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71320" y="374328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3047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314440" y="374328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3238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333600" y="3743280"/>
            <a:ext cx="705240" cy="9720"/>
          </a:xfrm>
          <a:custGeom>
            <a:avLst/>
            <a:gdLst/>
            <a:ah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0287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71320" y="411444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3047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314440" y="411444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3238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333600" y="411444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40287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71320" y="448596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3047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314440" y="448596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3238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333600" y="448596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40287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71320" y="486720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314440" y="486720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333600" y="4867200"/>
            <a:ext cx="705240" cy="9720"/>
          </a:xfrm>
          <a:custGeom>
            <a:avLst/>
            <a:gdLst/>
            <a:ah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71320" y="1668600"/>
            <a:ext cx="2463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CAPEX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明细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4372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4617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占⽐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04880" y="26949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装修（硬装）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2437200" y="2694960"/>
            <a:ext cx="72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3461760" y="2694960"/>
            <a:ext cx="37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04880" y="3066120"/>
            <a:ext cx="1565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器械（⼒量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437200" y="3066120"/>
            <a:ext cx="72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461760" y="3066120"/>
            <a:ext cx="37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04880" y="3437640"/>
            <a:ext cx="138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灯光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437200" y="343764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461760" y="3437640"/>
            <a:ext cx="30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704880" y="3809160"/>
            <a:ext cx="113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+VI+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437200" y="380916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3461760" y="3809160"/>
            <a:ext cx="26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04880" y="418068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加固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2437200" y="418068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461760" y="4180680"/>
            <a:ext cx="30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0488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437200" y="4552200"/>
            <a:ext cx="7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¥350,000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3461760" y="4552200"/>
            <a:ext cx="44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100%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80680" y="244764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571480" y="244764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80680" y="244764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571480" y="244764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80680" y="281916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571480" y="281916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80680" y="319068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571480" y="319068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80680" y="356220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571480" y="356220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80680" y="3933720"/>
            <a:ext cx="1991160" cy="371880"/>
          </a:xfrm>
          <a:custGeom>
            <a:avLst/>
            <a:gdLst/>
            <a:ahLst/>
            <a:rect l="0" t="0" r="r" b="b"/>
            <a:pathLst>
              <a:path w="5531" h="1033">
                <a:moveTo>
                  <a:pt x="0" y="0"/>
                </a:moveTo>
                <a:lnTo>
                  <a:pt x="5531" y="0"/>
                </a:lnTo>
                <a:lnTo>
                  <a:pt x="5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2571480" y="3933720"/>
            <a:ext cx="2848320" cy="371880"/>
          </a:xfrm>
          <a:custGeom>
            <a:avLst/>
            <a:gdLst/>
            <a:ahLst/>
            <a:rect l="0" t="0" r="r" b="b"/>
            <a:pathLst>
              <a:path w="7912" h="1033">
                <a:moveTo>
                  <a:pt x="0" y="0"/>
                </a:moveTo>
                <a:lnTo>
                  <a:pt x="7912" y="0"/>
                </a:lnTo>
                <a:lnTo>
                  <a:pt x="79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80680" y="4305240"/>
            <a:ext cx="1991160" cy="381240"/>
          </a:xfrm>
          <a:custGeom>
            <a:avLst/>
            <a:gdLst/>
            <a:ahLst/>
            <a:rect l="0" t="0" r="r" b="b"/>
            <a:pathLst>
              <a:path w="5531" h="1059">
                <a:moveTo>
                  <a:pt x="0" y="0"/>
                </a:moveTo>
                <a:lnTo>
                  <a:pt x="5531" y="0"/>
                </a:lnTo>
                <a:lnTo>
                  <a:pt x="553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2571480" y="4305240"/>
            <a:ext cx="2848320" cy="381240"/>
          </a:xfrm>
          <a:custGeom>
            <a:avLst/>
            <a:gdLst/>
            <a:ahLst/>
            <a:rect l="0" t="0" r="r" b="b"/>
            <a:pathLst>
              <a:path w="7912" h="1059">
                <a:moveTo>
                  <a:pt x="0" y="0"/>
                </a:moveTo>
                <a:lnTo>
                  <a:pt x="7912" y="0"/>
                </a:lnTo>
                <a:lnTo>
                  <a:pt x="79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71320" y="243828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25621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2571480" y="243828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4100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320" y="281916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571480" y="2819160"/>
            <a:ext cx="2848320" cy="10080"/>
          </a:xfrm>
          <a:custGeom>
            <a:avLst/>
            <a:gdLst/>
            <a:ahLst/>
            <a:rect l="0" t="0" r="r" b="b"/>
            <a:pathLst>
              <a:path w="7912" h="28">
                <a:moveTo>
                  <a:pt x="0" y="0"/>
                </a:moveTo>
                <a:lnTo>
                  <a:pt x="7912" y="0"/>
                </a:lnTo>
                <a:lnTo>
                  <a:pt x="7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5621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4100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71320" y="319068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5621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571480" y="319068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4100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571320" y="356220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5621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571480" y="356220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410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71320" y="393372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5621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571480" y="393372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54100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71320" y="430524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5621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571480" y="430524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4100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571320" y="467676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571480" y="467676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71320" y="185940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⻛险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缓解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⻛险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70036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缓解措施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04880" y="288540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选址客流不及预期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700360" y="2885400"/>
            <a:ext cx="272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多选址模拟，开业前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天推⼴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704880" y="3256920"/>
            <a:ext cx="182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器械折旧快（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700360" y="3256920"/>
            <a:ext cx="170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与渠道签保值置换合同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048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教练招募难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700360" y="3628440"/>
            <a:ext cx="219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与健身学院合作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分润模式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04880" y="39996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会员续费率下滑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2700360" y="3999600"/>
            <a:ext cx="21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团课包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私教捆绑提升粘性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竞品降价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700360" y="4371120"/>
            <a:ext cx="154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IP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社群绑定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71320" y="258120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71320" y="162072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本轮募资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628560" y="3571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571320" y="2839320"/>
            <a:ext cx="56977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¥500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验证可复制性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628560" y="3933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38080" y="3454560"/>
            <a:ext cx="3653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 ¥35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10 = ¥350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628560" y="4295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838080" y="3816360"/>
            <a:ext cx="2337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 ¥100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601920" y="4640760"/>
            <a:ext cx="186840" cy="186480"/>
          </a:xfrm>
          <a:custGeom>
            <a:avLst/>
            <a:gdLst/>
            <a:ahLst/>
            <a:rect l="0" t="0" r="r" b="b"/>
            <a:pathLst>
              <a:path w="519" h="518">
                <a:moveTo>
                  <a:pt x="470" y="0"/>
                </a:moveTo>
                <a:lnTo>
                  <a:pt x="49" y="0"/>
                </a:lnTo>
                <a:cubicBezTo>
                  <a:pt x="22" y="0"/>
                  <a:pt x="0" y="21"/>
                  <a:pt x="0" y="48"/>
                </a:cubicBezTo>
                <a:lnTo>
                  <a:pt x="0" y="469"/>
                </a:lnTo>
                <a:cubicBezTo>
                  <a:pt x="0" y="496"/>
                  <a:pt x="22" y="518"/>
                  <a:pt x="49" y="518"/>
                </a:cubicBezTo>
                <a:lnTo>
                  <a:pt x="470" y="518"/>
                </a:lnTo>
                <a:cubicBezTo>
                  <a:pt x="497" y="518"/>
                  <a:pt x="519" y="496"/>
                  <a:pt x="519" y="469"/>
                </a:cubicBezTo>
                <a:lnTo>
                  <a:pt x="519" y="48"/>
                </a:lnTo>
                <a:cubicBezTo>
                  <a:pt x="519" y="21"/>
                  <a:pt x="497" y="0"/>
                  <a:pt x="470" y="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96160" y="4634640"/>
            <a:ext cx="198360" cy="198360"/>
          </a:xfrm>
          <a:custGeom>
            <a:avLst/>
            <a:gdLst/>
            <a:ahLst/>
            <a:rect l="0" t="0" r="r" b="b"/>
            <a:pathLst>
              <a:path w="551" h="551">
                <a:moveTo>
                  <a:pt x="486" y="0"/>
                </a:moveTo>
                <a:lnTo>
                  <a:pt x="65" y="0"/>
                </a:lnTo>
                <a:cubicBezTo>
                  <a:pt x="29" y="0"/>
                  <a:pt x="0" y="30"/>
                  <a:pt x="0" y="66"/>
                </a:cubicBezTo>
                <a:lnTo>
                  <a:pt x="0" y="486"/>
                </a:lnTo>
                <a:cubicBezTo>
                  <a:pt x="0" y="522"/>
                  <a:pt x="29" y="551"/>
                  <a:pt x="65" y="551"/>
                </a:cubicBezTo>
                <a:lnTo>
                  <a:pt x="486" y="551"/>
                </a:lnTo>
                <a:cubicBezTo>
                  <a:pt x="522" y="551"/>
                  <a:pt x="551" y="522"/>
                  <a:pt x="551" y="486"/>
                </a:cubicBezTo>
                <a:lnTo>
                  <a:pt x="551" y="66"/>
                </a:lnTo>
                <a:cubicBezTo>
                  <a:pt x="551" y="30"/>
                  <a:pt x="522" y="0"/>
                  <a:pt x="486" y="0"/>
                </a:cubicBezTo>
                <a:moveTo>
                  <a:pt x="486" y="34"/>
                </a:moveTo>
                <a:cubicBezTo>
                  <a:pt x="504" y="34"/>
                  <a:pt x="518" y="48"/>
                  <a:pt x="518" y="66"/>
                </a:cubicBezTo>
                <a:lnTo>
                  <a:pt x="518" y="131"/>
                </a:lnTo>
                <a:lnTo>
                  <a:pt x="421" y="131"/>
                </a:lnTo>
                <a:lnTo>
                  <a:pt x="421" y="34"/>
                </a:lnTo>
                <a:lnTo>
                  <a:pt x="486" y="34"/>
                </a:lnTo>
                <a:moveTo>
                  <a:pt x="421" y="292"/>
                </a:moveTo>
                <a:lnTo>
                  <a:pt x="518" y="292"/>
                </a:lnTo>
                <a:lnTo>
                  <a:pt x="518" y="389"/>
                </a:lnTo>
                <a:lnTo>
                  <a:pt x="421" y="389"/>
                </a:lnTo>
                <a:lnTo>
                  <a:pt x="421" y="292"/>
                </a:lnTo>
                <a:moveTo>
                  <a:pt x="421" y="260"/>
                </a:moveTo>
                <a:lnTo>
                  <a:pt x="421" y="163"/>
                </a:lnTo>
                <a:lnTo>
                  <a:pt x="518" y="163"/>
                </a:lnTo>
                <a:lnTo>
                  <a:pt x="518" y="260"/>
                </a:lnTo>
                <a:lnTo>
                  <a:pt x="421" y="260"/>
                </a:lnTo>
                <a:moveTo>
                  <a:pt x="389" y="34"/>
                </a:moveTo>
                <a:lnTo>
                  <a:pt x="389" y="131"/>
                </a:lnTo>
                <a:lnTo>
                  <a:pt x="292" y="131"/>
                </a:lnTo>
                <a:lnTo>
                  <a:pt x="292" y="34"/>
                </a:lnTo>
                <a:lnTo>
                  <a:pt x="389" y="34"/>
                </a:lnTo>
                <a:moveTo>
                  <a:pt x="292" y="163"/>
                </a:moveTo>
                <a:lnTo>
                  <a:pt x="389" y="163"/>
                </a:lnTo>
                <a:lnTo>
                  <a:pt x="389" y="260"/>
                </a:lnTo>
                <a:lnTo>
                  <a:pt x="292" y="260"/>
                </a:lnTo>
                <a:lnTo>
                  <a:pt x="292" y="163"/>
                </a:lnTo>
                <a:moveTo>
                  <a:pt x="292" y="292"/>
                </a:moveTo>
                <a:lnTo>
                  <a:pt x="389" y="292"/>
                </a:lnTo>
                <a:lnTo>
                  <a:pt x="389" y="389"/>
                </a:lnTo>
                <a:lnTo>
                  <a:pt x="292" y="389"/>
                </a:lnTo>
                <a:lnTo>
                  <a:pt x="292" y="292"/>
                </a:lnTo>
                <a:moveTo>
                  <a:pt x="259" y="34"/>
                </a:moveTo>
                <a:lnTo>
                  <a:pt x="259" y="131"/>
                </a:lnTo>
                <a:lnTo>
                  <a:pt x="162" y="131"/>
                </a:lnTo>
                <a:lnTo>
                  <a:pt x="162" y="34"/>
                </a:lnTo>
                <a:lnTo>
                  <a:pt x="259" y="34"/>
                </a:lnTo>
                <a:moveTo>
                  <a:pt x="162" y="163"/>
                </a:moveTo>
                <a:lnTo>
                  <a:pt x="259" y="163"/>
                </a:lnTo>
                <a:lnTo>
                  <a:pt x="259" y="260"/>
                </a:lnTo>
                <a:lnTo>
                  <a:pt x="162" y="260"/>
                </a:lnTo>
                <a:lnTo>
                  <a:pt x="162" y="163"/>
                </a:lnTo>
                <a:moveTo>
                  <a:pt x="162" y="292"/>
                </a:moveTo>
                <a:lnTo>
                  <a:pt x="259" y="292"/>
                </a:lnTo>
                <a:lnTo>
                  <a:pt x="259" y="389"/>
                </a:lnTo>
                <a:lnTo>
                  <a:pt x="162" y="389"/>
                </a:lnTo>
                <a:lnTo>
                  <a:pt x="162" y="292"/>
                </a:lnTo>
                <a:moveTo>
                  <a:pt x="32" y="66"/>
                </a:moveTo>
                <a:cubicBezTo>
                  <a:pt x="32" y="48"/>
                  <a:pt x="47" y="34"/>
                  <a:pt x="65" y="34"/>
                </a:cubicBezTo>
                <a:lnTo>
                  <a:pt x="129" y="34"/>
                </a:lnTo>
                <a:lnTo>
                  <a:pt x="129" y="131"/>
                </a:lnTo>
                <a:lnTo>
                  <a:pt x="32" y="131"/>
                </a:lnTo>
                <a:lnTo>
                  <a:pt x="32" y="66"/>
                </a:lnTo>
                <a:moveTo>
                  <a:pt x="32" y="163"/>
                </a:moveTo>
                <a:lnTo>
                  <a:pt x="129" y="163"/>
                </a:lnTo>
                <a:lnTo>
                  <a:pt x="129" y="260"/>
                </a:lnTo>
                <a:lnTo>
                  <a:pt x="32" y="260"/>
                </a:lnTo>
                <a:lnTo>
                  <a:pt x="32" y="163"/>
                </a:lnTo>
                <a:moveTo>
                  <a:pt x="32" y="292"/>
                </a:moveTo>
                <a:lnTo>
                  <a:pt x="129" y="292"/>
                </a:lnTo>
                <a:lnTo>
                  <a:pt x="129" y="389"/>
                </a:lnTo>
                <a:lnTo>
                  <a:pt x="32" y="389"/>
                </a:lnTo>
                <a:lnTo>
                  <a:pt x="32" y="292"/>
                </a:lnTo>
                <a:moveTo>
                  <a:pt x="65" y="519"/>
                </a:moveTo>
                <a:cubicBezTo>
                  <a:pt x="47" y="519"/>
                  <a:pt x="32" y="504"/>
                  <a:pt x="32" y="486"/>
                </a:cubicBezTo>
                <a:lnTo>
                  <a:pt x="32" y="422"/>
                </a:lnTo>
                <a:lnTo>
                  <a:pt x="129" y="422"/>
                </a:lnTo>
                <a:lnTo>
                  <a:pt x="129" y="519"/>
                </a:lnTo>
                <a:lnTo>
                  <a:pt x="65" y="519"/>
                </a:lnTo>
                <a:moveTo>
                  <a:pt x="162" y="519"/>
                </a:moveTo>
                <a:lnTo>
                  <a:pt x="162" y="422"/>
                </a:lnTo>
                <a:lnTo>
                  <a:pt x="259" y="422"/>
                </a:lnTo>
                <a:lnTo>
                  <a:pt x="259" y="519"/>
                </a:lnTo>
                <a:lnTo>
                  <a:pt x="162" y="519"/>
                </a:lnTo>
                <a:moveTo>
                  <a:pt x="292" y="519"/>
                </a:moveTo>
                <a:lnTo>
                  <a:pt x="292" y="422"/>
                </a:lnTo>
                <a:lnTo>
                  <a:pt x="389" y="422"/>
                </a:lnTo>
                <a:lnTo>
                  <a:pt x="389" y="519"/>
                </a:lnTo>
                <a:lnTo>
                  <a:pt x="292" y="519"/>
                </a:lnTo>
                <a:moveTo>
                  <a:pt x="486" y="519"/>
                </a:moveTo>
                <a:lnTo>
                  <a:pt x="421" y="519"/>
                </a:lnTo>
                <a:lnTo>
                  <a:pt x="421" y="422"/>
                </a:lnTo>
                <a:lnTo>
                  <a:pt x="518" y="422"/>
                </a:lnTo>
                <a:lnTo>
                  <a:pt x="518" y="486"/>
                </a:lnTo>
                <a:cubicBezTo>
                  <a:pt x="518" y="504"/>
                  <a:pt x="504" y="519"/>
                  <a:pt x="486" y="519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07680" y="4646520"/>
            <a:ext cx="174960" cy="175320"/>
          </a:xfrm>
          <a:custGeom>
            <a:avLst/>
            <a:gdLst/>
            <a:ahLst/>
            <a:rect l="0" t="0" r="r" b="b"/>
            <a:pathLst>
              <a:path w="486" h="487">
                <a:moveTo>
                  <a:pt x="34" y="487"/>
                </a:moveTo>
                <a:cubicBezTo>
                  <a:pt x="29" y="487"/>
                  <a:pt x="23" y="486"/>
                  <a:pt x="18" y="483"/>
                </a:cubicBezTo>
                <a:cubicBezTo>
                  <a:pt x="2" y="475"/>
                  <a:pt x="-4" y="455"/>
                  <a:pt x="4" y="439"/>
                </a:cubicBezTo>
                <a:lnTo>
                  <a:pt x="118" y="228"/>
                </a:lnTo>
                <a:cubicBezTo>
                  <a:pt x="123" y="219"/>
                  <a:pt x="132" y="213"/>
                  <a:pt x="142" y="211"/>
                </a:cubicBezTo>
                <a:cubicBezTo>
                  <a:pt x="152" y="210"/>
                  <a:pt x="163" y="213"/>
                  <a:pt x="170" y="220"/>
                </a:cubicBezTo>
                <a:lnTo>
                  <a:pt x="268" y="319"/>
                </a:lnTo>
                <a:lnTo>
                  <a:pt x="426" y="18"/>
                </a:lnTo>
                <a:cubicBezTo>
                  <a:pt x="434" y="2"/>
                  <a:pt x="453" y="-4"/>
                  <a:pt x="469" y="4"/>
                </a:cubicBezTo>
                <a:cubicBezTo>
                  <a:pt x="485" y="13"/>
                  <a:pt x="491" y="32"/>
                  <a:pt x="483" y="48"/>
                </a:cubicBezTo>
                <a:lnTo>
                  <a:pt x="305" y="388"/>
                </a:lnTo>
                <a:cubicBezTo>
                  <a:pt x="300" y="397"/>
                  <a:pt x="291" y="403"/>
                  <a:pt x="281" y="405"/>
                </a:cubicBezTo>
                <a:cubicBezTo>
                  <a:pt x="271" y="406"/>
                  <a:pt x="261" y="403"/>
                  <a:pt x="253" y="396"/>
                </a:cubicBezTo>
                <a:lnTo>
                  <a:pt x="155" y="297"/>
                </a:lnTo>
                <a:lnTo>
                  <a:pt x="62" y="470"/>
                </a:lnTo>
                <a:cubicBezTo>
                  <a:pt x="56" y="481"/>
                  <a:pt x="45" y="487"/>
                  <a:pt x="34" y="487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838080" y="4178520"/>
            <a:ext cx="1663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储备⾦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 ¥50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812160" y="4597560"/>
            <a:ext cx="4010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18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个⽉验证单店模型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24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个⽉开放加盟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