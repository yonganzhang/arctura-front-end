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571320" y="3162240"/>
            <a:ext cx="11049480" cy="57240"/>
          </a:xfrm>
          <a:custGeom>
            <a:avLst/>
            <a:gdLst/>
            <a:ahLst/>
            <a:rect l="0" t="0" r="r" b="b"/>
            <a:pathLst>
              <a:path w="30693" h="159">
                <a:moveTo>
                  <a:pt x="0" y="0"/>
                </a:moveTo>
                <a:lnTo>
                  <a:pt x="30693" y="0"/>
                </a:lnTo>
                <a:lnTo>
                  <a:pt x="30693" y="15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solidFill>
            <a:srgbClr val="9B3F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571320" y="2201760"/>
            <a:ext cx="809316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AI </a:t>
            </a:r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驱动室内 </a:t>
            </a:r>
            <a:r>
              <a:rPr lang="en-US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建筑设计研究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571320" y="3420360"/>
            <a:ext cx="377676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MVP 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演示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571320" y="4015440"/>
            <a:ext cx="27568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给 学校领导 </a:t>
            </a:r>
            <a:r>
              <a:rPr lang="en-US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研究⽣导师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学校领导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18450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3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628560" y="4638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6286320" y="191628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研究背景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628560" y="50004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838080" y="4521240"/>
            <a:ext cx="25124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传统室内设计周期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2-4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周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628560" y="536256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19"/>
                  <a:pt x="210" y="133"/>
                  <a:pt x="204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0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0"/>
                  <a:pt x="31" y="180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19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0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838080" y="4883400"/>
            <a:ext cx="43272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建筑⽅案从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concept →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施⼯图涉及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专业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628560" y="57243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38080" y="5245200"/>
            <a:ext cx="43491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问题：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AI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能否压缩到分钟级且保证⼯程质量？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838080" y="5607000"/>
            <a:ext cx="4767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健身空间是优质测试场景：功能明确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专业要求⾼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838080" y="5902560"/>
            <a:ext cx="21132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（承重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声学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通⻛）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学校领导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71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"/>
          <p:cNvSpPr/>
          <p:nvPr/>
        </p:nvSpPr>
        <p:spPr>
          <a:xfrm>
            <a:off x="628560" y="4638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6286320" y="191628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核⼼命题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628560" y="50004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838080" y="4521240"/>
            <a:ext cx="3255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CLI Agent +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多模态⽣成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pipeline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38080" y="4883400"/>
            <a:ext cx="5172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端到端：需求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JSON → 3D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场景 →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2D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图 →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BIM →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628560" y="56671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838080" y="5187960"/>
            <a:ext cx="1928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多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stakeholder PPT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838080" y="5550120"/>
            <a:ext cx="5666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覆盖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个专业视⻆（业主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投资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施⼯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/BIM/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运营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营销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628560" y="632448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838080" y="5845320"/>
            <a:ext cx="1265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学术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设计）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838080" y="6207120"/>
            <a:ext cx="52686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健身场景验证：承重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800 kg/m² 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声学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35 dB 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全反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838080" y="6512040"/>
            <a:ext cx="627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射镜⾯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学校领导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571320" y="155448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关键指标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571320" y="2135880"/>
            <a:ext cx="234972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9'29"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571320" y="3235320"/>
            <a:ext cx="1044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端到端⽣成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4330440" y="2135880"/>
            <a:ext cx="165132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95+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4330440" y="3235320"/>
            <a:ext cx="819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3D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物体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8089920" y="2135880"/>
            <a:ext cx="91404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8089920" y="3235320"/>
            <a:ext cx="1253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⼯业标准格式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571320" y="3583800"/>
            <a:ext cx="91404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571320" y="4683240"/>
            <a:ext cx="24048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stakeholder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差异化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PPT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学校领导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06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"/>
          <p:cNvSpPr txBox="1"/>
          <p:nvPr/>
        </p:nvSpPr>
        <p:spPr>
          <a:xfrm>
            <a:off x="6286320" y="1916280"/>
            <a:ext cx="8604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⽅法论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1952280" y="4533840"/>
            <a:ext cx="1257840" cy="276480"/>
          </a:xfrm>
          <a:custGeom>
            <a:avLst/>
            <a:gdLst/>
            <a:ahLst/>
            <a:rect l="0" t="0" r="r" b="b"/>
            <a:pathLst>
              <a:path w="3494" h="768">
                <a:moveTo>
                  <a:pt x="0" y="689"/>
                </a:moveTo>
                <a:lnTo>
                  <a:pt x="0" y="80"/>
                </a:lnTo>
                <a:cubicBezTo>
                  <a:pt x="0" y="70"/>
                  <a:pt x="2" y="58"/>
                  <a:pt x="6" y="49"/>
                </a:cubicBezTo>
                <a:cubicBezTo>
                  <a:pt x="11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3415" y="0"/>
                </a:lnTo>
                <a:cubicBezTo>
                  <a:pt x="3425" y="0"/>
                  <a:pt x="3435" y="2"/>
                  <a:pt x="3445" y="6"/>
                </a:cubicBezTo>
                <a:cubicBezTo>
                  <a:pt x="3455" y="10"/>
                  <a:pt x="3463" y="15"/>
                  <a:pt x="3471" y="23"/>
                </a:cubicBezTo>
                <a:cubicBezTo>
                  <a:pt x="3478" y="30"/>
                  <a:pt x="3484" y="39"/>
                  <a:pt x="3488" y="49"/>
                </a:cubicBezTo>
                <a:cubicBezTo>
                  <a:pt x="3492" y="58"/>
                  <a:pt x="3494" y="70"/>
                  <a:pt x="3494" y="80"/>
                </a:cubicBezTo>
                <a:lnTo>
                  <a:pt x="3494" y="689"/>
                </a:lnTo>
                <a:cubicBezTo>
                  <a:pt x="3494" y="699"/>
                  <a:pt x="3492" y="709"/>
                  <a:pt x="3488" y="719"/>
                </a:cubicBezTo>
                <a:cubicBezTo>
                  <a:pt x="3484" y="729"/>
                  <a:pt x="3478" y="737"/>
                  <a:pt x="3471" y="745"/>
                </a:cubicBezTo>
                <a:cubicBezTo>
                  <a:pt x="3463" y="752"/>
                  <a:pt x="3455" y="758"/>
                  <a:pt x="3445" y="762"/>
                </a:cubicBezTo>
                <a:cubicBezTo>
                  <a:pt x="3435" y="766"/>
                  <a:pt x="3425" y="768"/>
                  <a:pt x="3415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2"/>
                  <a:pt x="24" y="745"/>
                </a:cubicBezTo>
                <a:cubicBezTo>
                  <a:pt x="16" y="737"/>
                  <a:pt x="11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628920" y="4521240"/>
            <a:ext cx="13809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参数化场景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2012760" y="4548960"/>
            <a:ext cx="11322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room.json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3205440" y="4521240"/>
            <a:ext cx="1810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→ 可解释、可编辑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587160" y="4883400"/>
            <a:ext cx="37152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2.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Blender headless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⾃动渲染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⻆度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587160" y="5245200"/>
            <a:ext cx="30225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3.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Inkscape CLI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⽣成施⼯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DXF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587160" y="5607000"/>
            <a:ext cx="37094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4.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BlenderBIM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导出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IFC4 (ISO 16739)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587160" y="5959440"/>
            <a:ext cx="3736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5.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Marp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⽣成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stakeholder-aware PPT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587160" y="6321600"/>
            <a:ext cx="3528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全程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CLI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化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→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LLM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可完整调度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学校领导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24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"/>
          <p:cNvSpPr/>
          <p:nvPr/>
        </p:nvSpPr>
        <p:spPr>
          <a:xfrm>
            <a:off x="628560" y="4638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6286320" y="1916280"/>
            <a:ext cx="14331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可重复实验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838080" y="4521240"/>
            <a:ext cx="5711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13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业态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MVP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：办公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咖啡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书店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⽛科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美发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健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628560" y="53053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838080" y="4826160"/>
            <a:ext cx="22665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身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录⾳棚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托育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...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628560" y="56671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838080" y="5187960"/>
            <a:ext cx="2467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同⼀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pipeline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跑不同业态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628560" y="60195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838080" y="5550120"/>
            <a:ext cx="2387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平均⽣成时间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9-12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分钟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838080" y="5902560"/>
            <a:ext cx="34250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失败率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&lt; 5%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（主要因渲染器内存）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学校领导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580680" y="2447640"/>
            <a:ext cx="2505600" cy="371880"/>
          </a:xfrm>
          <a:custGeom>
            <a:avLst/>
            <a:gdLst/>
            <a:ahLst/>
            <a:rect l="0" t="0" r="r" b="b"/>
            <a:pathLst>
              <a:path w="6960" h="1033">
                <a:moveTo>
                  <a:pt x="0" y="0"/>
                </a:moveTo>
                <a:lnTo>
                  <a:pt x="6960" y="0"/>
                </a:lnTo>
                <a:lnTo>
                  <a:pt x="696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3085920" y="2447640"/>
            <a:ext cx="3905640" cy="371880"/>
          </a:xfrm>
          <a:custGeom>
            <a:avLst/>
            <a:gdLst/>
            <a:ahLst/>
            <a:rect l="0" t="0" r="r" b="b"/>
            <a:pathLst>
              <a:path w="10849" h="1033">
                <a:moveTo>
                  <a:pt x="0" y="0"/>
                </a:moveTo>
                <a:lnTo>
                  <a:pt x="10849" y="0"/>
                </a:lnTo>
                <a:lnTo>
                  <a:pt x="108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580680" y="2447640"/>
            <a:ext cx="2505600" cy="371880"/>
          </a:xfrm>
          <a:custGeom>
            <a:avLst/>
            <a:gdLst/>
            <a:ahLst/>
            <a:rect l="0" t="0" r="r" b="b"/>
            <a:pathLst>
              <a:path w="6960" h="1033">
                <a:moveTo>
                  <a:pt x="0" y="0"/>
                </a:moveTo>
                <a:lnTo>
                  <a:pt x="6960" y="0"/>
                </a:lnTo>
                <a:lnTo>
                  <a:pt x="696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3085920" y="2447640"/>
            <a:ext cx="3905640" cy="371880"/>
          </a:xfrm>
          <a:custGeom>
            <a:avLst/>
            <a:gdLst/>
            <a:ahLst/>
            <a:rect l="0" t="0" r="r" b="b"/>
            <a:pathLst>
              <a:path w="10849" h="1033">
                <a:moveTo>
                  <a:pt x="0" y="0"/>
                </a:moveTo>
                <a:lnTo>
                  <a:pt x="10849" y="0"/>
                </a:lnTo>
                <a:lnTo>
                  <a:pt x="108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580680" y="2819160"/>
            <a:ext cx="2505600" cy="371880"/>
          </a:xfrm>
          <a:custGeom>
            <a:avLst/>
            <a:gdLst/>
            <a:ahLst/>
            <a:rect l="0" t="0" r="r" b="b"/>
            <a:pathLst>
              <a:path w="6960" h="1033">
                <a:moveTo>
                  <a:pt x="0" y="0"/>
                </a:moveTo>
                <a:lnTo>
                  <a:pt x="6960" y="0"/>
                </a:lnTo>
                <a:lnTo>
                  <a:pt x="696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3085920" y="2819160"/>
            <a:ext cx="3905640" cy="371880"/>
          </a:xfrm>
          <a:custGeom>
            <a:avLst/>
            <a:gdLst/>
            <a:ahLst/>
            <a:rect l="0" t="0" r="r" b="b"/>
            <a:pathLst>
              <a:path w="10849" h="1033">
                <a:moveTo>
                  <a:pt x="0" y="0"/>
                </a:moveTo>
                <a:lnTo>
                  <a:pt x="10849" y="0"/>
                </a:lnTo>
                <a:lnTo>
                  <a:pt x="108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580680" y="3190680"/>
            <a:ext cx="2505600" cy="371880"/>
          </a:xfrm>
          <a:custGeom>
            <a:avLst/>
            <a:gdLst/>
            <a:ahLst/>
            <a:rect l="0" t="0" r="r" b="b"/>
            <a:pathLst>
              <a:path w="6960" h="1033">
                <a:moveTo>
                  <a:pt x="0" y="0"/>
                </a:moveTo>
                <a:lnTo>
                  <a:pt x="6960" y="0"/>
                </a:lnTo>
                <a:lnTo>
                  <a:pt x="696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3085920" y="3190680"/>
            <a:ext cx="3905640" cy="371880"/>
          </a:xfrm>
          <a:custGeom>
            <a:avLst/>
            <a:gdLst/>
            <a:ahLst/>
            <a:rect l="0" t="0" r="r" b="b"/>
            <a:pathLst>
              <a:path w="10849" h="1033">
                <a:moveTo>
                  <a:pt x="0" y="0"/>
                </a:moveTo>
                <a:lnTo>
                  <a:pt x="10849" y="0"/>
                </a:lnTo>
                <a:lnTo>
                  <a:pt x="108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580680" y="3562200"/>
            <a:ext cx="2505600" cy="371880"/>
          </a:xfrm>
          <a:custGeom>
            <a:avLst/>
            <a:gdLst/>
            <a:ahLst/>
            <a:rect l="0" t="0" r="r" b="b"/>
            <a:pathLst>
              <a:path w="6960" h="1033">
                <a:moveTo>
                  <a:pt x="0" y="0"/>
                </a:moveTo>
                <a:lnTo>
                  <a:pt x="6960" y="0"/>
                </a:lnTo>
                <a:lnTo>
                  <a:pt x="696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3085920" y="3562200"/>
            <a:ext cx="3905640" cy="371880"/>
          </a:xfrm>
          <a:custGeom>
            <a:avLst/>
            <a:gdLst/>
            <a:ahLst/>
            <a:rect l="0" t="0" r="r" b="b"/>
            <a:pathLst>
              <a:path w="10849" h="1033">
                <a:moveTo>
                  <a:pt x="0" y="0"/>
                </a:moveTo>
                <a:lnTo>
                  <a:pt x="10849" y="0"/>
                </a:lnTo>
                <a:lnTo>
                  <a:pt x="108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580680" y="3933720"/>
            <a:ext cx="2505600" cy="371880"/>
          </a:xfrm>
          <a:custGeom>
            <a:avLst/>
            <a:gdLst/>
            <a:ahLst/>
            <a:rect l="0" t="0" r="r" b="b"/>
            <a:pathLst>
              <a:path w="6960" h="1033">
                <a:moveTo>
                  <a:pt x="0" y="0"/>
                </a:moveTo>
                <a:lnTo>
                  <a:pt x="6960" y="0"/>
                </a:lnTo>
                <a:lnTo>
                  <a:pt x="696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3085920" y="3933720"/>
            <a:ext cx="3905640" cy="371880"/>
          </a:xfrm>
          <a:custGeom>
            <a:avLst/>
            <a:gdLst/>
            <a:ahLst/>
            <a:rect l="0" t="0" r="r" b="b"/>
            <a:pathLst>
              <a:path w="10849" h="1033">
                <a:moveTo>
                  <a:pt x="0" y="0"/>
                </a:moveTo>
                <a:lnTo>
                  <a:pt x="10849" y="0"/>
                </a:lnTo>
                <a:lnTo>
                  <a:pt x="108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580680" y="4305240"/>
            <a:ext cx="2505600" cy="381240"/>
          </a:xfrm>
          <a:custGeom>
            <a:avLst/>
            <a:gdLst/>
            <a:ahLst/>
            <a:rect l="0" t="0" r="r" b="b"/>
            <a:pathLst>
              <a:path w="6960" h="1059">
                <a:moveTo>
                  <a:pt x="0" y="0"/>
                </a:moveTo>
                <a:lnTo>
                  <a:pt x="6960" y="0"/>
                </a:lnTo>
                <a:lnTo>
                  <a:pt x="696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3085920" y="4305240"/>
            <a:ext cx="3905640" cy="381240"/>
          </a:xfrm>
          <a:custGeom>
            <a:avLst/>
            <a:gdLst/>
            <a:ahLst/>
            <a:rect l="0" t="0" r="r" b="b"/>
            <a:pathLst>
              <a:path w="10849" h="1059">
                <a:moveTo>
                  <a:pt x="0" y="0"/>
                </a:moveTo>
                <a:lnTo>
                  <a:pt x="10849" y="0"/>
                </a:lnTo>
                <a:lnTo>
                  <a:pt x="1084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57132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571320" y="2438280"/>
            <a:ext cx="2524320" cy="9720"/>
          </a:xfrm>
          <a:custGeom>
            <a:avLst/>
            <a:gdLst/>
            <a:ahLst/>
            <a:rect l="0" t="0" r="r" b="b"/>
            <a:pathLst>
              <a:path w="7012" h="27">
                <a:moveTo>
                  <a:pt x="0" y="0"/>
                </a:moveTo>
                <a:lnTo>
                  <a:pt x="7012" y="0"/>
                </a:lnTo>
                <a:lnTo>
                  <a:pt x="7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308592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3095280" y="2438280"/>
            <a:ext cx="3896280" cy="9720"/>
          </a:xfrm>
          <a:custGeom>
            <a:avLst/>
            <a:gdLst/>
            <a:ahLst/>
            <a:rect l="0" t="0" r="r" b="b"/>
            <a:pathLst>
              <a:path w="10823" h="27">
                <a:moveTo>
                  <a:pt x="0" y="0"/>
                </a:moveTo>
                <a:lnTo>
                  <a:pt x="10823" y="0"/>
                </a:lnTo>
                <a:lnTo>
                  <a:pt x="108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6981480" y="243828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571320" y="2819160"/>
            <a:ext cx="2524320" cy="10080"/>
          </a:xfrm>
          <a:custGeom>
            <a:avLst/>
            <a:gdLst/>
            <a:ahLst/>
            <a:rect l="0" t="0" r="r" b="b"/>
            <a:pathLst>
              <a:path w="7012" h="28">
                <a:moveTo>
                  <a:pt x="0" y="0"/>
                </a:moveTo>
                <a:lnTo>
                  <a:pt x="7012" y="0"/>
                </a:lnTo>
                <a:lnTo>
                  <a:pt x="7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3095280" y="2819160"/>
            <a:ext cx="3896280" cy="10080"/>
          </a:xfrm>
          <a:custGeom>
            <a:avLst/>
            <a:gdLst/>
            <a:ahLst/>
            <a:rect l="0" t="0" r="r" b="b"/>
            <a:pathLst>
              <a:path w="10823" h="28">
                <a:moveTo>
                  <a:pt x="0" y="0"/>
                </a:moveTo>
                <a:lnTo>
                  <a:pt x="10823" y="0"/>
                </a:lnTo>
                <a:lnTo>
                  <a:pt x="108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5713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30859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698148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5713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571320" y="3190680"/>
            <a:ext cx="2524320" cy="9720"/>
          </a:xfrm>
          <a:custGeom>
            <a:avLst/>
            <a:gdLst/>
            <a:ahLst/>
            <a:rect l="0" t="0" r="r" b="b"/>
            <a:pathLst>
              <a:path w="7012" h="27">
                <a:moveTo>
                  <a:pt x="0" y="0"/>
                </a:moveTo>
                <a:lnTo>
                  <a:pt x="7012" y="0"/>
                </a:lnTo>
                <a:lnTo>
                  <a:pt x="7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30859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3095280" y="3190680"/>
            <a:ext cx="3896280" cy="9720"/>
          </a:xfrm>
          <a:custGeom>
            <a:avLst/>
            <a:gdLst/>
            <a:ahLst/>
            <a:rect l="0" t="0" r="r" b="b"/>
            <a:pathLst>
              <a:path w="10823" h="27">
                <a:moveTo>
                  <a:pt x="0" y="0"/>
                </a:moveTo>
                <a:lnTo>
                  <a:pt x="10823" y="0"/>
                </a:lnTo>
                <a:lnTo>
                  <a:pt x="108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698148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5713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571320" y="3562200"/>
            <a:ext cx="2524320" cy="9720"/>
          </a:xfrm>
          <a:custGeom>
            <a:avLst/>
            <a:gdLst/>
            <a:ahLst/>
            <a:rect l="0" t="0" r="r" b="b"/>
            <a:pathLst>
              <a:path w="7012" h="27">
                <a:moveTo>
                  <a:pt x="0" y="0"/>
                </a:moveTo>
                <a:lnTo>
                  <a:pt x="7012" y="0"/>
                </a:lnTo>
                <a:lnTo>
                  <a:pt x="7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30859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3095280" y="3562200"/>
            <a:ext cx="3896280" cy="9720"/>
          </a:xfrm>
          <a:custGeom>
            <a:avLst/>
            <a:gdLst/>
            <a:ahLst/>
            <a:rect l="0" t="0" r="r" b="b"/>
            <a:pathLst>
              <a:path w="10823" h="27">
                <a:moveTo>
                  <a:pt x="0" y="0"/>
                </a:moveTo>
                <a:lnTo>
                  <a:pt x="10823" y="0"/>
                </a:lnTo>
                <a:lnTo>
                  <a:pt x="108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698148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5713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571320" y="3933720"/>
            <a:ext cx="2524320" cy="9720"/>
          </a:xfrm>
          <a:custGeom>
            <a:avLst/>
            <a:gdLst/>
            <a:ahLst/>
            <a:rect l="0" t="0" r="r" b="b"/>
            <a:pathLst>
              <a:path w="7012" h="27">
                <a:moveTo>
                  <a:pt x="0" y="0"/>
                </a:moveTo>
                <a:lnTo>
                  <a:pt x="7012" y="0"/>
                </a:lnTo>
                <a:lnTo>
                  <a:pt x="7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30859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3095280" y="3933720"/>
            <a:ext cx="3896280" cy="9720"/>
          </a:xfrm>
          <a:custGeom>
            <a:avLst/>
            <a:gdLst/>
            <a:ahLst/>
            <a:rect l="0" t="0" r="r" b="b"/>
            <a:pathLst>
              <a:path w="10823" h="27">
                <a:moveTo>
                  <a:pt x="0" y="0"/>
                </a:moveTo>
                <a:lnTo>
                  <a:pt x="10823" y="0"/>
                </a:lnTo>
                <a:lnTo>
                  <a:pt x="108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698148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571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571320" y="4305240"/>
            <a:ext cx="2524320" cy="9720"/>
          </a:xfrm>
          <a:custGeom>
            <a:avLst/>
            <a:gdLst/>
            <a:ahLst/>
            <a:rect l="0" t="0" r="r" b="b"/>
            <a:pathLst>
              <a:path w="7012" h="27">
                <a:moveTo>
                  <a:pt x="0" y="0"/>
                </a:moveTo>
                <a:lnTo>
                  <a:pt x="7012" y="0"/>
                </a:lnTo>
                <a:lnTo>
                  <a:pt x="7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30859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3095280" y="4305240"/>
            <a:ext cx="3896280" cy="9720"/>
          </a:xfrm>
          <a:custGeom>
            <a:avLst/>
            <a:gdLst/>
            <a:ahLst/>
            <a:rect l="0" t="0" r="r" b="b"/>
            <a:pathLst>
              <a:path w="10823" h="27">
                <a:moveTo>
                  <a:pt x="0" y="0"/>
                </a:moveTo>
                <a:lnTo>
                  <a:pt x="10823" y="0"/>
                </a:lnTo>
                <a:lnTo>
                  <a:pt x="108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698148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571320" y="4676760"/>
            <a:ext cx="2524320" cy="9720"/>
          </a:xfrm>
          <a:custGeom>
            <a:avLst/>
            <a:gdLst/>
            <a:ahLst/>
            <a:rect l="0" t="0" r="r" b="b"/>
            <a:pathLst>
              <a:path w="7012" h="27">
                <a:moveTo>
                  <a:pt x="0" y="0"/>
                </a:moveTo>
                <a:lnTo>
                  <a:pt x="7012" y="0"/>
                </a:lnTo>
                <a:lnTo>
                  <a:pt x="7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3095280" y="4676760"/>
            <a:ext cx="3896280" cy="9720"/>
          </a:xfrm>
          <a:custGeom>
            <a:avLst/>
            <a:gdLst/>
            <a:ahLst/>
            <a:rect l="0" t="0" r="r" b="b"/>
            <a:pathLst>
              <a:path w="10823" h="27">
                <a:moveTo>
                  <a:pt x="0" y="0"/>
                </a:moveTo>
                <a:lnTo>
                  <a:pt x="10823" y="0"/>
                </a:lnTo>
                <a:lnTo>
                  <a:pt x="108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571320" y="1859400"/>
            <a:ext cx="14331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可发表⽅向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704880" y="2504160"/>
            <a:ext cx="978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会议 </a:t>
            </a:r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期刊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321732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⽅向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704880" y="2885400"/>
            <a:ext cx="879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CHI / UIST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3217320" y="2885400"/>
            <a:ext cx="3627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Multi-Stakeholder AI Presentation Generation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704880" y="3256920"/>
            <a:ext cx="2019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CAAD Futures / eCAADe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3217320" y="3256920"/>
            <a:ext cx="3037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AI-driven Architecture Design Pipeline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704880" y="3628440"/>
            <a:ext cx="2246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Automation in Construction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3217320" y="3628440"/>
            <a:ext cx="2533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BIM-LLM Interoperability (IFC4)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704880" y="3999600"/>
            <a:ext cx="2089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Building and Environment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3217320" y="3999600"/>
            <a:ext cx="3009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AI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空间性能仿真（声学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承重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⽓流）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704880" y="4371120"/>
            <a:ext cx="978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CHI'27 LBW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3217320" y="4371120"/>
            <a:ext cx="1921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Studio Copilot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⽤户研究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学校领导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1182276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580680" y="2447640"/>
            <a:ext cx="1581840" cy="371880"/>
          </a:xfrm>
          <a:custGeom>
            <a:avLst/>
            <a:gdLst/>
            <a:ahLst/>
            <a:rect l="0" t="0" r="r" b="b"/>
            <a:pathLst>
              <a:path w="4394" h="1033">
                <a:moveTo>
                  <a:pt x="0" y="0"/>
                </a:moveTo>
                <a:lnTo>
                  <a:pt x="4394" y="0"/>
                </a:lnTo>
                <a:lnTo>
                  <a:pt x="439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2162160" y="2447640"/>
            <a:ext cx="2362320" cy="371880"/>
          </a:xfrm>
          <a:custGeom>
            <a:avLst/>
            <a:gdLst/>
            <a:ahLst/>
            <a:rect l="0" t="0" r="r" b="b"/>
            <a:pathLst>
              <a:path w="6562" h="1033">
                <a:moveTo>
                  <a:pt x="0" y="0"/>
                </a:moveTo>
                <a:lnTo>
                  <a:pt x="6562" y="0"/>
                </a:lnTo>
                <a:lnTo>
                  <a:pt x="656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580680" y="2447640"/>
            <a:ext cx="1581840" cy="371880"/>
          </a:xfrm>
          <a:custGeom>
            <a:avLst/>
            <a:gdLst/>
            <a:ahLst/>
            <a:rect l="0" t="0" r="r" b="b"/>
            <a:pathLst>
              <a:path w="4394" h="1033">
                <a:moveTo>
                  <a:pt x="0" y="0"/>
                </a:moveTo>
                <a:lnTo>
                  <a:pt x="4394" y="0"/>
                </a:lnTo>
                <a:lnTo>
                  <a:pt x="439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2162160" y="2447640"/>
            <a:ext cx="2362320" cy="371880"/>
          </a:xfrm>
          <a:custGeom>
            <a:avLst/>
            <a:gdLst/>
            <a:ahLst/>
            <a:rect l="0" t="0" r="r" b="b"/>
            <a:pathLst>
              <a:path w="6562" h="1033">
                <a:moveTo>
                  <a:pt x="0" y="0"/>
                </a:moveTo>
                <a:lnTo>
                  <a:pt x="6562" y="0"/>
                </a:lnTo>
                <a:lnTo>
                  <a:pt x="656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580680" y="2819160"/>
            <a:ext cx="1581840" cy="371880"/>
          </a:xfrm>
          <a:custGeom>
            <a:avLst/>
            <a:gdLst/>
            <a:ahLst/>
            <a:rect l="0" t="0" r="r" b="b"/>
            <a:pathLst>
              <a:path w="4394" h="1033">
                <a:moveTo>
                  <a:pt x="0" y="0"/>
                </a:moveTo>
                <a:lnTo>
                  <a:pt x="4394" y="0"/>
                </a:lnTo>
                <a:lnTo>
                  <a:pt x="439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2162160" y="2819160"/>
            <a:ext cx="2362320" cy="371880"/>
          </a:xfrm>
          <a:custGeom>
            <a:avLst/>
            <a:gdLst/>
            <a:ahLst/>
            <a:rect l="0" t="0" r="r" b="b"/>
            <a:pathLst>
              <a:path w="6562" h="1033">
                <a:moveTo>
                  <a:pt x="0" y="0"/>
                </a:moveTo>
                <a:lnTo>
                  <a:pt x="6562" y="0"/>
                </a:lnTo>
                <a:lnTo>
                  <a:pt x="656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580680" y="3190680"/>
            <a:ext cx="1581840" cy="371880"/>
          </a:xfrm>
          <a:custGeom>
            <a:avLst/>
            <a:gdLst/>
            <a:ahLst/>
            <a:rect l="0" t="0" r="r" b="b"/>
            <a:pathLst>
              <a:path w="4394" h="1033">
                <a:moveTo>
                  <a:pt x="0" y="0"/>
                </a:moveTo>
                <a:lnTo>
                  <a:pt x="4394" y="0"/>
                </a:lnTo>
                <a:lnTo>
                  <a:pt x="439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2162160" y="3190680"/>
            <a:ext cx="2362320" cy="371880"/>
          </a:xfrm>
          <a:custGeom>
            <a:avLst/>
            <a:gdLst/>
            <a:ahLst/>
            <a:rect l="0" t="0" r="r" b="b"/>
            <a:pathLst>
              <a:path w="6562" h="1033">
                <a:moveTo>
                  <a:pt x="0" y="0"/>
                </a:moveTo>
                <a:lnTo>
                  <a:pt x="6562" y="0"/>
                </a:lnTo>
                <a:lnTo>
                  <a:pt x="656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580680" y="3562200"/>
            <a:ext cx="1581840" cy="371880"/>
          </a:xfrm>
          <a:custGeom>
            <a:avLst/>
            <a:gdLst/>
            <a:ahLst/>
            <a:rect l="0" t="0" r="r" b="b"/>
            <a:pathLst>
              <a:path w="4394" h="1033">
                <a:moveTo>
                  <a:pt x="0" y="0"/>
                </a:moveTo>
                <a:lnTo>
                  <a:pt x="4394" y="0"/>
                </a:lnTo>
                <a:lnTo>
                  <a:pt x="439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2162160" y="3562200"/>
            <a:ext cx="2362320" cy="371880"/>
          </a:xfrm>
          <a:custGeom>
            <a:avLst/>
            <a:gdLst/>
            <a:ahLst/>
            <a:rect l="0" t="0" r="r" b="b"/>
            <a:pathLst>
              <a:path w="6562" h="1033">
                <a:moveTo>
                  <a:pt x="0" y="0"/>
                </a:moveTo>
                <a:lnTo>
                  <a:pt x="6562" y="0"/>
                </a:lnTo>
                <a:lnTo>
                  <a:pt x="656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580680" y="3933720"/>
            <a:ext cx="1581840" cy="371880"/>
          </a:xfrm>
          <a:custGeom>
            <a:avLst/>
            <a:gdLst/>
            <a:ahLst/>
            <a:rect l="0" t="0" r="r" b="b"/>
            <a:pathLst>
              <a:path w="4394" h="1033">
                <a:moveTo>
                  <a:pt x="0" y="0"/>
                </a:moveTo>
                <a:lnTo>
                  <a:pt x="4394" y="0"/>
                </a:lnTo>
                <a:lnTo>
                  <a:pt x="439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2162160" y="3933720"/>
            <a:ext cx="2362320" cy="371880"/>
          </a:xfrm>
          <a:custGeom>
            <a:avLst/>
            <a:gdLst/>
            <a:ahLst/>
            <a:rect l="0" t="0" r="r" b="b"/>
            <a:pathLst>
              <a:path w="6562" h="1033">
                <a:moveTo>
                  <a:pt x="0" y="0"/>
                </a:moveTo>
                <a:lnTo>
                  <a:pt x="6562" y="0"/>
                </a:lnTo>
                <a:lnTo>
                  <a:pt x="656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580680" y="4305240"/>
            <a:ext cx="1581840" cy="381240"/>
          </a:xfrm>
          <a:custGeom>
            <a:avLst/>
            <a:gdLst/>
            <a:ahLst/>
            <a:rect l="0" t="0" r="r" b="b"/>
            <a:pathLst>
              <a:path w="4394" h="1059">
                <a:moveTo>
                  <a:pt x="0" y="0"/>
                </a:moveTo>
                <a:lnTo>
                  <a:pt x="4394" y="0"/>
                </a:lnTo>
                <a:lnTo>
                  <a:pt x="439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2162160" y="4305240"/>
            <a:ext cx="2362320" cy="381240"/>
          </a:xfrm>
          <a:custGeom>
            <a:avLst/>
            <a:gdLst/>
            <a:ahLst/>
            <a:rect l="0" t="0" r="r" b="b"/>
            <a:pathLst>
              <a:path w="6562" h="1059">
                <a:moveTo>
                  <a:pt x="0" y="0"/>
                </a:moveTo>
                <a:lnTo>
                  <a:pt x="6562" y="0"/>
                </a:lnTo>
                <a:lnTo>
                  <a:pt x="656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57132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571320" y="2438280"/>
            <a:ext cx="1600560" cy="9720"/>
          </a:xfrm>
          <a:custGeom>
            <a:avLst/>
            <a:gdLst/>
            <a:ahLst/>
            <a:rect l="0" t="0" r="r" b="b"/>
            <a:pathLst>
              <a:path w="4446" h="27">
                <a:moveTo>
                  <a:pt x="0" y="0"/>
                </a:moveTo>
                <a:lnTo>
                  <a:pt x="4446" y="0"/>
                </a:lnTo>
                <a:lnTo>
                  <a:pt x="44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216216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2171520" y="2438280"/>
            <a:ext cx="2362680" cy="9720"/>
          </a:xfrm>
          <a:custGeom>
            <a:avLst/>
            <a:gdLst/>
            <a:ahLst/>
            <a:rect l="0" t="0" r="r" b="b"/>
            <a:pathLst>
              <a:path w="6563" h="27">
                <a:moveTo>
                  <a:pt x="0" y="0"/>
                </a:moveTo>
                <a:lnTo>
                  <a:pt x="6563" y="0"/>
                </a:lnTo>
                <a:lnTo>
                  <a:pt x="656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4524120" y="243828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571320" y="2819160"/>
            <a:ext cx="1600560" cy="10080"/>
          </a:xfrm>
          <a:custGeom>
            <a:avLst/>
            <a:gdLst/>
            <a:ahLst/>
            <a:rect l="0" t="0" r="r" b="b"/>
            <a:pathLst>
              <a:path w="4446" h="28">
                <a:moveTo>
                  <a:pt x="0" y="0"/>
                </a:moveTo>
                <a:lnTo>
                  <a:pt x="4446" y="0"/>
                </a:lnTo>
                <a:lnTo>
                  <a:pt x="44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2171520" y="2819160"/>
            <a:ext cx="2362680" cy="10080"/>
          </a:xfrm>
          <a:custGeom>
            <a:avLst/>
            <a:gdLst/>
            <a:ahLst/>
            <a:rect l="0" t="0" r="r" b="b"/>
            <a:pathLst>
              <a:path w="6563" h="28">
                <a:moveTo>
                  <a:pt x="0" y="0"/>
                </a:moveTo>
                <a:lnTo>
                  <a:pt x="6563" y="0"/>
                </a:lnTo>
                <a:lnTo>
                  <a:pt x="656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5713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216216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452412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5713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571320" y="3190680"/>
            <a:ext cx="1600560" cy="9720"/>
          </a:xfrm>
          <a:custGeom>
            <a:avLst/>
            <a:gdLst/>
            <a:ahLst/>
            <a:rect l="0" t="0" r="r" b="b"/>
            <a:pathLst>
              <a:path w="4446" h="27">
                <a:moveTo>
                  <a:pt x="0" y="0"/>
                </a:moveTo>
                <a:lnTo>
                  <a:pt x="4446" y="0"/>
                </a:lnTo>
                <a:lnTo>
                  <a:pt x="44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216216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2171520" y="3190680"/>
            <a:ext cx="2362680" cy="9720"/>
          </a:xfrm>
          <a:custGeom>
            <a:avLst/>
            <a:gdLst/>
            <a:ahLst/>
            <a:rect l="0" t="0" r="r" b="b"/>
            <a:pathLst>
              <a:path w="6563" h="27">
                <a:moveTo>
                  <a:pt x="0" y="0"/>
                </a:moveTo>
                <a:lnTo>
                  <a:pt x="6563" y="0"/>
                </a:lnTo>
                <a:lnTo>
                  <a:pt x="656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452412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5713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571320" y="3562200"/>
            <a:ext cx="1600560" cy="9720"/>
          </a:xfrm>
          <a:custGeom>
            <a:avLst/>
            <a:gdLst/>
            <a:ahLst/>
            <a:rect l="0" t="0" r="r" b="b"/>
            <a:pathLst>
              <a:path w="4446" h="27">
                <a:moveTo>
                  <a:pt x="0" y="0"/>
                </a:moveTo>
                <a:lnTo>
                  <a:pt x="4446" y="0"/>
                </a:lnTo>
                <a:lnTo>
                  <a:pt x="44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216216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2171520" y="3562200"/>
            <a:ext cx="2362680" cy="9720"/>
          </a:xfrm>
          <a:custGeom>
            <a:avLst/>
            <a:gdLst/>
            <a:ahLst/>
            <a:rect l="0" t="0" r="r" b="b"/>
            <a:pathLst>
              <a:path w="6563" h="27">
                <a:moveTo>
                  <a:pt x="0" y="0"/>
                </a:moveTo>
                <a:lnTo>
                  <a:pt x="6563" y="0"/>
                </a:lnTo>
                <a:lnTo>
                  <a:pt x="656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452412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5713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571320" y="3933720"/>
            <a:ext cx="1600560" cy="9720"/>
          </a:xfrm>
          <a:custGeom>
            <a:avLst/>
            <a:gdLst/>
            <a:ahLst/>
            <a:rect l="0" t="0" r="r" b="b"/>
            <a:pathLst>
              <a:path w="4446" h="27">
                <a:moveTo>
                  <a:pt x="0" y="0"/>
                </a:moveTo>
                <a:lnTo>
                  <a:pt x="4446" y="0"/>
                </a:lnTo>
                <a:lnTo>
                  <a:pt x="44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216216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2171520" y="3933720"/>
            <a:ext cx="2362680" cy="9720"/>
          </a:xfrm>
          <a:custGeom>
            <a:avLst/>
            <a:gdLst/>
            <a:ahLst/>
            <a:rect l="0" t="0" r="r" b="b"/>
            <a:pathLst>
              <a:path w="6563" h="27">
                <a:moveTo>
                  <a:pt x="0" y="0"/>
                </a:moveTo>
                <a:lnTo>
                  <a:pt x="6563" y="0"/>
                </a:lnTo>
                <a:lnTo>
                  <a:pt x="656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452412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571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571320" y="4305240"/>
            <a:ext cx="1600560" cy="9720"/>
          </a:xfrm>
          <a:custGeom>
            <a:avLst/>
            <a:gdLst/>
            <a:ahLst/>
            <a:rect l="0" t="0" r="r" b="b"/>
            <a:pathLst>
              <a:path w="4446" h="27">
                <a:moveTo>
                  <a:pt x="0" y="0"/>
                </a:moveTo>
                <a:lnTo>
                  <a:pt x="4446" y="0"/>
                </a:lnTo>
                <a:lnTo>
                  <a:pt x="44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216216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2171520" y="4305240"/>
            <a:ext cx="2362680" cy="9720"/>
          </a:xfrm>
          <a:custGeom>
            <a:avLst/>
            <a:gdLst/>
            <a:ahLst/>
            <a:rect l="0" t="0" r="r" b="b"/>
            <a:pathLst>
              <a:path w="6563" h="27">
                <a:moveTo>
                  <a:pt x="0" y="0"/>
                </a:moveTo>
                <a:lnTo>
                  <a:pt x="6563" y="0"/>
                </a:lnTo>
                <a:lnTo>
                  <a:pt x="656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452412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571320" y="4676760"/>
            <a:ext cx="1600560" cy="9720"/>
          </a:xfrm>
          <a:custGeom>
            <a:avLst/>
            <a:gdLst/>
            <a:ahLst/>
            <a:rect l="0" t="0" r="r" b="b"/>
            <a:pathLst>
              <a:path w="4446" h="27">
                <a:moveTo>
                  <a:pt x="0" y="0"/>
                </a:moveTo>
                <a:lnTo>
                  <a:pt x="4446" y="0"/>
                </a:lnTo>
                <a:lnTo>
                  <a:pt x="44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2171520" y="4676760"/>
            <a:ext cx="2362680" cy="9720"/>
          </a:xfrm>
          <a:custGeom>
            <a:avLst/>
            <a:gdLst/>
            <a:ahLst/>
            <a:rect l="0" t="0" r="r" b="b"/>
            <a:pathLst>
              <a:path w="6563" h="27">
                <a:moveTo>
                  <a:pt x="0" y="0"/>
                </a:moveTo>
                <a:lnTo>
                  <a:pt x="6563" y="0"/>
                </a:lnTo>
                <a:lnTo>
                  <a:pt x="656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571320" y="185940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教学价值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70488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⽅向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229356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场景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704880" y="2885400"/>
            <a:ext cx="119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《计算性设计》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2293560" y="2885400"/>
            <a:ext cx="119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研究⽣必修素材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704880" y="3256920"/>
            <a:ext cx="1374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跨学科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Capstone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2293560" y="3256920"/>
            <a:ext cx="1445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建筑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CS 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商业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704880" y="362844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《数字孪⽣》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2293560" y="3628440"/>
            <a:ext cx="1265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BIM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模型现成库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704880" y="399960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创业孵化器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2293560" y="3999600"/>
            <a:ext cx="2144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StartUP-Building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孵化项⽬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704880" y="43711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顶会投稿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2293560" y="4371120"/>
            <a:ext cx="119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研究⽣⼀作论⽂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学校领导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580680" y="2638080"/>
            <a:ext cx="914760" cy="371880"/>
          </a:xfrm>
          <a:custGeom>
            <a:avLst/>
            <a:gdLst/>
            <a:ahLst/>
            <a:rect l="0" t="0" r="r" b="b"/>
            <a:pathLst>
              <a:path w="2541" h="1033">
                <a:moveTo>
                  <a:pt x="0" y="0"/>
                </a:moveTo>
                <a:lnTo>
                  <a:pt x="2541" y="0"/>
                </a:lnTo>
                <a:lnTo>
                  <a:pt x="254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1495080" y="2638080"/>
            <a:ext cx="3772440" cy="371880"/>
          </a:xfrm>
          <a:custGeom>
            <a:avLst/>
            <a:gdLst/>
            <a:ahLst/>
            <a:rect l="0" t="0" r="r" b="b"/>
            <a:pathLst>
              <a:path w="10479" h="1033">
                <a:moveTo>
                  <a:pt x="0" y="0"/>
                </a:moveTo>
                <a:lnTo>
                  <a:pt x="10479" y="0"/>
                </a:lnTo>
                <a:lnTo>
                  <a:pt x="1047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580680" y="2638080"/>
            <a:ext cx="914760" cy="371880"/>
          </a:xfrm>
          <a:custGeom>
            <a:avLst/>
            <a:gdLst/>
            <a:ahLst/>
            <a:rect l="0" t="0" r="r" b="b"/>
            <a:pathLst>
              <a:path w="2541" h="1033">
                <a:moveTo>
                  <a:pt x="0" y="0"/>
                </a:moveTo>
                <a:lnTo>
                  <a:pt x="2541" y="0"/>
                </a:lnTo>
                <a:lnTo>
                  <a:pt x="254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1495080" y="2638080"/>
            <a:ext cx="3772440" cy="371880"/>
          </a:xfrm>
          <a:custGeom>
            <a:avLst/>
            <a:gdLst/>
            <a:ahLst/>
            <a:rect l="0" t="0" r="r" b="b"/>
            <a:pathLst>
              <a:path w="10479" h="1033">
                <a:moveTo>
                  <a:pt x="0" y="0"/>
                </a:moveTo>
                <a:lnTo>
                  <a:pt x="10479" y="0"/>
                </a:lnTo>
                <a:lnTo>
                  <a:pt x="1047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580680" y="3009600"/>
            <a:ext cx="914760" cy="371880"/>
          </a:xfrm>
          <a:custGeom>
            <a:avLst/>
            <a:gdLst/>
            <a:ahLst/>
            <a:rect l="0" t="0" r="r" b="b"/>
            <a:pathLst>
              <a:path w="2541" h="1033">
                <a:moveTo>
                  <a:pt x="0" y="0"/>
                </a:moveTo>
                <a:lnTo>
                  <a:pt x="2541" y="0"/>
                </a:lnTo>
                <a:lnTo>
                  <a:pt x="254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1495080" y="3009600"/>
            <a:ext cx="3772440" cy="371880"/>
          </a:xfrm>
          <a:custGeom>
            <a:avLst/>
            <a:gdLst/>
            <a:ahLst/>
            <a:rect l="0" t="0" r="r" b="b"/>
            <a:pathLst>
              <a:path w="10479" h="1033">
                <a:moveTo>
                  <a:pt x="0" y="0"/>
                </a:moveTo>
                <a:lnTo>
                  <a:pt x="10479" y="0"/>
                </a:lnTo>
                <a:lnTo>
                  <a:pt x="1047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580680" y="3381120"/>
            <a:ext cx="914760" cy="371880"/>
          </a:xfrm>
          <a:custGeom>
            <a:avLst/>
            <a:gdLst/>
            <a:ahLst/>
            <a:rect l="0" t="0" r="r" b="b"/>
            <a:pathLst>
              <a:path w="2541" h="1033">
                <a:moveTo>
                  <a:pt x="0" y="0"/>
                </a:moveTo>
                <a:lnTo>
                  <a:pt x="2541" y="0"/>
                </a:lnTo>
                <a:lnTo>
                  <a:pt x="254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1495080" y="3381120"/>
            <a:ext cx="3772440" cy="371880"/>
          </a:xfrm>
          <a:custGeom>
            <a:avLst/>
            <a:gdLst/>
            <a:ahLst/>
            <a:rect l="0" t="0" r="r" b="b"/>
            <a:pathLst>
              <a:path w="10479" h="1033">
                <a:moveTo>
                  <a:pt x="0" y="0"/>
                </a:moveTo>
                <a:lnTo>
                  <a:pt x="10479" y="0"/>
                </a:lnTo>
                <a:lnTo>
                  <a:pt x="1047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580680" y="3752640"/>
            <a:ext cx="914760" cy="371880"/>
          </a:xfrm>
          <a:custGeom>
            <a:avLst/>
            <a:gdLst/>
            <a:ahLst/>
            <a:rect l="0" t="0" r="r" b="b"/>
            <a:pathLst>
              <a:path w="2541" h="1033">
                <a:moveTo>
                  <a:pt x="0" y="0"/>
                </a:moveTo>
                <a:lnTo>
                  <a:pt x="2541" y="0"/>
                </a:lnTo>
                <a:lnTo>
                  <a:pt x="254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1495080" y="3752640"/>
            <a:ext cx="3772440" cy="371880"/>
          </a:xfrm>
          <a:custGeom>
            <a:avLst/>
            <a:gdLst/>
            <a:ahLst/>
            <a:rect l="0" t="0" r="r" b="b"/>
            <a:pathLst>
              <a:path w="10479" h="1033">
                <a:moveTo>
                  <a:pt x="0" y="0"/>
                </a:moveTo>
                <a:lnTo>
                  <a:pt x="10479" y="0"/>
                </a:lnTo>
                <a:lnTo>
                  <a:pt x="1047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580680" y="4124160"/>
            <a:ext cx="914760" cy="371880"/>
          </a:xfrm>
          <a:custGeom>
            <a:avLst/>
            <a:gdLst/>
            <a:ahLst/>
            <a:rect l="0" t="0" r="r" b="b"/>
            <a:pathLst>
              <a:path w="2541" h="1033">
                <a:moveTo>
                  <a:pt x="0" y="0"/>
                </a:moveTo>
                <a:lnTo>
                  <a:pt x="2541" y="0"/>
                </a:lnTo>
                <a:lnTo>
                  <a:pt x="254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1495080" y="4124160"/>
            <a:ext cx="3772440" cy="371880"/>
          </a:xfrm>
          <a:custGeom>
            <a:avLst/>
            <a:gdLst/>
            <a:ahLst/>
            <a:rect l="0" t="0" r="r" b="b"/>
            <a:pathLst>
              <a:path w="10479" h="1033">
                <a:moveTo>
                  <a:pt x="0" y="0"/>
                </a:moveTo>
                <a:lnTo>
                  <a:pt x="10479" y="0"/>
                </a:lnTo>
                <a:lnTo>
                  <a:pt x="1047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571320" y="2628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571320" y="2628720"/>
            <a:ext cx="933840" cy="9720"/>
          </a:xfrm>
          <a:custGeom>
            <a:avLst/>
            <a:gdLst/>
            <a:ahLst/>
            <a:rect l="0" t="0" r="r" b="b"/>
            <a:pathLst>
              <a:path w="2594" h="27">
                <a:moveTo>
                  <a:pt x="0" y="0"/>
                </a:moveTo>
                <a:lnTo>
                  <a:pt x="2594" y="0"/>
                </a:lnTo>
                <a:lnTo>
                  <a:pt x="25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1495080" y="26287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1504800" y="2628720"/>
            <a:ext cx="3772080" cy="9720"/>
          </a:xfrm>
          <a:custGeom>
            <a:avLst/>
            <a:gdLst/>
            <a:ahLst/>
            <a:rect l="0" t="0" r="r" b="b"/>
            <a:pathLst>
              <a:path w="10478" h="27">
                <a:moveTo>
                  <a:pt x="0" y="0"/>
                </a:moveTo>
                <a:lnTo>
                  <a:pt x="10478" y="0"/>
                </a:lnTo>
                <a:lnTo>
                  <a:pt x="104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5267160" y="2628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571320" y="3000240"/>
            <a:ext cx="933840" cy="9720"/>
          </a:xfrm>
          <a:custGeom>
            <a:avLst/>
            <a:gdLst/>
            <a:ahLst/>
            <a:rect l="0" t="0" r="r" b="b"/>
            <a:pathLst>
              <a:path w="2594" h="27">
                <a:moveTo>
                  <a:pt x="0" y="0"/>
                </a:moveTo>
                <a:lnTo>
                  <a:pt x="2594" y="0"/>
                </a:lnTo>
                <a:lnTo>
                  <a:pt x="25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1504800" y="3000240"/>
            <a:ext cx="3772080" cy="9720"/>
          </a:xfrm>
          <a:custGeom>
            <a:avLst/>
            <a:gdLst/>
            <a:ahLst/>
            <a:rect l="0" t="0" r="r" b="b"/>
            <a:pathLst>
              <a:path w="10478" h="27">
                <a:moveTo>
                  <a:pt x="0" y="0"/>
                </a:moveTo>
                <a:lnTo>
                  <a:pt x="10478" y="0"/>
                </a:lnTo>
                <a:lnTo>
                  <a:pt x="104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149508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526716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571320" y="3371760"/>
            <a:ext cx="933840" cy="9720"/>
          </a:xfrm>
          <a:custGeom>
            <a:avLst/>
            <a:gdLst/>
            <a:ahLst/>
            <a:rect l="0" t="0" r="r" b="b"/>
            <a:pathLst>
              <a:path w="2594" h="27">
                <a:moveTo>
                  <a:pt x="0" y="0"/>
                </a:moveTo>
                <a:lnTo>
                  <a:pt x="2594" y="0"/>
                </a:lnTo>
                <a:lnTo>
                  <a:pt x="25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149508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1504800" y="3371760"/>
            <a:ext cx="3772080" cy="9720"/>
          </a:xfrm>
          <a:custGeom>
            <a:avLst/>
            <a:gdLst/>
            <a:ahLst/>
            <a:rect l="0" t="0" r="r" b="b"/>
            <a:pathLst>
              <a:path w="10478" h="27">
                <a:moveTo>
                  <a:pt x="0" y="0"/>
                </a:moveTo>
                <a:lnTo>
                  <a:pt x="10478" y="0"/>
                </a:lnTo>
                <a:lnTo>
                  <a:pt x="104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526716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571320" y="3743280"/>
            <a:ext cx="933840" cy="9720"/>
          </a:xfrm>
          <a:custGeom>
            <a:avLst/>
            <a:gdLst/>
            <a:ahLst/>
            <a:rect l="0" t="0" r="r" b="b"/>
            <a:pathLst>
              <a:path w="2594" h="27">
                <a:moveTo>
                  <a:pt x="0" y="0"/>
                </a:moveTo>
                <a:lnTo>
                  <a:pt x="2594" y="0"/>
                </a:lnTo>
                <a:lnTo>
                  <a:pt x="25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149508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1504800" y="3743280"/>
            <a:ext cx="3772080" cy="9720"/>
          </a:xfrm>
          <a:custGeom>
            <a:avLst/>
            <a:gdLst/>
            <a:ahLst/>
            <a:rect l="0" t="0" r="r" b="b"/>
            <a:pathLst>
              <a:path w="10478" h="27">
                <a:moveTo>
                  <a:pt x="0" y="0"/>
                </a:moveTo>
                <a:lnTo>
                  <a:pt x="10478" y="0"/>
                </a:lnTo>
                <a:lnTo>
                  <a:pt x="104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526716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571320" y="4114440"/>
            <a:ext cx="933840" cy="10080"/>
          </a:xfrm>
          <a:custGeom>
            <a:avLst/>
            <a:gdLst/>
            <a:ahLst/>
            <a:rect l="0" t="0" r="r" b="b"/>
            <a:pathLst>
              <a:path w="2594" h="28">
                <a:moveTo>
                  <a:pt x="0" y="0"/>
                </a:moveTo>
                <a:lnTo>
                  <a:pt x="2594" y="0"/>
                </a:lnTo>
                <a:lnTo>
                  <a:pt x="25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149508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1504800" y="4114440"/>
            <a:ext cx="3772080" cy="10080"/>
          </a:xfrm>
          <a:custGeom>
            <a:avLst/>
            <a:gdLst/>
            <a:ahLst/>
            <a:rect l="0" t="0" r="r" b="b"/>
            <a:pathLst>
              <a:path w="10478" h="28">
                <a:moveTo>
                  <a:pt x="0" y="0"/>
                </a:moveTo>
                <a:lnTo>
                  <a:pt x="10478" y="0"/>
                </a:lnTo>
                <a:lnTo>
                  <a:pt x="104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526716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571320" y="4485960"/>
            <a:ext cx="933840" cy="10080"/>
          </a:xfrm>
          <a:custGeom>
            <a:avLst/>
            <a:gdLst/>
            <a:ahLst/>
            <a:rect l="0" t="0" r="r" b="b"/>
            <a:pathLst>
              <a:path w="2594" h="28">
                <a:moveTo>
                  <a:pt x="0" y="0"/>
                </a:moveTo>
                <a:lnTo>
                  <a:pt x="2594" y="0"/>
                </a:lnTo>
                <a:lnTo>
                  <a:pt x="25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1504800" y="4485960"/>
            <a:ext cx="3772080" cy="10080"/>
          </a:xfrm>
          <a:custGeom>
            <a:avLst/>
            <a:gdLst/>
            <a:ahLst/>
            <a:rect l="0" t="0" r="r" b="b"/>
            <a:pathLst>
              <a:path w="10478" h="28">
                <a:moveTo>
                  <a:pt x="0" y="0"/>
                </a:moveTo>
                <a:lnTo>
                  <a:pt x="10478" y="0"/>
                </a:lnTo>
                <a:lnTo>
                  <a:pt x="104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571320" y="2049840"/>
            <a:ext cx="14331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本年度计划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704880" y="26949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季度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1625760" y="26949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⽬标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704880" y="3066120"/>
            <a:ext cx="235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Q2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1625760" y="3066120"/>
            <a:ext cx="383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13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业态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MVP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全部打通，含健身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⽛科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托育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704880" y="3437640"/>
            <a:ext cx="235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Q3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1625760" y="3437640"/>
            <a:ext cx="3605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投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CHI / CAAD Futures 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撰写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JCR Q1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期刊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704880" y="3809160"/>
            <a:ext cx="235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Q4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1625760" y="3809160"/>
            <a:ext cx="3651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申请发明专利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件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与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1-2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家企业签订合作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704880" y="4180680"/>
            <a:ext cx="661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2027 Q1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1625760" y="4180680"/>
            <a:ext cx="2532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联合实验室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博⼠课题⽅向建⽴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学校领导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571320" y="2876400"/>
            <a:ext cx="11049480" cy="57600"/>
          </a:xfrm>
          <a:custGeom>
            <a:avLst/>
            <a:gdLst/>
            <a:ahLst/>
            <a:rect l="0" t="0" r="r" b="b"/>
            <a:pathLst>
              <a:path w="30693" h="160">
                <a:moveTo>
                  <a:pt x="0" y="0"/>
                </a:moveTo>
                <a:lnTo>
                  <a:pt x="30693" y="0"/>
                </a:lnTo>
                <a:lnTo>
                  <a:pt x="30693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9B3F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628560" y="32763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5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571320" y="1915920"/>
            <a:ext cx="243900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争取⽀持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628560" y="36385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19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19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838080" y="3159360"/>
            <a:ext cx="47685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算⼒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块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A100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或等效（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Blender GPU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渲染）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628560" y="40003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1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1"/>
                  <a:pt x="13" y="159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838080" y="3521160"/>
            <a:ext cx="5710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孵化空间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间⼩型实验空间做真实落地（可⽤健身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MVP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628560" y="43621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2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2"/>
                  <a:pt x="181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838080" y="3883320"/>
            <a:ext cx="45230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跨院系合作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：建筑学院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计算机学院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商学院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838080" y="4245120"/>
            <a:ext cx="4690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研究⽣名额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2-3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名⼀作论⽂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+ 2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名专利发明⼈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285840" y="199440"/>
            <a:ext cx="267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Lift Studio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精品健身⼯作室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学校领导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11753640" y="6439320"/>
            <a:ext cx="15336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LibreOffice/26.2.2.2$MacOSX_X86_64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