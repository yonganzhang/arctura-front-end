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69854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施⼯交付包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408240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含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+ IFC4 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可直接深化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07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总包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项⽬经理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21680"/>
            <a:ext cx="6190920" cy="4831560"/>
          </a:xfrm>
          <a:custGeom>
            <a:avLst/>
            <a:gdLst/>
            <a:ahLst/>
            <a:rect l="0" t="0" r="r" b="b"/>
            <a:pathLst>
              <a:path w="17197" h="13421">
                <a:moveTo>
                  <a:pt x="1190" y="1196"/>
                </a:moveTo>
                <a:lnTo>
                  <a:pt x="1190" y="11807"/>
                </a:lnTo>
                <a:cubicBezTo>
                  <a:pt x="1190" y="11835"/>
                  <a:pt x="1195" y="11862"/>
                  <a:pt x="1206" y="11888"/>
                </a:cubicBezTo>
                <a:cubicBezTo>
                  <a:pt x="1217" y="11914"/>
                  <a:pt x="1232" y="11937"/>
                  <a:pt x="1252" y="11957"/>
                </a:cubicBezTo>
                <a:cubicBezTo>
                  <a:pt x="1272" y="11976"/>
                  <a:pt x="1295" y="11992"/>
                  <a:pt x="1321" y="12002"/>
                </a:cubicBezTo>
                <a:cubicBezTo>
                  <a:pt x="1347" y="12013"/>
                  <a:pt x="1374" y="12019"/>
                  <a:pt x="1402" y="12019"/>
                </a:cubicBezTo>
                <a:lnTo>
                  <a:pt x="15796" y="12019"/>
                </a:lnTo>
                <a:cubicBezTo>
                  <a:pt x="15824" y="12019"/>
                  <a:pt x="15851" y="12013"/>
                  <a:pt x="15877" y="12002"/>
                </a:cubicBezTo>
                <a:cubicBezTo>
                  <a:pt x="15903" y="11992"/>
                  <a:pt x="15926" y="11976"/>
                  <a:pt x="15946" y="11957"/>
                </a:cubicBezTo>
                <a:cubicBezTo>
                  <a:pt x="15966" y="11937"/>
                  <a:pt x="15981" y="11914"/>
                  <a:pt x="15992" y="11888"/>
                </a:cubicBezTo>
                <a:cubicBezTo>
                  <a:pt x="16002" y="11862"/>
                  <a:pt x="16008" y="11835"/>
                  <a:pt x="16008" y="11807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3421"/>
                </a:lnTo>
                <a:lnTo>
                  <a:pt x="0" y="13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9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5276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2240280"/>
            <a:ext cx="286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平⾯图（带分区标注）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638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5159520"/>
            <a:ext cx="4238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总尺⼨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× 10 × 3.5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（净层⾼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3.4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38080" y="5521320"/>
            <a:ext cx="5603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个分区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：前台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28560" y="6305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38080" y="5826240"/>
            <a:ext cx="1428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咨询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28560" y="6667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8080" y="6188040"/>
            <a:ext cx="137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⾯积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38080" y="6550200"/>
            <a:ext cx="355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结构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：现浇混凝⼟楼板（需复核承重）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286320" y="1916280"/>
            <a:ext cx="1885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DXF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⽂件信息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466640" y="4533840"/>
            <a:ext cx="2762640" cy="276480"/>
          </a:xfrm>
          <a:custGeom>
            <a:avLst/>
            <a:gdLst/>
            <a:ahLst/>
            <a:rect l="0" t="0" r="r" b="b"/>
            <a:pathLst>
              <a:path w="7674" h="768">
                <a:moveTo>
                  <a:pt x="0" y="689"/>
                </a:moveTo>
                <a:lnTo>
                  <a:pt x="0" y="80"/>
                </a:ln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595" y="0"/>
                </a:lnTo>
                <a:cubicBezTo>
                  <a:pt x="7605" y="0"/>
                  <a:pt x="7615" y="2"/>
                  <a:pt x="7625" y="6"/>
                </a:cubicBezTo>
                <a:cubicBezTo>
                  <a:pt x="7635" y="10"/>
                  <a:pt x="7643" y="15"/>
                  <a:pt x="7651" y="23"/>
                </a:cubicBezTo>
                <a:cubicBezTo>
                  <a:pt x="7658" y="30"/>
                  <a:pt x="7664" y="39"/>
                  <a:pt x="7668" y="49"/>
                </a:cubicBezTo>
                <a:cubicBezTo>
                  <a:pt x="7672" y="58"/>
                  <a:pt x="7674" y="70"/>
                  <a:pt x="7674" y="80"/>
                </a:cubicBezTo>
                <a:lnTo>
                  <a:pt x="7674" y="689"/>
                </a:lnTo>
                <a:cubicBezTo>
                  <a:pt x="7674" y="699"/>
                  <a:pt x="7672" y="709"/>
                  <a:pt x="7668" y="719"/>
                </a:cubicBezTo>
                <a:cubicBezTo>
                  <a:pt x="7664" y="729"/>
                  <a:pt x="7658" y="737"/>
                  <a:pt x="7651" y="745"/>
                </a:cubicBezTo>
                <a:cubicBezTo>
                  <a:pt x="7643" y="752"/>
                  <a:pt x="7635" y="758"/>
                  <a:pt x="7625" y="762"/>
                </a:cubicBezTo>
                <a:cubicBezTo>
                  <a:pt x="7615" y="766"/>
                  <a:pt x="7605" y="768"/>
                  <a:pt x="7595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38080" y="452124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路径：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523880" y="4548960"/>
            <a:ext cx="264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38080" y="4883400"/>
            <a:ext cx="1074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⽐例：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1:80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38080" y="5245200"/>
            <a:ext cx="4437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图层：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WALL / FURN / ELEC / DIM / HATCH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38080" y="5607000"/>
            <a:ext cx="4044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兼容：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2018+ / Rhino 7 / QCAD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838080" y="5959440"/>
            <a:ext cx="1249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实体数：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~90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80680" y="1704960"/>
            <a:ext cx="943560" cy="371520"/>
          </a:xfrm>
          <a:custGeom>
            <a:avLst/>
            <a:gdLst/>
            <a:ahLst/>
            <a:rect l="0" t="0" r="r" b="b"/>
            <a:pathLst>
              <a:path w="2621" h="1032">
                <a:moveTo>
                  <a:pt x="0" y="0"/>
                </a:moveTo>
                <a:lnTo>
                  <a:pt x="2621" y="0"/>
                </a:lnTo>
                <a:lnTo>
                  <a:pt x="262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523880" y="1704960"/>
            <a:ext cx="2733840" cy="371520"/>
          </a:xfrm>
          <a:custGeom>
            <a:avLst/>
            <a:gdLst/>
            <a:ahLst/>
            <a:rect l="0" t="0" r="r" b="b"/>
            <a:pathLst>
              <a:path w="7594" h="1032">
                <a:moveTo>
                  <a:pt x="0" y="0"/>
                </a:moveTo>
                <a:lnTo>
                  <a:pt x="7594" y="0"/>
                </a:lnTo>
                <a:lnTo>
                  <a:pt x="759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257360" y="1704960"/>
            <a:ext cx="600480" cy="371520"/>
          </a:xfrm>
          <a:custGeom>
            <a:avLst/>
            <a:gdLst/>
            <a:ahLst/>
            <a:rect l="0" t="0" r="r" b="b"/>
            <a:pathLst>
              <a:path w="1668" h="1032">
                <a:moveTo>
                  <a:pt x="0" y="0"/>
                </a:moveTo>
                <a:lnTo>
                  <a:pt x="1668" y="0"/>
                </a:lnTo>
                <a:lnTo>
                  <a:pt x="166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857480" y="1704960"/>
            <a:ext cx="819720" cy="371520"/>
          </a:xfrm>
          <a:custGeom>
            <a:avLst/>
            <a:gdLst/>
            <a:ahLst/>
            <a:rect l="0" t="0" r="r" b="b"/>
            <a:pathLst>
              <a:path w="2277" h="1032">
                <a:moveTo>
                  <a:pt x="0" y="0"/>
                </a:moveTo>
                <a:lnTo>
                  <a:pt x="2277" y="0"/>
                </a:lnTo>
                <a:lnTo>
                  <a:pt x="227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676840" y="1704960"/>
            <a:ext cx="819360" cy="371520"/>
          </a:xfrm>
          <a:custGeom>
            <a:avLst/>
            <a:gdLst/>
            <a:ahLst/>
            <a:rect l="0" t="0" r="r" b="b"/>
            <a:pathLst>
              <a:path w="2276" h="1032">
                <a:moveTo>
                  <a:pt x="0" y="0"/>
                </a:moveTo>
                <a:lnTo>
                  <a:pt x="2276" y="0"/>
                </a:lnTo>
                <a:lnTo>
                  <a:pt x="227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80680" y="1704960"/>
            <a:ext cx="943560" cy="371520"/>
          </a:xfrm>
          <a:custGeom>
            <a:avLst/>
            <a:gdLst/>
            <a:ahLst/>
            <a:rect l="0" t="0" r="r" b="b"/>
            <a:pathLst>
              <a:path w="2621" h="1032">
                <a:moveTo>
                  <a:pt x="0" y="0"/>
                </a:moveTo>
                <a:lnTo>
                  <a:pt x="2621" y="0"/>
                </a:lnTo>
                <a:lnTo>
                  <a:pt x="262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523880" y="1704960"/>
            <a:ext cx="2733840" cy="371520"/>
          </a:xfrm>
          <a:custGeom>
            <a:avLst/>
            <a:gdLst/>
            <a:ahLst/>
            <a:rect l="0" t="0" r="r" b="b"/>
            <a:pathLst>
              <a:path w="7594" h="1032">
                <a:moveTo>
                  <a:pt x="0" y="0"/>
                </a:moveTo>
                <a:lnTo>
                  <a:pt x="7594" y="0"/>
                </a:lnTo>
                <a:lnTo>
                  <a:pt x="759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257360" y="1704960"/>
            <a:ext cx="600480" cy="371520"/>
          </a:xfrm>
          <a:custGeom>
            <a:avLst/>
            <a:gdLst/>
            <a:ahLst/>
            <a:rect l="0" t="0" r="r" b="b"/>
            <a:pathLst>
              <a:path w="1668" h="1032">
                <a:moveTo>
                  <a:pt x="0" y="0"/>
                </a:moveTo>
                <a:lnTo>
                  <a:pt x="1668" y="0"/>
                </a:lnTo>
                <a:lnTo>
                  <a:pt x="166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857480" y="1704960"/>
            <a:ext cx="819720" cy="371520"/>
          </a:xfrm>
          <a:custGeom>
            <a:avLst/>
            <a:gdLst/>
            <a:ahLst/>
            <a:rect l="0" t="0" r="r" b="b"/>
            <a:pathLst>
              <a:path w="2277" h="1032">
                <a:moveTo>
                  <a:pt x="0" y="0"/>
                </a:moveTo>
                <a:lnTo>
                  <a:pt x="2277" y="0"/>
                </a:lnTo>
                <a:lnTo>
                  <a:pt x="227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676840" y="1704960"/>
            <a:ext cx="819360" cy="371520"/>
          </a:xfrm>
          <a:custGeom>
            <a:avLst/>
            <a:gdLst/>
            <a:ahLst/>
            <a:rect l="0" t="0" r="r" b="b"/>
            <a:pathLst>
              <a:path w="2276" h="1032">
                <a:moveTo>
                  <a:pt x="0" y="0"/>
                </a:moveTo>
                <a:lnTo>
                  <a:pt x="2276" y="0"/>
                </a:lnTo>
                <a:lnTo>
                  <a:pt x="227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80680" y="2076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523880" y="207612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4257360" y="2076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857480" y="207612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676840" y="207612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80680" y="2447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523880" y="244764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425736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857480" y="244764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676840" y="244764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80680" y="2819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523880" y="281916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257360" y="2819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4857480" y="281916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676840" y="281916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80680" y="3190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523880" y="319068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4257360" y="3190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857480" y="319068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676840" y="319068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80680" y="35622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23880" y="356220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257360" y="3562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857480" y="356220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676840" y="356220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80680" y="39337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523880" y="393372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257360" y="39337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857480" y="393372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676840" y="393372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80680" y="430524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523880" y="4305240"/>
            <a:ext cx="2733840" cy="381240"/>
          </a:xfrm>
          <a:custGeom>
            <a:avLst/>
            <a:gdLst/>
            <a:ahLst/>
            <a:rect l="0" t="0" r="r" b="b"/>
            <a:pathLst>
              <a:path w="7594" h="1059">
                <a:moveTo>
                  <a:pt x="0" y="0"/>
                </a:moveTo>
                <a:lnTo>
                  <a:pt x="7594" y="0"/>
                </a:lnTo>
                <a:lnTo>
                  <a:pt x="759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257360" y="430524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857480" y="4305240"/>
            <a:ext cx="819720" cy="381240"/>
          </a:xfrm>
          <a:custGeom>
            <a:avLst/>
            <a:gdLst/>
            <a:ahLst/>
            <a:rect l="0" t="0" r="r" b="b"/>
            <a:pathLst>
              <a:path w="2277" h="1059">
                <a:moveTo>
                  <a:pt x="0" y="0"/>
                </a:moveTo>
                <a:lnTo>
                  <a:pt x="2277" y="0"/>
                </a:lnTo>
                <a:lnTo>
                  <a:pt x="227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676840" y="4305240"/>
            <a:ext cx="819360" cy="381240"/>
          </a:xfrm>
          <a:custGeom>
            <a:avLst/>
            <a:gdLst/>
            <a:ahLst/>
            <a:rect l="0" t="0" r="r" b="b"/>
            <a:pathLst>
              <a:path w="2276" h="1059">
                <a:moveTo>
                  <a:pt x="0" y="0"/>
                </a:moveTo>
                <a:lnTo>
                  <a:pt x="2276" y="0"/>
                </a:lnTo>
                <a:lnTo>
                  <a:pt x="227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80680" y="4686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523880" y="468612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257360" y="4686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857480" y="468612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676840" y="468612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80680" y="5057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523880" y="5057640"/>
            <a:ext cx="2733840" cy="371880"/>
          </a:xfrm>
          <a:custGeom>
            <a:avLst/>
            <a:gdLst/>
            <a:ahLst/>
            <a:rect l="0" t="0" r="r" b="b"/>
            <a:pathLst>
              <a:path w="7594" h="1033">
                <a:moveTo>
                  <a:pt x="0" y="0"/>
                </a:moveTo>
                <a:lnTo>
                  <a:pt x="7594" y="0"/>
                </a:lnTo>
                <a:lnTo>
                  <a:pt x="75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257360" y="505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857480" y="505764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676840" y="5057640"/>
            <a:ext cx="819360" cy="371880"/>
          </a:xfrm>
          <a:custGeom>
            <a:avLst/>
            <a:gdLst/>
            <a:ahLst/>
            <a:rect l="0" t="0" r="r" b="b"/>
            <a:pathLst>
              <a:path w="2276" h="1033">
                <a:moveTo>
                  <a:pt x="0" y="0"/>
                </a:moveTo>
                <a:lnTo>
                  <a:pt x="2276" y="0"/>
                </a:lnTo>
                <a:lnTo>
                  <a:pt x="22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7132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71320" y="16952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51416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523880" y="169524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425736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4267080" y="16952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485748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867200" y="169524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67684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686200" y="16952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48648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71320" y="2066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523880" y="206676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267080" y="206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867200" y="206676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686200" y="206676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7132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51416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25736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85748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67684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48648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71320" y="2438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51416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523880" y="243828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25736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267080" y="2438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85748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867200" y="243828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67684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686200" y="243828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4864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1320" y="28191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5141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523880" y="281916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2573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267080" y="2819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8574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867200" y="281916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6768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686200" y="281916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4864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71320" y="31906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5141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523880" y="319068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2573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267080" y="3190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8574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867200" y="319068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6768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686200" y="319068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4864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71320" y="3562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5141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523880" y="356220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2573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4267080" y="3562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48574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867200" y="356220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6768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686200" y="356220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4864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71320" y="3933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5141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523880" y="393372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2573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4267080" y="3933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8574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867200" y="393372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6768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686200" y="39337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4864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1320" y="4305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5141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523880" y="430524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2573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267080" y="4305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8574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867200" y="430524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6768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686200" y="430524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4864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71320" y="4676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51416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523880" y="467676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25736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267080" y="467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85748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4867200" y="467676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67684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686200" y="467676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4864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7132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71320" y="504792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1416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523880" y="504792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25736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267080" y="50479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85748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867200" y="504792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67684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686200" y="504792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48648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71320" y="54194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523880" y="541944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4267080" y="5419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4867200" y="541944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686200" y="54194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71320" y="1116360"/>
            <a:ext cx="1963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主项汇总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04880" y="17614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647720" y="17614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4389840" y="17614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989960" y="176148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单价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806800" y="176148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⼩计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04880" y="2133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647720" y="2133000"/>
            <a:ext cx="261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地⾯加固（胶合板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橡胶）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389840" y="213300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989960" y="213300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806800" y="213300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28,800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0488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647720" y="2504160"/>
            <a:ext cx="179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哑⿊吸⾳板墙⾯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389840" y="25041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4989960" y="250416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280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806800" y="2504160"/>
            <a:ext cx="48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04880" y="28854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647720" y="2885400"/>
            <a:ext cx="162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实⽊复合地板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389840" y="288540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989960" y="28854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806800" y="288540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13,500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04880" y="32569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647720" y="3256920"/>
            <a:ext cx="139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软隔断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吸⾳软包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389840" y="3256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989960" y="325692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806800" y="325692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0488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647720" y="3628440"/>
            <a:ext cx="134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10×2.4 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全反射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389840" y="362844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989960" y="362844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806800" y="36284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20,400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048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647720" y="3999600"/>
            <a:ext cx="130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LOGO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38984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989960" y="399960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806800" y="399960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04880" y="4371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647720" y="4371120"/>
            <a:ext cx="98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柜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389840" y="4371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989960" y="437112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806800" y="437112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0488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647720" y="4742640"/>
            <a:ext cx="143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隔间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⼲湿分离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389840" y="4742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989960" y="4742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806800" y="4742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04880" y="511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装修合计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806800" y="5114160"/>
            <a:ext cx="46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¥131K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857920" y="19800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3"/>
                  <a:pt x="1295" y="10219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9"/>
                  <a:pt x="15926" y="10203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6"/>
                  <a:pt x="15903" y="1011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1"/>
                  <a:pt x="1272" y="1026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16" name=""/>
          <p:cNvPicPr/>
          <p:nvPr/>
        </p:nvPicPr>
        <p:blipFill>
          <a:blip r:embed="rId1"/>
          <a:stretch/>
        </p:blipFill>
        <p:spPr>
          <a:xfrm>
            <a:off x="6286320" y="55260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571320" y="1954440"/>
            <a:ext cx="3811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1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：⼒量区地⾯加固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343560" y="4714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3" y="148"/>
                </a:cubicBezTo>
                <a:cubicBezTo>
                  <a:pt x="198" y="161"/>
                  <a:pt x="190" y="172"/>
                  <a:pt x="180" y="182"/>
                </a:cubicBezTo>
                <a:cubicBezTo>
                  <a:pt x="170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0" y="41"/>
                  <a:pt x="198" y="53"/>
                  <a:pt x="203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71320" y="5567760"/>
            <a:ext cx="915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承重要点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6343560" y="5076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3" y="147"/>
                </a:cubicBezTo>
                <a:cubicBezTo>
                  <a:pt x="198" y="160"/>
                  <a:pt x="190" y="172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0" y="21"/>
                  <a:pt x="180" y="31"/>
                </a:cubicBezTo>
                <a:cubicBezTo>
                  <a:pt x="190" y="41"/>
                  <a:pt x="198" y="52"/>
                  <a:pt x="203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553080" y="4597560"/>
            <a:ext cx="348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深蹲架位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：双⼈硬拉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负重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kg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6343560" y="5438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3" y="147"/>
                </a:cubicBezTo>
                <a:cubicBezTo>
                  <a:pt x="198" y="160"/>
                  <a:pt x="190" y="171"/>
                  <a:pt x="180" y="181"/>
                </a:cubicBezTo>
                <a:cubicBezTo>
                  <a:pt x="170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0" y="41"/>
                  <a:pt x="198" y="53"/>
                  <a:pt x="203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553080" y="4959360"/>
            <a:ext cx="5081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楼板原始承重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：需现场复测，低于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kg/m²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需加固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610320" y="5800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553080" y="532152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构造层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（⾃下⽽上）：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610320" y="6153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6819840" y="568332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原楼板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6610320" y="6514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6819840" y="6035760"/>
            <a:ext cx="268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胶合板（均布应⼒）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819840" y="6397920"/>
            <a:ext cx="3693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橡胶地垫（保护地板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降噪）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553080" y="6759720"/>
            <a:ext cx="1728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验收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：模拟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8422200" y="6759720"/>
            <a:ext cx="1400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砝码静载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977400" y="675972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楼板⽆可⻅挠度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857920" y="19800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3"/>
                  <a:pt x="1295" y="10219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9"/>
                  <a:pt x="15926" y="10203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6"/>
                  <a:pt x="15903" y="1011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1"/>
                  <a:pt x="1272" y="1026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"/>
          <p:cNvPicPr/>
          <p:nvPr/>
        </p:nvPicPr>
        <p:blipFill>
          <a:blip r:embed="rId1"/>
          <a:stretch/>
        </p:blipFill>
        <p:spPr>
          <a:xfrm>
            <a:off x="6286320" y="55260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"/>
          <p:cNvSpPr txBox="1"/>
          <p:nvPr/>
        </p:nvSpPr>
        <p:spPr>
          <a:xfrm>
            <a:off x="571320" y="1954440"/>
            <a:ext cx="3579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：瑜伽区⽊地板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6343560" y="4714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3" y="148"/>
                </a:cubicBezTo>
                <a:cubicBezTo>
                  <a:pt x="198" y="161"/>
                  <a:pt x="190" y="172"/>
                  <a:pt x="180" y="182"/>
                </a:cubicBezTo>
                <a:cubicBezTo>
                  <a:pt x="170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0" y="41"/>
                  <a:pt x="198" y="53"/>
                  <a:pt x="203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71320" y="5205960"/>
            <a:ext cx="1372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弹性地板构造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343560" y="5076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3" y="147"/>
                </a:cubicBezTo>
                <a:cubicBezTo>
                  <a:pt x="198" y="160"/>
                  <a:pt x="190" y="172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0" y="21"/>
                  <a:pt x="180" y="31"/>
                </a:cubicBezTo>
                <a:cubicBezTo>
                  <a:pt x="190" y="41"/>
                  <a:pt x="198" y="52"/>
                  <a:pt x="203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553080" y="4597560"/>
            <a:ext cx="2701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⾯层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橡⽊复合实⽊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343560" y="5438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3" y="147"/>
                </a:cubicBezTo>
                <a:cubicBezTo>
                  <a:pt x="198" y="160"/>
                  <a:pt x="190" y="171"/>
                  <a:pt x="180" y="181"/>
                </a:cubicBezTo>
                <a:cubicBezTo>
                  <a:pt x="170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0" y="41"/>
                  <a:pt x="198" y="53"/>
                  <a:pt x="203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553080" y="4959360"/>
            <a:ext cx="2464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缓冲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mm EVA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静⾳垫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343560" y="5800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3" y="147"/>
                </a:cubicBezTo>
                <a:cubicBezTo>
                  <a:pt x="198" y="160"/>
                  <a:pt x="190" y="171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0" y="21"/>
                  <a:pt x="180" y="32"/>
                </a:cubicBezTo>
                <a:cubicBezTo>
                  <a:pt x="190" y="42"/>
                  <a:pt x="198" y="53"/>
                  <a:pt x="203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553080" y="5321520"/>
            <a:ext cx="1933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找平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：⾃流平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343560" y="6153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3" y="147"/>
                </a:cubicBezTo>
                <a:cubicBezTo>
                  <a:pt x="198" y="160"/>
                  <a:pt x="190" y="171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0" y="21"/>
                  <a:pt x="180" y="31"/>
                </a:cubicBezTo>
                <a:cubicBezTo>
                  <a:pt x="190" y="41"/>
                  <a:pt x="198" y="52"/>
                  <a:pt x="203" y="65"/>
                </a:cubicBezTo>
                <a:cubicBezTo>
                  <a:pt x="210" y="78"/>
                  <a:pt x="212" y="91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553080" y="5683320"/>
            <a:ext cx="386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与⼒量区分界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型收⼝条（颜⾊差异）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553080" y="6035760"/>
            <a:ext cx="3652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验收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垫位铺设整⻬，踩踏⽆空⿎声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71320" y="1335240"/>
            <a:ext cx="3292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：镜⾯墙挂装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28560" y="2438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71320" y="1900800"/>
            <a:ext cx="3017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镜⾯规格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× 2.4 m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全反射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28560" y="2800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38080" y="2320920"/>
            <a:ext cx="341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镜⾯厚度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银镜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背防潮膜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28560" y="3152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1" y="213"/>
                  <a:pt x="107" y="213"/>
                </a:cubicBezTo>
                <a:cubicBezTo>
                  <a:pt x="93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38080" y="2683080"/>
            <a:ext cx="4384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拼缝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× 2.4 m × 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块，缝宽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895320" y="3514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6" y="204"/>
                </a:cubicBezTo>
                <a:cubicBezTo>
                  <a:pt x="133" y="210"/>
                  <a:pt x="119" y="212"/>
                  <a:pt x="105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cubicBezTo>
                  <a:pt x="119" y="0"/>
                  <a:pt x="133" y="2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838080" y="303552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挂装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895320" y="3876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104840" y="3397320"/>
            <a:ext cx="2295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墙⾯找平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误差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895320" y="4238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04840" y="3759480"/>
            <a:ext cx="2049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不锈钢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型底托承重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895320" y="4600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9"/>
                  <a:pt x="146" y="204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4"/>
                </a:cubicBezTo>
                <a:cubicBezTo>
                  <a:pt x="52" y="199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04840" y="4121280"/>
            <a:ext cx="2506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中性硅酮结构胶（禁酸性）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28560" y="4962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104840" y="4483080"/>
            <a:ext cx="1879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顶部不锈钢压条收边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38080" y="4845240"/>
            <a:ext cx="338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离地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（防溅⽔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踢脚）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71320" y="1697400"/>
            <a:ext cx="3006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4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：声学分隔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28560" y="2800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71320" y="2262600"/>
            <a:ext cx="1887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28560" y="3152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1" y="213"/>
                  <a:pt x="107" y="213"/>
                </a:cubicBezTo>
                <a:cubicBezTo>
                  <a:pt x="93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838080" y="2683080"/>
            <a:ext cx="359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问题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：甩铁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dB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，瑜伽要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 dB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895320" y="3514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6" y="204"/>
                </a:cubicBezTo>
                <a:cubicBezTo>
                  <a:pt x="133" y="210"/>
                  <a:pt x="119" y="212"/>
                  <a:pt x="105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cubicBezTo>
                  <a:pt x="119" y="0"/>
                  <a:pt x="133" y="2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838080" y="303552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解决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895320" y="3876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104840" y="3397320"/>
            <a:ext cx="3663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半⾼吸⾳隔墙（⾼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2.2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，留顶透⽓）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895320" y="4238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04840" y="3759480"/>
            <a:ext cx="3417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墙芯：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岩棉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⽯膏板双⾯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628560" y="4600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104840" y="4121280"/>
            <a:ext cx="1553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预期衰减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35 dB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838080" y="4483080"/>
            <a:ext cx="4778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验收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：⼒量区峰值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dB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瑜伽区实测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48 dB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80680" y="188568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647720" y="188568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257280" y="188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80680" y="188568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647720" y="188568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257280" y="188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80680" y="2257200"/>
            <a:ext cx="1067400" cy="381240"/>
          </a:xfrm>
          <a:custGeom>
            <a:avLst/>
            <a:gdLst/>
            <a:ahLst/>
            <a:rect l="0" t="0" r="r" b="b"/>
            <a:pathLst>
              <a:path w="2965" h="1059">
                <a:moveTo>
                  <a:pt x="0" y="0"/>
                </a:moveTo>
                <a:lnTo>
                  <a:pt x="2965" y="0"/>
                </a:lnTo>
                <a:lnTo>
                  <a:pt x="296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647720" y="2257200"/>
            <a:ext cx="1609920" cy="381240"/>
          </a:xfrm>
          <a:custGeom>
            <a:avLst/>
            <a:gdLst/>
            <a:ahLst/>
            <a:rect l="0" t="0" r="r" b="b"/>
            <a:pathLst>
              <a:path w="4472" h="1059">
                <a:moveTo>
                  <a:pt x="0" y="0"/>
                </a:moveTo>
                <a:lnTo>
                  <a:pt x="4472" y="0"/>
                </a:lnTo>
                <a:lnTo>
                  <a:pt x="447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3257280" y="225720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80680" y="263808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647720" y="263808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257280" y="26380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80680" y="300960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647720" y="300960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3257280" y="30096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80680" y="338112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1647720" y="338112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257280" y="3381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0680" y="375264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647720" y="375264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3257280" y="3752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580680" y="412416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647720" y="412416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257280" y="412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80680" y="449568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647720" y="449568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3257280" y="449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80680" y="4867200"/>
            <a:ext cx="1067400" cy="371880"/>
          </a:xfrm>
          <a:custGeom>
            <a:avLst/>
            <a:gdLst/>
            <a:ahLst/>
            <a:rect l="0" t="0" r="r" b="b"/>
            <a:pathLst>
              <a:path w="2965" h="1033">
                <a:moveTo>
                  <a:pt x="0" y="0"/>
                </a:moveTo>
                <a:lnTo>
                  <a:pt x="2965" y="0"/>
                </a:lnTo>
                <a:lnTo>
                  <a:pt x="29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647720" y="486720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0"/>
                </a:moveTo>
                <a:lnTo>
                  <a:pt x="4472" y="0"/>
                </a:lnTo>
                <a:lnTo>
                  <a:pt x="44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3257280" y="4867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71320" y="1885680"/>
            <a:ext cx="1086120" cy="10440"/>
          </a:xfrm>
          <a:custGeom>
            <a:avLst/>
            <a:gdLst/>
            <a:ahLst/>
            <a:rect l="0" t="0" r="r" b="b"/>
            <a:pathLst>
              <a:path w="3017" h="29">
                <a:moveTo>
                  <a:pt x="0" y="0"/>
                </a:moveTo>
                <a:lnTo>
                  <a:pt x="3017" y="0"/>
                </a:lnTo>
                <a:lnTo>
                  <a:pt x="301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6477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657080" y="1885680"/>
            <a:ext cx="1610280" cy="10440"/>
          </a:xfrm>
          <a:custGeom>
            <a:avLst/>
            <a:gdLst/>
            <a:ahLst/>
            <a:rect l="0" t="0" r="r" b="b"/>
            <a:pathLst>
              <a:path w="4473" h="29">
                <a:moveTo>
                  <a:pt x="0" y="0"/>
                </a:moveTo>
                <a:lnTo>
                  <a:pt x="4473" y="0"/>
                </a:lnTo>
                <a:lnTo>
                  <a:pt x="447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25728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267000" y="1885680"/>
            <a:ext cx="600480" cy="10440"/>
          </a:xfrm>
          <a:custGeom>
            <a:avLst/>
            <a:gdLst/>
            <a:ahLst/>
            <a:rect l="0" t="0" r="r" b="b"/>
            <a:pathLst>
              <a:path w="1668" h="29">
                <a:moveTo>
                  <a:pt x="0" y="0"/>
                </a:moveTo>
                <a:lnTo>
                  <a:pt x="1668" y="0"/>
                </a:lnTo>
                <a:lnTo>
                  <a:pt x="16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85740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71320" y="225720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657080" y="2257200"/>
            <a:ext cx="1610280" cy="10080"/>
          </a:xfrm>
          <a:custGeom>
            <a:avLst/>
            <a:gdLst/>
            <a:ahLst/>
            <a:rect l="0" t="0" r="r" b="b"/>
            <a:pathLst>
              <a:path w="4473" h="28">
                <a:moveTo>
                  <a:pt x="0" y="0"/>
                </a:moveTo>
                <a:lnTo>
                  <a:pt x="4473" y="0"/>
                </a:lnTo>
                <a:lnTo>
                  <a:pt x="4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3267000" y="22572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6477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25728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85740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71320" y="26287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6477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657080" y="262872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2572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267000" y="2628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8574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71320" y="300024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6477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657080" y="300024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32572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3267000" y="3000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38574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71320" y="337176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6477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657080" y="337176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32572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3267000" y="3371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38574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71320" y="374328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6477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657080" y="374328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32572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267000" y="3743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38574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71320" y="411444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6477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657080" y="4114440"/>
            <a:ext cx="1610280" cy="10080"/>
          </a:xfrm>
          <a:custGeom>
            <a:avLst/>
            <a:gdLst/>
            <a:ahLst/>
            <a:rect l="0" t="0" r="r" b="b"/>
            <a:pathLst>
              <a:path w="4473" h="28">
                <a:moveTo>
                  <a:pt x="0" y="0"/>
                </a:moveTo>
                <a:lnTo>
                  <a:pt x="4473" y="0"/>
                </a:lnTo>
                <a:lnTo>
                  <a:pt x="4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32572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3267000" y="4114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38574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571320" y="448596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6477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657080" y="4485960"/>
            <a:ext cx="1610280" cy="10080"/>
          </a:xfrm>
          <a:custGeom>
            <a:avLst/>
            <a:gdLst/>
            <a:ahLst/>
            <a:rect l="0" t="0" r="r" b="b"/>
            <a:pathLst>
              <a:path w="4473" h="28">
                <a:moveTo>
                  <a:pt x="0" y="0"/>
                </a:moveTo>
                <a:lnTo>
                  <a:pt x="4473" y="0"/>
                </a:lnTo>
                <a:lnTo>
                  <a:pt x="4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32572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267000" y="44859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38574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571320" y="48672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6477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1657080" y="486720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325728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3267000" y="4867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385740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71320" y="52387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1657080" y="5238720"/>
            <a:ext cx="1610280" cy="9720"/>
          </a:xfrm>
          <a:custGeom>
            <a:avLst/>
            <a:gdLst/>
            <a:ahLst/>
            <a:rect l="0" t="0" r="r" b="b"/>
            <a:pathLst>
              <a:path w="4473" h="27">
                <a:moveTo>
                  <a:pt x="0" y="0"/>
                </a:moveTo>
                <a:lnTo>
                  <a:pt x="4473" y="0"/>
                </a:lnTo>
                <a:lnTo>
                  <a:pt x="4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3267000" y="5238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71320" y="1297440"/>
            <a:ext cx="3280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照明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通⻛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强电清单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78020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规格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338940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04880" y="2323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轨道射灯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780200" y="2323440"/>
            <a:ext cx="139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 20W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389400" y="2323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0488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线性灯带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780200" y="2694960"/>
            <a:ext cx="126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 10 m/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38940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780200" y="3066120"/>
            <a:ext cx="51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389400" y="3066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048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排⻛机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780200" y="3437640"/>
            <a:ext cx="73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CFM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3389400" y="3437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0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新⻛系统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780200" y="3809160"/>
            <a:ext cx="77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m³/h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38940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04880" y="4180680"/>
            <a:ext cx="86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插座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78020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38940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04880" y="4552200"/>
            <a:ext cx="86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插座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780200" y="4552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389400" y="45522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04880" y="49330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⽹⼝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780200" y="4933080"/>
            <a:ext cx="1166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咨询⻆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3389400" y="49330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80680" y="2257200"/>
            <a:ext cx="514800" cy="381240"/>
          </a:xfrm>
          <a:custGeom>
            <a:avLst/>
            <a:gdLst/>
            <a:ahLst/>
            <a:rect l="0" t="0" r="r" b="b"/>
            <a:pathLst>
              <a:path w="1430" h="1059">
                <a:moveTo>
                  <a:pt x="0" y="0"/>
                </a:moveTo>
                <a:lnTo>
                  <a:pt x="1430" y="0"/>
                </a:lnTo>
                <a:lnTo>
                  <a:pt x="14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95120" y="2257200"/>
            <a:ext cx="2400840" cy="381240"/>
          </a:xfrm>
          <a:custGeom>
            <a:avLst/>
            <a:gdLst/>
            <a:ahLst/>
            <a:rect l="0" t="0" r="r" b="b"/>
            <a:pathLst>
              <a:path w="6669" h="1059">
                <a:moveTo>
                  <a:pt x="0" y="0"/>
                </a:moveTo>
                <a:lnTo>
                  <a:pt x="6669" y="0"/>
                </a:lnTo>
                <a:lnTo>
                  <a:pt x="666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80680" y="2257200"/>
            <a:ext cx="514800" cy="381240"/>
          </a:xfrm>
          <a:custGeom>
            <a:avLst/>
            <a:gdLst/>
            <a:ahLst/>
            <a:rect l="0" t="0" r="r" b="b"/>
            <a:pathLst>
              <a:path w="1430" h="1059">
                <a:moveTo>
                  <a:pt x="0" y="0"/>
                </a:moveTo>
                <a:lnTo>
                  <a:pt x="1430" y="0"/>
                </a:lnTo>
                <a:lnTo>
                  <a:pt x="14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095120" y="2257200"/>
            <a:ext cx="2400840" cy="381240"/>
          </a:xfrm>
          <a:custGeom>
            <a:avLst/>
            <a:gdLst/>
            <a:ahLst/>
            <a:rect l="0" t="0" r="r" b="b"/>
            <a:pathLst>
              <a:path w="6669" h="1059">
                <a:moveTo>
                  <a:pt x="0" y="0"/>
                </a:moveTo>
                <a:lnTo>
                  <a:pt x="6669" y="0"/>
                </a:lnTo>
                <a:lnTo>
                  <a:pt x="666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80680" y="26380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95120" y="263808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80680" y="300960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095120" y="300960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80680" y="338112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95120" y="338112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580680" y="375264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95120" y="375264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80680" y="412416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95120" y="412416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80680" y="44956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95120" y="449568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71320" y="225720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09512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104840" y="225720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349560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71320" y="262872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104840" y="262872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0951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349560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71320" y="300024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095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104840" y="300024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49560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71320" y="337176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095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104840" y="33717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49560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71320" y="374328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095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104840" y="374328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49560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71320" y="411444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095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104840" y="411444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349560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571320" y="448596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0951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104840" y="448596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49560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71320" y="486720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104840" y="486720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571320" y="1668600"/>
            <a:ext cx="2137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周⼯期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Gantt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2243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04880" y="2694960"/>
            <a:ext cx="2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224360" y="2694960"/>
            <a:ext cx="229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放线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⽔电改造粗装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04880" y="30661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224360" y="3066120"/>
            <a:ext cx="211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地⾯加固（⼒量区）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找平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04880" y="343764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224360" y="3437640"/>
            <a:ext cx="178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吸⾳板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04880" y="380916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224360" y="3809160"/>
            <a:ext cx="229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淋浴防⽔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04880" y="418068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224360" y="4180680"/>
            <a:ext cx="242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04880" y="455220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224360" y="4552200"/>
            <a:ext cx="1955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器械进场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清洁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验收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580680" y="188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038320" y="188568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80680" y="188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038320" y="188568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580680" y="225720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038320" y="2257200"/>
            <a:ext cx="2143440" cy="381240"/>
          </a:xfrm>
          <a:custGeom>
            <a:avLst/>
            <a:gdLst/>
            <a:ahLst/>
            <a:rect l="0" t="0" r="r" b="b"/>
            <a:pathLst>
              <a:path w="5954" h="1059">
                <a:moveTo>
                  <a:pt x="0" y="0"/>
                </a:moveTo>
                <a:lnTo>
                  <a:pt x="5954" y="0"/>
                </a:lnTo>
                <a:lnTo>
                  <a:pt x="595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80680" y="26380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038320" y="263808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580680" y="30096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038320" y="300960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80680" y="3381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038320" y="338112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580680" y="37526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038320" y="375264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580680" y="41241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038320" y="412416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580680" y="449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038320" y="449568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580680" y="48672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038320" y="4867200"/>
            <a:ext cx="2143440" cy="371880"/>
          </a:xfrm>
          <a:custGeom>
            <a:avLst/>
            <a:gdLst/>
            <a:ahLst/>
            <a:rect l="0" t="0" r="r" b="b"/>
            <a:pathLst>
              <a:path w="5954" h="1033">
                <a:moveTo>
                  <a:pt x="0" y="0"/>
                </a:moveTo>
                <a:lnTo>
                  <a:pt x="5954" y="0"/>
                </a:lnTo>
                <a:lnTo>
                  <a:pt x="5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571320" y="1885680"/>
            <a:ext cx="1467360" cy="10440"/>
          </a:xfrm>
          <a:custGeom>
            <a:avLst/>
            <a:gdLst/>
            <a:ahLst/>
            <a:rect l="0" t="0" r="r" b="b"/>
            <a:pathLst>
              <a:path w="4076" h="29">
                <a:moveTo>
                  <a:pt x="0" y="0"/>
                </a:moveTo>
                <a:lnTo>
                  <a:pt x="4076" y="0"/>
                </a:lnTo>
                <a:lnTo>
                  <a:pt x="407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02860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038320" y="1885680"/>
            <a:ext cx="2143440" cy="10440"/>
          </a:xfrm>
          <a:custGeom>
            <a:avLst/>
            <a:gdLst/>
            <a:ahLst/>
            <a:rect l="0" t="0" r="r" b="b"/>
            <a:pathLst>
              <a:path w="5954" h="29">
                <a:moveTo>
                  <a:pt x="0" y="0"/>
                </a:moveTo>
                <a:lnTo>
                  <a:pt x="5954" y="0"/>
                </a:lnTo>
                <a:lnTo>
                  <a:pt x="595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417168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71320" y="225720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038320" y="225720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02860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417168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571320" y="2628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0286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038320" y="262872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41716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571320" y="300024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0286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038320" y="300024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1716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71320" y="3371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0286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038320" y="337176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1716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571320" y="37432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0286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038320" y="374328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41716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571320" y="411444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0286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038320" y="411444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41716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571320" y="448596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0286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038320" y="448596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41716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571320" y="486720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02860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038320" y="486720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417168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571320" y="5238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038320" y="523872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571320" y="12974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验收标准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216216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标准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04880" y="2323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墙⾯平整度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162160" y="2323440"/>
            <a:ext cx="1147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≤ 3 mm / 2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70488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镜⾯拼缝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162160" y="2694960"/>
            <a:ext cx="64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≤ 2 mm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70488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⽊地板空⿎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162160" y="3066120"/>
            <a:ext cx="87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≤ 1%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704880" y="343764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⼒量区楼板加固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2162160" y="3437640"/>
            <a:ext cx="202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kg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静载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24h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⽆挠度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0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声学衰减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2162160" y="3809160"/>
            <a:ext cx="174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 → 瑜伽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dB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04880" y="418068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照度（⼒量区）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2162160" y="4180680"/>
            <a:ext cx="587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lux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04880" y="45522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照度（瑜伽区）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162160" y="4552200"/>
            <a:ext cx="587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lux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04880" y="49330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162160" y="4933080"/>
            <a:ext cx="116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≥ 30 m³/h/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71320" y="2876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28560" y="3276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838080" y="3171600"/>
            <a:ext cx="2762640" cy="276480"/>
          </a:xfrm>
          <a:custGeom>
            <a:avLst/>
            <a:gdLst/>
            <a:ahLst/>
            <a:rect l="0" t="0" r="r" b="b"/>
            <a:pathLst>
              <a:path w="7674" h="768">
                <a:moveTo>
                  <a:pt x="0" y="689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594" y="0"/>
                </a:lnTo>
                <a:cubicBezTo>
                  <a:pt x="7605" y="0"/>
                  <a:pt x="7615" y="2"/>
                  <a:pt x="7625" y="6"/>
                </a:cubicBezTo>
                <a:cubicBezTo>
                  <a:pt x="7634" y="10"/>
                  <a:pt x="7643" y="17"/>
                  <a:pt x="7651" y="24"/>
                </a:cubicBezTo>
                <a:cubicBezTo>
                  <a:pt x="7658" y="32"/>
                  <a:pt x="7664" y="40"/>
                  <a:pt x="7668" y="50"/>
                </a:cubicBezTo>
                <a:cubicBezTo>
                  <a:pt x="7672" y="60"/>
                  <a:pt x="7674" y="70"/>
                  <a:pt x="7674" y="80"/>
                </a:cubicBezTo>
                <a:lnTo>
                  <a:pt x="7674" y="689"/>
                </a:lnTo>
                <a:cubicBezTo>
                  <a:pt x="7674" y="700"/>
                  <a:pt x="7672" y="710"/>
                  <a:pt x="7668" y="719"/>
                </a:cubicBezTo>
                <a:cubicBezTo>
                  <a:pt x="7664" y="729"/>
                  <a:pt x="7658" y="738"/>
                  <a:pt x="7651" y="745"/>
                </a:cubicBezTo>
                <a:cubicBezTo>
                  <a:pt x="7643" y="753"/>
                  <a:pt x="7634" y="758"/>
                  <a:pt x="7625" y="762"/>
                </a:cubicBezTo>
                <a:cubicBezTo>
                  <a:pt x="7615" y="766"/>
                  <a:pt x="7605" y="768"/>
                  <a:pt x="7594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571320" y="1915920"/>
            <a:ext cx="30488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拿到的⽂件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895320" y="3187080"/>
            <a:ext cx="264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628560" y="3638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838080" y="3533760"/>
            <a:ext cx="3772080" cy="276480"/>
          </a:xfrm>
          <a:custGeom>
            <a:avLst/>
            <a:gdLst/>
            <a:ahLst/>
            <a:rect l="0" t="0" r="r" b="b"/>
            <a:pathLst>
              <a:path w="10478" h="768">
                <a:moveTo>
                  <a:pt x="0" y="688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399" y="0"/>
                </a:lnTo>
                <a:cubicBezTo>
                  <a:pt x="10409" y="0"/>
                  <a:pt x="10420" y="2"/>
                  <a:pt x="10429" y="6"/>
                </a:cubicBezTo>
                <a:cubicBezTo>
                  <a:pt x="10439" y="10"/>
                  <a:pt x="10448" y="15"/>
                  <a:pt x="10455" y="23"/>
                </a:cubicBezTo>
                <a:cubicBezTo>
                  <a:pt x="10463" y="30"/>
                  <a:pt x="10468" y="39"/>
                  <a:pt x="10472" y="49"/>
                </a:cubicBezTo>
                <a:cubicBezTo>
                  <a:pt x="10476" y="58"/>
                  <a:pt x="10478" y="68"/>
                  <a:pt x="10478" y="79"/>
                </a:cubicBezTo>
                <a:lnTo>
                  <a:pt x="10478" y="688"/>
                </a:lnTo>
                <a:cubicBezTo>
                  <a:pt x="10478" y="699"/>
                  <a:pt x="10476" y="709"/>
                  <a:pt x="10472" y="719"/>
                </a:cubicBezTo>
                <a:cubicBezTo>
                  <a:pt x="10468" y="729"/>
                  <a:pt x="10463" y="737"/>
                  <a:pt x="10455" y="745"/>
                </a:cubicBezTo>
                <a:cubicBezTo>
                  <a:pt x="10448" y="752"/>
                  <a:pt x="10439" y="758"/>
                  <a:pt x="10429" y="762"/>
                </a:cubicBezTo>
                <a:cubicBezTo>
                  <a:pt x="10420" y="766"/>
                  <a:pt x="10409" y="768"/>
                  <a:pt x="10399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601800" y="3159360"/>
            <a:ext cx="97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施⼯图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895320" y="3548880"/>
            <a:ext cx="3646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exports/05-fitness-studio.ifc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28560" y="4000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4611240" y="3521160"/>
            <a:ext cx="126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28560" y="4362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838080" y="3883320"/>
            <a:ext cx="210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PPTX —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节点速查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838080" y="4245120"/>
            <a:ext cx="3725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设计师对接窗⼝：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