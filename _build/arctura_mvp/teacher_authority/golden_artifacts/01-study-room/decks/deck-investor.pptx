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25524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B899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580680" y="4190760"/>
            <a:ext cx="1076760" cy="371880"/>
          </a:xfrm>
          <a:custGeom>
            <a:avLst/>
            <a:gdLst/>
            <a:ahLst/>
            <a:rect l="0" t="0" r="r" b="b"/>
            <a:pathLst>
              <a:path w="2991" h="1033">
                <a:moveTo>
                  <a:pt x="0" y="0"/>
                </a:moveTo>
                <a:lnTo>
                  <a:pt x="2991" y="0"/>
                </a:lnTo>
                <a:lnTo>
                  <a:pt x="29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657080" y="41907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2600280" y="4190760"/>
            <a:ext cx="1114560" cy="371880"/>
          </a:xfrm>
          <a:custGeom>
            <a:avLst/>
            <a:gdLst/>
            <a:ahLst/>
            <a:rect l="0" t="0" r="r" b="b"/>
            <a:pathLst>
              <a:path w="3096" h="1033">
                <a:moveTo>
                  <a:pt x="0" y="0"/>
                </a:moveTo>
                <a:lnTo>
                  <a:pt x="3096" y="0"/>
                </a:lnTo>
                <a:lnTo>
                  <a:pt x="309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80680" y="4190760"/>
            <a:ext cx="1076760" cy="371880"/>
          </a:xfrm>
          <a:custGeom>
            <a:avLst/>
            <a:gdLst/>
            <a:ahLst/>
            <a:rect l="0" t="0" r="r" b="b"/>
            <a:pathLst>
              <a:path w="2991" h="1033">
                <a:moveTo>
                  <a:pt x="0" y="0"/>
                </a:moveTo>
                <a:lnTo>
                  <a:pt x="2991" y="0"/>
                </a:lnTo>
                <a:lnTo>
                  <a:pt x="29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657080" y="41907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600280" y="4190760"/>
            <a:ext cx="1114560" cy="371880"/>
          </a:xfrm>
          <a:custGeom>
            <a:avLst/>
            <a:gdLst/>
            <a:ahLst/>
            <a:rect l="0" t="0" r="r" b="b"/>
            <a:pathLst>
              <a:path w="3096" h="1033">
                <a:moveTo>
                  <a:pt x="0" y="0"/>
                </a:moveTo>
                <a:lnTo>
                  <a:pt x="3096" y="0"/>
                </a:lnTo>
                <a:lnTo>
                  <a:pt x="309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580680" y="4562280"/>
            <a:ext cx="1076760" cy="371880"/>
          </a:xfrm>
          <a:custGeom>
            <a:avLst/>
            <a:gdLst/>
            <a:ahLst/>
            <a:rect l="0" t="0" r="r" b="b"/>
            <a:pathLst>
              <a:path w="2991" h="1033">
                <a:moveTo>
                  <a:pt x="0" y="0"/>
                </a:moveTo>
                <a:lnTo>
                  <a:pt x="2991" y="0"/>
                </a:lnTo>
                <a:lnTo>
                  <a:pt x="29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657080" y="45622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2600280" y="4562280"/>
            <a:ext cx="1114560" cy="371880"/>
          </a:xfrm>
          <a:custGeom>
            <a:avLst/>
            <a:gdLst/>
            <a:ahLst/>
            <a:rect l="0" t="0" r="r" b="b"/>
            <a:pathLst>
              <a:path w="3096" h="1033">
                <a:moveTo>
                  <a:pt x="0" y="0"/>
                </a:moveTo>
                <a:lnTo>
                  <a:pt x="3096" y="0"/>
                </a:lnTo>
                <a:lnTo>
                  <a:pt x="309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713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71320" y="418140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6477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657080" y="418140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259056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600280" y="4181400"/>
            <a:ext cx="1114560" cy="9720"/>
          </a:xfrm>
          <a:custGeom>
            <a:avLst/>
            <a:gdLst/>
            <a:ah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37051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71320" y="455292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657080" y="455292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2600280" y="4552920"/>
            <a:ext cx="1114560" cy="9720"/>
          </a:xfrm>
          <a:custGeom>
            <a:avLst/>
            <a:gdLst/>
            <a:ah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5713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6477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259056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37051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571320" y="4924080"/>
            <a:ext cx="1086120" cy="10080"/>
          </a:xfrm>
          <a:custGeom>
            <a:avLst/>
            <a:gdLst/>
            <a:ah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657080" y="4924080"/>
            <a:ext cx="943560" cy="10080"/>
          </a:xfrm>
          <a:custGeom>
            <a:avLst/>
            <a:gdLst/>
            <a:ahLst/>
            <a:rect l="0" t="0" r="r" b="b"/>
            <a:pathLst>
              <a:path w="2621" h="28">
                <a:moveTo>
                  <a:pt x="0" y="0"/>
                </a:moveTo>
                <a:lnTo>
                  <a:pt x="2621" y="0"/>
                </a:lnTo>
                <a:lnTo>
                  <a:pt x="2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600280" y="4924080"/>
            <a:ext cx="1114560" cy="10080"/>
          </a:xfrm>
          <a:custGeom>
            <a:avLst/>
            <a:gdLst/>
            <a:ahLst/>
            <a:rect l="0" t="0" r="r" b="b"/>
            <a:pathLst>
              <a:path w="3096" h="28">
                <a:moveTo>
                  <a:pt x="0" y="0"/>
                </a:moveTo>
                <a:lnTo>
                  <a:pt x="3096" y="0"/>
                </a:lnTo>
                <a:lnTo>
                  <a:pt x="30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71320" y="1592280"/>
            <a:ext cx="521208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驱动的家装设计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71320" y="2810520"/>
            <a:ext cx="456444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29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秒 出⼀套完整书房⽅案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71320" y="3396240"/>
            <a:ext cx="2210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投资⼈ 的产品演示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04880" y="42472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设计周期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784880" y="42472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交付格式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2727720" y="424728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可复制模板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04880" y="4618800"/>
            <a:ext cx="96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784880" y="4618800"/>
            <a:ext cx="719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类产物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727720" y="4618800"/>
            <a:ext cx="788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套业态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5840" y="199440"/>
            <a:ext cx="275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Studio Copilot 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286320" y="1916280"/>
            <a:ext cx="3646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市场机会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精装家装后市场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38080" y="4521240"/>
            <a:ext cx="518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市场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：中国家装后市场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万亿，存量房翻新年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CAGR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28560" y="5305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38080" y="4826160"/>
            <a:ext cx="516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~12%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38080" y="5187960"/>
            <a:ext cx="5386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痛点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：设计周期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2-4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¥5K-¥30K 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效果与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28560" y="5962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4"/>
                  <a:pt x="93" y="0"/>
                  <a:pt x="107" y="0"/>
                </a:cubicBezTo>
                <a:cubicBezTo>
                  <a:pt x="121" y="0"/>
                  <a:pt x="134" y="4"/>
                  <a:pt x="147" y="9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38080" y="549288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预期差距⼤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38080" y="5845320"/>
            <a:ext cx="5314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我们的切⼊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：⼩空间单品级改造（书房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卧室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阳台）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628560" y="66290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38080" y="6150240"/>
            <a:ext cx="1830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 客单价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5-15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38080" y="6512040"/>
            <a:ext cx="4302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样本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m²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书房，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¥78K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造价，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周完⼯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85840" y="199440"/>
            <a:ext cx="275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Studio Copilot 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5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286320" y="1916280"/>
            <a:ext cx="3073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产品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极简书房标准包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38080" y="4521240"/>
            <a:ext cx="2914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空间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m² (5.0×4.0×2.8 m)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28560" y="53625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838080" y="4883400"/>
            <a:ext cx="5049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功能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册书墙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⼯作桌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阅读⻆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隐藏收纳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28560" y="5724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838080" y="5245200"/>
            <a:ext cx="3540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⻛格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Japandi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（可切换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7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种⻛格）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838080" y="5607000"/>
            <a:ext cx="52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产物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模型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平⾯图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渲染图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BOQ · PPT × 8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838080" y="5902560"/>
            <a:ext cx="20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285840" y="199440"/>
            <a:ext cx="275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Studio Copilot 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3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286320" y="1916280"/>
            <a:ext cx="55047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核⼼差异化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AI 9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分钟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⾏业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2-4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838080" y="4521240"/>
            <a:ext cx="5156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传统流程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：初访 → 量房 → ⽅案 → 修改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3-5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轮 → 施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628560" y="5305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838080" y="4826160"/>
            <a:ext cx="1607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⼯图（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2-4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628560" y="56671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838080" y="5187960"/>
            <a:ext cx="4016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我们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brief.json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输⼊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9'29"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全套交付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838080" y="5550120"/>
            <a:ext cx="5320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修改成本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：传统每轮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2-3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天；我们改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个参数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28560" y="63244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838080" y="5845320"/>
            <a:ext cx="41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重出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838080" y="6207120"/>
            <a:ext cx="5135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护城河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套业态模板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CLI harness + stakeholder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838080" y="651204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⾃动化叙事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85840" y="199440"/>
            <a:ext cx="275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Studio Copilot 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71320" y="1935360"/>
            <a:ext cx="3359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单位经济模型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单套⽅案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71320" y="2516760"/>
            <a:ext cx="255096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¥9.5K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571320" y="361656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设计服务费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4330440" y="2516760"/>
            <a:ext cx="219528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¥400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4330440" y="3616560"/>
            <a:ext cx="2297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边际成本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算⼒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渲染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8089920" y="2516760"/>
            <a:ext cx="200880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96%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8089920" y="361656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⽑利率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571320" y="3997440"/>
            <a:ext cx="6105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年化收⼊假设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¥9.5K = ¥95K MRR · ¥1.14M ARR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571320" y="4302360"/>
            <a:ext cx="6205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规模化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个设计师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AI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可覆盖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⽉（传统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285840" y="199440"/>
            <a:ext cx="275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Studio Copilot 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580680" y="2447640"/>
            <a:ext cx="1581840" cy="371880"/>
          </a:xfrm>
          <a:custGeom>
            <a:avLst/>
            <a:gdLst/>
            <a:ahLst/>
            <a:rect l="0" t="0" r="r" b="b"/>
            <a:pathLst>
              <a:path w="4394" h="1033">
                <a:moveTo>
                  <a:pt x="0" y="0"/>
                </a:moveTo>
                <a:lnTo>
                  <a:pt x="4394" y="0"/>
                </a:lnTo>
                <a:lnTo>
                  <a:pt x="43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2162160" y="2447640"/>
            <a:ext cx="1324080" cy="371880"/>
          </a:xfrm>
          <a:custGeom>
            <a:avLst/>
            <a:gdLst/>
            <a:ahLst/>
            <a:rect l="0" t="0" r="r" b="b"/>
            <a:pathLst>
              <a:path w="3678" h="1033">
                <a:moveTo>
                  <a:pt x="0" y="0"/>
                </a:moveTo>
                <a:lnTo>
                  <a:pt x="3678" y="0"/>
                </a:lnTo>
                <a:lnTo>
                  <a:pt x="36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3485880" y="2447640"/>
            <a:ext cx="2495880" cy="371880"/>
          </a:xfrm>
          <a:custGeom>
            <a:avLst/>
            <a:gdLst/>
            <a:ahLst/>
            <a:rect l="0" t="0" r="r" b="b"/>
            <a:pathLst>
              <a:path w="6933" h="1033">
                <a:moveTo>
                  <a:pt x="0" y="0"/>
                </a:moveTo>
                <a:lnTo>
                  <a:pt x="6933" y="0"/>
                </a:lnTo>
                <a:lnTo>
                  <a:pt x="693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981400" y="2447640"/>
            <a:ext cx="2334240" cy="371880"/>
          </a:xfrm>
          <a:custGeom>
            <a:avLst/>
            <a:gdLst/>
            <a:ahLst/>
            <a:rect l="0" t="0" r="r" b="b"/>
            <a:pathLst>
              <a:path w="6484" h="1033">
                <a:moveTo>
                  <a:pt x="0" y="0"/>
                </a:moveTo>
                <a:lnTo>
                  <a:pt x="6484" y="0"/>
                </a:lnTo>
                <a:lnTo>
                  <a:pt x="648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80680" y="2447640"/>
            <a:ext cx="1581840" cy="371880"/>
          </a:xfrm>
          <a:custGeom>
            <a:avLst/>
            <a:gdLst/>
            <a:ahLst/>
            <a:rect l="0" t="0" r="r" b="b"/>
            <a:pathLst>
              <a:path w="4394" h="1033">
                <a:moveTo>
                  <a:pt x="0" y="0"/>
                </a:moveTo>
                <a:lnTo>
                  <a:pt x="4394" y="0"/>
                </a:lnTo>
                <a:lnTo>
                  <a:pt x="43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162160" y="2447640"/>
            <a:ext cx="1324080" cy="371880"/>
          </a:xfrm>
          <a:custGeom>
            <a:avLst/>
            <a:gdLst/>
            <a:ahLst/>
            <a:rect l="0" t="0" r="r" b="b"/>
            <a:pathLst>
              <a:path w="3678" h="1033">
                <a:moveTo>
                  <a:pt x="0" y="0"/>
                </a:moveTo>
                <a:lnTo>
                  <a:pt x="3678" y="0"/>
                </a:lnTo>
                <a:lnTo>
                  <a:pt x="36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3485880" y="2447640"/>
            <a:ext cx="2495880" cy="371880"/>
          </a:xfrm>
          <a:custGeom>
            <a:avLst/>
            <a:gdLst/>
            <a:ahLst/>
            <a:rect l="0" t="0" r="r" b="b"/>
            <a:pathLst>
              <a:path w="6933" h="1033">
                <a:moveTo>
                  <a:pt x="0" y="0"/>
                </a:moveTo>
                <a:lnTo>
                  <a:pt x="6933" y="0"/>
                </a:lnTo>
                <a:lnTo>
                  <a:pt x="693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981400" y="2447640"/>
            <a:ext cx="2334240" cy="371880"/>
          </a:xfrm>
          <a:custGeom>
            <a:avLst/>
            <a:gdLst/>
            <a:ahLst/>
            <a:rect l="0" t="0" r="r" b="b"/>
            <a:pathLst>
              <a:path w="6484" h="1033">
                <a:moveTo>
                  <a:pt x="0" y="0"/>
                </a:moveTo>
                <a:lnTo>
                  <a:pt x="6484" y="0"/>
                </a:lnTo>
                <a:lnTo>
                  <a:pt x="648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80680" y="2819160"/>
            <a:ext cx="1581840" cy="371880"/>
          </a:xfrm>
          <a:custGeom>
            <a:avLst/>
            <a:gdLst/>
            <a:ahLst/>
            <a:rect l="0" t="0" r="r" b="b"/>
            <a:pathLst>
              <a:path w="4394" h="1033">
                <a:moveTo>
                  <a:pt x="0" y="0"/>
                </a:moveTo>
                <a:lnTo>
                  <a:pt x="4394" y="0"/>
                </a:lnTo>
                <a:lnTo>
                  <a:pt x="43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162160" y="2819160"/>
            <a:ext cx="1324080" cy="371880"/>
          </a:xfrm>
          <a:custGeom>
            <a:avLst/>
            <a:gdLst/>
            <a:ahLst/>
            <a:rect l="0" t="0" r="r" b="b"/>
            <a:pathLst>
              <a:path w="3678" h="1033">
                <a:moveTo>
                  <a:pt x="0" y="0"/>
                </a:moveTo>
                <a:lnTo>
                  <a:pt x="3678" y="0"/>
                </a:lnTo>
                <a:lnTo>
                  <a:pt x="36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3485880" y="2819160"/>
            <a:ext cx="2495880" cy="371880"/>
          </a:xfrm>
          <a:custGeom>
            <a:avLst/>
            <a:gdLst/>
            <a:ahLst/>
            <a:rect l="0" t="0" r="r" b="b"/>
            <a:pathLst>
              <a:path w="6933" h="1033">
                <a:moveTo>
                  <a:pt x="0" y="0"/>
                </a:moveTo>
                <a:lnTo>
                  <a:pt x="6933" y="0"/>
                </a:lnTo>
                <a:lnTo>
                  <a:pt x="693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5981400" y="2819160"/>
            <a:ext cx="2334240" cy="371880"/>
          </a:xfrm>
          <a:custGeom>
            <a:avLst/>
            <a:gdLst/>
            <a:ahLst/>
            <a:rect l="0" t="0" r="r" b="b"/>
            <a:pathLst>
              <a:path w="6484" h="1033">
                <a:moveTo>
                  <a:pt x="0" y="0"/>
                </a:moveTo>
                <a:lnTo>
                  <a:pt x="6484" y="0"/>
                </a:lnTo>
                <a:lnTo>
                  <a:pt x="648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580680" y="3190680"/>
            <a:ext cx="1581840" cy="371880"/>
          </a:xfrm>
          <a:custGeom>
            <a:avLst/>
            <a:gdLst/>
            <a:ahLst/>
            <a:rect l="0" t="0" r="r" b="b"/>
            <a:pathLst>
              <a:path w="4394" h="1033">
                <a:moveTo>
                  <a:pt x="0" y="0"/>
                </a:moveTo>
                <a:lnTo>
                  <a:pt x="4394" y="0"/>
                </a:lnTo>
                <a:lnTo>
                  <a:pt x="43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162160" y="3190680"/>
            <a:ext cx="1324080" cy="371880"/>
          </a:xfrm>
          <a:custGeom>
            <a:avLst/>
            <a:gdLst/>
            <a:ahLst/>
            <a:rect l="0" t="0" r="r" b="b"/>
            <a:pathLst>
              <a:path w="3678" h="1033">
                <a:moveTo>
                  <a:pt x="0" y="0"/>
                </a:moveTo>
                <a:lnTo>
                  <a:pt x="3678" y="0"/>
                </a:lnTo>
                <a:lnTo>
                  <a:pt x="36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3485880" y="3190680"/>
            <a:ext cx="2495880" cy="371880"/>
          </a:xfrm>
          <a:custGeom>
            <a:avLst/>
            <a:gdLst/>
            <a:ahLst/>
            <a:rect l="0" t="0" r="r" b="b"/>
            <a:pathLst>
              <a:path w="6933" h="1033">
                <a:moveTo>
                  <a:pt x="0" y="0"/>
                </a:moveTo>
                <a:lnTo>
                  <a:pt x="6933" y="0"/>
                </a:lnTo>
                <a:lnTo>
                  <a:pt x="693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5981400" y="3190680"/>
            <a:ext cx="2334240" cy="371880"/>
          </a:xfrm>
          <a:custGeom>
            <a:avLst/>
            <a:gdLst/>
            <a:ahLst/>
            <a:rect l="0" t="0" r="r" b="b"/>
            <a:pathLst>
              <a:path w="6484" h="1033">
                <a:moveTo>
                  <a:pt x="0" y="0"/>
                </a:moveTo>
                <a:lnTo>
                  <a:pt x="6484" y="0"/>
                </a:lnTo>
                <a:lnTo>
                  <a:pt x="648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580680" y="3562200"/>
            <a:ext cx="1581840" cy="371880"/>
          </a:xfrm>
          <a:custGeom>
            <a:avLst/>
            <a:gdLst/>
            <a:ahLst/>
            <a:rect l="0" t="0" r="r" b="b"/>
            <a:pathLst>
              <a:path w="4394" h="1033">
                <a:moveTo>
                  <a:pt x="0" y="0"/>
                </a:moveTo>
                <a:lnTo>
                  <a:pt x="4394" y="0"/>
                </a:lnTo>
                <a:lnTo>
                  <a:pt x="43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162160" y="3562200"/>
            <a:ext cx="1324080" cy="371880"/>
          </a:xfrm>
          <a:custGeom>
            <a:avLst/>
            <a:gdLst/>
            <a:ahLst/>
            <a:rect l="0" t="0" r="r" b="b"/>
            <a:pathLst>
              <a:path w="3678" h="1033">
                <a:moveTo>
                  <a:pt x="0" y="0"/>
                </a:moveTo>
                <a:lnTo>
                  <a:pt x="3678" y="0"/>
                </a:lnTo>
                <a:lnTo>
                  <a:pt x="36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3485880" y="3562200"/>
            <a:ext cx="2495880" cy="371880"/>
          </a:xfrm>
          <a:custGeom>
            <a:avLst/>
            <a:gdLst/>
            <a:ahLst/>
            <a:rect l="0" t="0" r="r" b="b"/>
            <a:pathLst>
              <a:path w="6933" h="1033">
                <a:moveTo>
                  <a:pt x="0" y="0"/>
                </a:moveTo>
                <a:lnTo>
                  <a:pt x="6933" y="0"/>
                </a:lnTo>
                <a:lnTo>
                  <a:pt x="693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5981400" y="3562200"/>
            <a:ext cx="2334240" cy="371880"/>
          </a:xfrm>
          <a:custGeom>
            <a:avLst/>
            <a:gdLst/>
            <a:ahLst/>
            <a:rect l="0" t="0" r="r" b="b"/>
            <a:pathLst>
              <a:path w="6484" h="1033">
                <a:moveTo>
                  <a:pt x="0" y="0"/>
                </a:moveTo>
                <a:lnTo>
                  <a:pt x="6484" y="0"/>
                </a:lnTo>
                <a:lnTo>
                  <a:pt x="648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580680" y="3933720"/>
            <a:ext cx="1581840" cy="371880"/>
          </a:xfrm>
          <a:custGeom>
            <a:avLst/>
            <a:gdLst/>
            <a:ahLst/>
            <a:rect l="0" t="0" r="r" b="b"/>
            <a:pathLst>
              <a:path w="4394" h="1033">
                <a:moveTo>
                  <a:pt x="0" y="0"/>
                </a:moveTo>
                <a:lnTo>
                  <a:pt x="4394" y="0"/>
                </a:lnTo>
                <a:lnTo>
                  <a:pt x="43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162160" y="3933720"/>
            <a:ext cx="1324080" cy="371880"/>
          </a:xfrm>
          <a:custGeom>
            <a:avLst/>
            <a:gdLst/>
            <a:ahLst/>
            <a:rect l="0" t="0" r="r" b="b"/>
            <a:pathLst>
              <a:path w="3678" h="1033">
                <a:moveTo>
                  <a:pt x="0" y="0"/>
                </a:moveTo>
                <a:lnTo>
                  <a:pt x="3678" y="0"/>
                </a:lnTo>
                <a:lnTo>
                  <a:pt x="36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3485880" y="3933720"/>
            <a:ext cx="2495880" cy="371880"/>
          </a:xfrm>
          <a:custGeom>
            <a:avLst/>
            <a:gdLst/>
            <a:ahLst/>
            <a:rect l="0" t="0" r="r" b="b"/>
            <a:pathLst>
              <a:path w="6933" h="1033">
                <a:moveTo>
                  <a:pt x="0" y="0"/>
                </a:moveTo>
                <a:lnTo>
                  <a:pt x="6933" y="0"/>
                </a:lnTo>
                <a:lnTo>
                  <a:pt x="693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5981400" y="3933720"/>
            <a:ext cx="2334240" cy="371880"/>
          </a:xfrm>
          <a:custGeom>
            <a:avLst/>
            <a:gdLst/>
            <a:ahLst/>
            <a:rect l="0" t="0" r="r" b="b"/>
            <a:pathLst>
              <a:path w="6484" h="1033">
                <a:moveTo>
                  <a:pt x="0" y="0"/>
                </a:moveTo>
                <a:lnTo>
                  <a:pt x="6484" y="0"/>
                </a:lnTo>
                <a:lnTo>
                  <a:pt x="648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80680" y="4305240"/>
            <a:ext cx="1581840" cy="381240"/>
          </a:xfrm>
          <a:custGeom>
            <a:avLst/>
            <a:gdLst/>
            <a:ahLst/>
            <a:rect l="0" t="0" r="r" b="b"/>
            <a:pathLst>
              <a:path w="4394" h="1059">
                <a:moveTo>
                  <a:pt x="0" y="0"/>
                </a:moveTo>
                <a:lnTo>
                  <a:pt x="4394" y="0"/>
                </a:lnTo>
                <a:lnTo>
                  <a:pt x="439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2162160" y="4305240"/>
            <a:ext cx="1324080" cy="381240"/>
          </a:xfrm>
          <a:custGeom>
            <a:avLst/>
            <a:gdLst/>
            <a:ahLst/>
            <a:rect l="0" t="0" r="r" b="b"/>
            <a:pathLst>
              <a:path w="3678" h="1059">
                <a:moveTo>
                  <a:pt x="0" y="0"/>
                </a:moveTo>
                <a:lnTo>
                  <a:pt x="3678" y="0"/>
                </a:lnTo>
                <a:lnTo>
                  <a:pt x="367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3485880" y="4305240"/>
            <a:ext cx="2495880" cy="381240"/>
          </a:xfrm>
          <a:custGeom>
            <a:avLst/>
            <a:gdLst/>
            <a:ahLst/>
            <a:rect l="0" t="0" r="r" b="b"/>
            <a:pathLst>
              <a:path w="6933" h="1059">
                <a:moveTo>
                  <a:pt x="0" y="0"/>
                </a:moveTo>
                <a:lnTo>
                  <a:pt x="6933" y="0"/>
                </a:lnTo>
                <a:lnTo>
                  <a:pt x="693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5981400" y="4305240"/>
            <a:ext cx="2334240" cy="381240"/>
          </a:xfrm>
          <a:custGeom>
            <a:avLst/>
            <a:gdLst/>
            <a:ahLst/>
            <a:rect l="0" t="0" r="r" b="b"/>
            <a:pathLst>
              <a:path w="6484" h="1059">
                <a:moveTo>
                  <a:pt x="0" y="0"/>
                </a:moveTo>
                <a:lnTo>
                  <a:pt x="6484" y="0"/>
                </a:lnTo>
                <a:lnTo>
                  <a:pt x="648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571320" y="243828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215244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2162160" y="2438280"/>
            <a:ext cx="1324080" cy="9720"/>
          </a:xfrm>
          <a:custGeom>
            <a:avLst/>
            <a:gdLst/>
            <a:ahLst/>
            <a:rect l="0" t="0" r="r" b="b"/>
            <a:pathLst>
              <a:path w="3678" h="27">
                <a:moveTo>
                  <a:pt x="0" y="0"/>
                </a:moveTo>
                <a:lnTo>
                  <a:pt x="3678" y="0"/>
                </a:lnTo>
                <a:lnTo>
                  <a:pt x="36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34765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3485880" y="243828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97204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5981400" y="2438280"/>
            <a:ext cx="2334240" cy="9720"/>
          </a:xfrm>
          <a:custGeom>
            <a:avLst/>
            <a:gdLst/>
            <a:ahLst/>
            <a:rect l="0" t="0" r="r" b="b"/>
            <a:pathLst>
              <a:path w="6484" h="27">
                <a:moveTo>
                  <a:pt x="0" y="0"/>
                </a:moveTo>
                <a:lnTo>
                  <a:pt x="6484" y="0"/>
                </a:lnTo>
                <a:lnTo>
                  <a:pt x="64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830556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571320" y="2819160"/>
            <a:ext cx="1591200" cy="10080"/>
          </a:xfrm>
          <a:custGeom>
            <a:avLst/>
            <a:gdLst/>
            <a:ahLst/>
            <a:rect l="0" t="0" r="r" b="b"/>
            <a:pathLst>
              <a:path w="4420" h="28">
                <a:moveTo>
                  <a:pt x="0" y="0"/>
                </a:moveTo>
                <a:lnTo>
                  <a:pt x="4420" y="0"/>
                </a:lnTo>
                <a:lnTo>
                  <a:pt x="44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2162160" y="2819160"/>
            <a:ext cx="1324080" cy="10080"/>
          </a:xfrm>
          <a:custGeom>
            <a:avLst/>
            <a:gdLst/>
            <a:ahLst/>
            <a:rect l="0" t="0" r="r" b="b"/>
            <a:pathLst>
              <a:path w="3678" h="28">
                <a:moveTo>
                  <a:pt x="0" y="0"/>
                </a:moveTo>
                <a:lnTo>
                  <a:pt x="3678" y="0"/>
                </a:lnTo>
                <a:lnTo>
                  <a:pt x="36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3485880" y="2819160"/>
            <a:ext cx="2495880" cy="10080"/>
          </a:xfrm>
          <a:custGeom>
            <a:avLst/>
            <a:gdLst/>
            <a:ahLst/>
            <a:rect l="0" t="0" r="r" b="b"/>
            <a:pathLst>
              <a:path w="6933" h="28">
                <a:moveTo>
                  <a:pt x="0" y="0"/>
                </a:moveTo>
                <a:lnTo>
                  <a:pt x="6933" y="0"/>
                </a:lnTo>
                <a:lnTo>
                  <a:pt x="69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5981400" y="2819160"/>
            <a:ext cx="2334240" cy="10080"/>
          </a:xfrm>
          <a:custGeom>
            <a:avLst/>
            <a:gdLst/>
            <a:ahLst/>
            <a:rect l="0" t="0" r="r" b="b"/>
            <a:pathLst>
              <a:path w="6484" h="28">
                <a:moveTo>
                  <a:pt x="0" y="0"/>
                </a:moveTo>
                <a:lnTo>
                  <a:pt x="6484" y="0"/>
                </a:lnTo>
                <a:lnTo>
                  <a:pt x="64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215244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34765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597204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830556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571320" y="319068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215244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2162160" y="3190680"/>
            <a:ext cx="1324080" cy="9720"/>
          </a:xfrm>
          <a:custGeom>
            <a:avLst/>
            <a:gdLst/>
            <a:ahLst/>
            <a:rect l="0" t="0" r="r" b="b"/>
            <a:pathLst>
              <a:path w="3678" h="27">
                <a:moveTo>
                  <a:pt x="0" y="0"/>
                </a:moveTo>
                <a:lnTo>
                  <a:pt x="3678" y="0"/>
                </a:lnTo>
                <a:lnTo>
                  <a:pt x="36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34765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3485880" y="319068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97204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5981400" y="3190680"/>
            <a:ext cx="2334240" cy="9720"/>
          </a:xfrm>
          <a:custGeom>
            <a:avLst/>
            <a:gdLst/>
            <a:ahLst/>
            <a:rect l="0" t="0" r="r" b="b"/>
            <a:pathLst>
              <a:path w="6484" h="27">
                <a:moveTo>
                  <a:pt x="0" y="0"/>
                </a:moveTo>
                <a:lnTo>
                  <a:pt x="6484" y="0"/>
                </a:lnTo>
                <a:lnTo>
                  <a:pt x="64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830556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571320" y="356220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215244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2162160" y="3562200"/>
            <a:ext cx="1324080" cy="9720"/>
          </a:xfrm>
          <a:custGeom>
            <a:avLst/>
            <a:gdLst/>
            <a:ahLst/>
            <a:rect l="0" t="0" r="r" b="b"/>
            <a:pathLst>
              <a:path w="3678" h="27">
                <a:moveTo>
                  <a:pt x="0" y="0"/>
                </a:moveTo>
                <a:lnTo>
                  <a:pt x="3678" y="0"/>
                </a:lnTo>
                <a:lnTo>
                  <a:pt x="36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34765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3485880" y="356220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597204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981400" y="3562200"/>
            <a:ext cx="2334240" cy="9720"/>
          </a:xfrm>
          <a:custGeom>
            <a:avLst/>
            <a:gdLst/>
            <a:ahLst/>
            <a:rect l="0" t="0" r="r" b="b"/>
            <a:pathLst>
              <a:path w="6484" h="27">
                <a:moveTo>
                  <a:pt x="0" y="0"/>
                </a:moveTo>
                <a:lnTo>
                  <a:pt x="6484" y="0"/>
                </a:lnTo>
                <a:lnTo>
                  <a:pt x="64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830556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71320" y="393372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215244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2162160" y="3933720"/>
            <a:ext cx="1324080" cy="9720"/>
          </a:xfrm>
          <a:custGeom>
            <a:avLst/>
            <a:gdLst/>
            <a:ahLst/>
            <a:rect l="0" t="0" r="r" b="b"/>
            <a:pathLst>
              <a:path w="3678" h="27">
                <a:moveTo>
                  <a:pt x="0" y="0"/>
                </a:moveTo>
                <a:lnTo>
                  <a:pt x="3678" y="0"/>
                </a:lnTo>
                <a:lnTo>
                  <a:pt x="36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34765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3485880" y="393372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597204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5981400" y="3933720"/>
            <a:ext cx="2334240" cy="9720"/>
          </a:xfrm>
          <a:custGeom>
            <a:avLst/>
            <a:gdLst/>
            <a:ahLst/>
            <a:rect l="0" t="0" r="r" b="b"/>
            <a:pathLst>
              <a:path w="6484" h="27">
                <a:moveTo>
                  <a:pt x="0" y="0"/>
                </a:moveTo>
                <a:lnTo>
                  <a:pt x="6484" y="0"/>
                </a:lnTo>
                <a:lnTo>
                  <a:pt x="64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830556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571320" y="430524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215244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2162160" y="4305240"/>
            <a:ext cx="1324080" cy="9720"/>
          </a:xfrm>
          <a:custGeom>
            <a:avLst/>
            <a:gdLst/>
            <a:ahLst/>
            <a:rect l="0" t="0" r="r" b="b"/>
            <a:pathLst>
              <a:path w="3678" h="27">
                <a:moveTo>
                  <a:pt x="0" y="0"/>
                </a:moveTo>
                <a:lnTo>
                  <a:pt x="3678" y="0"/>
                </a:lnTo>
                <a:lnTo>
                  <a:pt x="36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34765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3485880" y="430524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597204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5981400" y="4305240"/>
            <a:ext cx="2334240" cy="9720"/>
          </a:xfrm>
          <a:custGeom>
            <a:avLst/>
            <a:gdLst/>
            <a:ahLst/>
            <a:rect l="0" t="0" r="r" b="b"/>
            <a:pathLst>
              <a:path w="6484" h="27">
                <a:moveTo>
                  <a:pt x="0" y="0"/>
                </a:moveTo>
                <a:lnTo>
                  <a:pt x="6484" y="0"/>
                </a:lnTo>
                <a:lnTo>
                  <a:pt x="64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830556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571320" y="467676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2162160" y="4676760"/>
            <a:ext cx="1324080" cy="9720"/>
          </a:xfrm>
          <a:custGeom>
            <a:avLst/>
            <a:gdLst/>
            <a:ahLst/>
            <a:rect l="0" t="0" r="r" b="b"/>
            <a:pathLst>
              <a:path w="3678" h="27">
                <a:moveTo>
                  <a:pt x="0" y="0"/>
                </a:moveTo>
                <a:lnTo>
                  <a:pt x="3678" y="0"/>
                </a:lnTo>
                <a:lnTo>
                  <a:pt x="36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3485880" y="467676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981400" y="4676760"/>
            <a:ext cx="2334240" cy="9720"/>
          </a:xfrm>
          <a:custGeom>
            <a:avLst/>
            <a:gdLst/>
            <a:ahLst/>
            <a:rect l="0" t="0" r="r" b="b"/>
            <a:pathLst>
              <a:path w="6484" h="27">
                <a:moveTo>
                  <a:pt x="0" y="0"/>
                </a:moveTo>
                <a:lnTo>
                  <a:pt x="6484" y="0"/>
                </a:lnTo>
                <a:lnTo>
                  <a:pt x="64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571320" y="1859400"/>
            <a:ext cx="1617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⾏业对标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维度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2290680" y="250416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传统设计公司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3613680" y="2504160"/>
            <a:ext cx="232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互联⽹家装（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e.g. </a:t>
            </a:r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美家达⼈）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6108480" y="2504160"/>
            <a:ext cx="1166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Studio Copilot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704880" y="28854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设计周期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2290680" y="2885400"/>
            <a:ext cx="58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2-4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3613680" y="2885400"/>
            <a:ext cx="575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3-7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108480" y="2885400"/>
            <a:ext cx="54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分钟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04880" y="32569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2290680" y="3256920"/>
            <a:ext cx="851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¥5K-¥30K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3613680" y="3256920"/>
            <a:ext cx="749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¥2K-¥8K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6108480" y="3256920"/>
            <a:ext cx="476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¥9.5K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704880" y="36284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修改成本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2290680" y="36284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⾼（重画）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3613680" y="362844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中（模板替换）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6108480" y="36284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低（重跑）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704880" y="39996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交付格式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2290680" y="3999600"/>
            <a:ext cx="115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2D 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简单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3613680" y="3999600"/>
            <a:ext cx="806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渲染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108480" y="3999600"/>
            <a:ext cx="2068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DXF/GLB/OBJ/FBX/IFC4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04880" y="4371120"/>
            <a:ext cx="132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Stakeholder PPT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2290680" y="43711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需另付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3613680" y="43711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6108480" y="4371120"/>
            <a:ext cx="719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套⾃动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285840" y="199440"/>
            <a:ext cx="275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Studio Copilot 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75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6286320" y="1916280"/>
            <a:ext cx="3932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样板间已成型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⼯业标准交付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838080" y="4521240"/>
            <a:ext cx="5088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模型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个物件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9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种材质（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PBR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参数完整）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628560" y="53625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838080" y="4883400"/>
            <a:ext cx="4605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2D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图纸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ﬂoorplan.svg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Inkscape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继续深化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628560" y="5724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838080" y="5245200"/>
            <a:ext cx="431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BOQ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⼤项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¥78K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明细，可直接对接总包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838080" y="5607000"/>
            <a:ext cx="5474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PPT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套差异化叙事（客户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投资⼈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施⼯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BIM /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838080" y="5902560"/>
            <a:ext cx="909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营销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...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285840" y="199440"/>
            <a:ext cx="275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Studio Copilot 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576000" y="2566800"/>
            <a:ext cx="11039760" cy="1543320"/>
          </a:xfrm>
          <a:custGeom>
            <a:avLst/>
            <a:gdLst/>
            <a:ahLst/>
            <a:rect l="0" t="0" r="r" b="b"/>
            <a:pathLst>
              <a:path w="30666" h="4287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4142"/>
                </a:lnTo>
                <a:cubicBezTo>
                  <a:pt x="30666" y="4151"/>
                  <a:pt x="30665" y="4161"/>
                  <a:pt x="30664" y="4170"/>
                </a:cubicBezTo>
                <a:cubicBezTo>
                  <a:pt x="30662" y="4180"/>
                  <a:pt x="30659" y="4189"/>
                  <a:pt x="30655" y="4197"/>
                </a:cubicBezTo>
                <a:cubicBezTo>
                  <a:pt x="30652" y="4206"/>
                  <a:pt x="30647" y="4215"/>
                  <a:pt x="30642" y="4223"/>
                </a:cubicBezTo>
                <a:cubicBezTo>
                  <a:pt x="30637" y="4231"/>
                  <a:pt x="30631" y="4238"/>
                  <a:pt x="30624" y="4245"/>
                </a:cubicBezTo>
                <a:cubicBezTo>
                  <a:pt x="30617" y="4251"/>
                  <a:pt x="30610" y="4257"/>
                  <a:pt x="30602" y="4263"/>
                </a:cubicBezTo>
                <a:cubicBezTo>
                  <a:pt x="30594" y="4268"/>
                  <a:pt x="30585" y="4273"/>
                  <a:pt x="30577" y="4276"/>
                </a:cubicBezTo>
                <a:cubicBezTo>
                  <a:pt x="30568" y="4280"/>
                  <a:pt x="30559" y="4283"/>
                  <a:pt x="30549" y="4284"/>
                </a:cubicBezTo>
                <a:cubicBezTo>
                  <a:pt x="30540" y="4286"/>
                  <a:pt x="30530" y="4287"/>
                  <a:pt x="30521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7" y="4284"/>
                </a:cubicBezTo>
                <a:cubicBezTo>
                  <a:pt x="108" y="4283"/>
                  <a:pt x="99" y="4280"/>
                  <a:pt x="90" y="4276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7"/>
                  <a:pt x="50" y="4251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19" y="4215"/>
                  <a:pt x="15" y="4206"/>
                  <a:pt x="11" y="4197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1"/>
                  <a:pt x="0" y="414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576000" y="2566800"/>
            <a:ext cx="11039760" cy="1543320"/>
          </a:xfrm>
          <a:custGeom>
            <a:avLst/>
            <a:gdLst/>
            <a:ahLst/>
            <a:rect l="0" t="0" r="r" b="b"/>
            <a:pathLst>
              <a:path w="30666" h="4287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4142"/>
                </a:lnTo>
                <a:cubicBezTo>
                  <a:pt x="30666" y="4151"/>
                  <a:pt x="30665" y="4161"/>
                  <a:pt x="30664" y="4170"/>
                </a:cubicBezTo>
                <a:cubicBezTo>
                  <a:pt x="30662" y="4180"/>
                  <a:pt x="30659" y="4189"/>
                  <a:pt x="30655" y="4197"/>
                </a:cubicBezTo>
                <a:cubicBezTo>
                  <a:pt x="30652" y="4206"/>
                  <a:pt x="30647" y="4215"/>
                  <a:pt x="30642" y="4223"/>
                </a:cubicBezTo>
                <a:cubicBezTo>
                  <a:pt x="30637" y="4231"/>
                  <a:pt x="30631" y="4238"/>
                  <a:pt x="30624" y="4245"/>
                </a:cubicBezTo>
                <a:cubicBezTo>
                  <a:pt x="30617" y="4251"/>
                  <a:pt x="30610" y="4257"/>
                  <a:pt x="30602" y="4263"/>
                </a:cubicBezTo>
                <a:cubicBezTo>
                  <a:pt x="30594" y="4268"/>
                  <a:pt x="30585" y="4273"/>
                  <a:pt x="30577" y="4276"/>
                </a:cubicBezTo>
                <a:cubicBezTo>
                  <a:pt x="30568" y="4280"/>
                  <a:pt x="30559" y="4283"/>
                  <a:pt x="30549" y="4284"/>
                </a:cubicBezTo>
                <a:cubicBezTo>
                  <a:pt x="30540" y="4286"/>
                  <a:pt x="30530" y="4287"/>
                  <a:pt x="30521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7" y="4284"/>
                </a:cubicBezTo>
                <a:cubicBezTo>
                  <a:pt x="108" y="4283"/>
                  <a:pt x="99" y="4280"/>
                  <a:pt x="90" y="4276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7"/>
                  <a:pt x="50" y="4251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19" y="4215"/>
                  <a:pt x="15" y="4206"/>
                  <a:pt x="11" y="4197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1"/>
                  <a:pt x="0" y="414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571320" y="1973520"/>
            <a:ext cx="2421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周从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0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到⼊住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733320" y="2720880"/>
            <a:ext cx="644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W1  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377000" y="269712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需求输⼊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2089440" y="2720880"/>
            <a:ext cx="644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AI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2732760" y="2697120"/>
            <a:ext cx="892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⽅案⽣成（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3623400" y="2720880"/>
            <a:ext cx="215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9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3837960" y="269712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分钟）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733320" y="2930400"/>
            <a:ext cx="644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W2  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377000" y="2907000"/>
            <a:ext cx="12488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客户确认决策点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623680" y="293040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2945520" y="290700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⽅案微调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733320" y="3130200"/>
            <a:ext cx="644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W3-4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377000" y="3106800"/>
            <a:ext cx="892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施⼯图深化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2267280" y="313020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2589120" y="310680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材料招标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733320" y="3340080"/>
            <a:ext cx="644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W5-8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377000" y="331632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施⼯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733040" y="334008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2054880" y="3316320"/>
            <a:ext cx="892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安装（硬装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2945520" y="334008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4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3267000" y="331632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周）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733320" y="3539880"/>
            <a:ext cx="644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W9  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377000" y="351648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软装进场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2089440" y="353988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2410920" y="351648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调整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733320" y="3749400"/>
            <a:ext cx="644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W10 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1377000" y="372600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⼊住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571320" y="4264200"/>
            <a:ext cx="8132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环节只占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1/10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，其余是真实世界物理施⼯ — 但这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1/10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是设计⾏业最贵的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1/10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285840" y="199440"/>
            <a:ext cx="275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Studio Copilot 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580680" y="2257200"/>
            <a:ext cx="2200680" cy="381240"/>
          </a:xfrm>
          <a:custGeom>
            <a:avLst/>
            <a:gdLst/>
            <a:ahLst/>
            <a:rect l="0" t="0" r="r" b="b"/>
            <a:pathLst>
              <a:path w="6113" h="1059">
                <a:moveTo>
                  <a:pt x="0" y="0"/>
                </a:moveTo>
                <a:lnTo>
                  <a:pt x="6113" y="0"/>
                </a:lnTo>
                <a:lnTo>
                  <a:pt x="611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2781000" y="2257200"/>
            <a:ext cx="2524680" cy="381240"/>
          </a:xfrm>
          <a:custGeom>
            <a:avLst/>
            <a:gdLst/>
            <a:ahLst/>
            <a:rect l="0" t="0" r="r" b="b"/>
            <a:pathLst>
              <a:path w="7013" h="1059">
                <a:moveTo>
                  <a:pt x="0" y="0"/>
                </a:moveTo>
                <a:lnTo>
                  <a:pt x="7013" y="0"/>
                </a:lnTo>
                <a:lnTo>
                  <a:pt x="701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580680" y="2257200"/>
            <a:ext cx="2200680" cy="381240"/>
          </a:xfrm>
          <a:custGeom>
            <a:avLst/>
            <a:gdLst/>
            <a:ahLst/>
            <a:rect l="0" t="0" r="r" b="b"/>
            <a:pathLst>
              <a:path w="6113" h="1059">
                <a:moveTo>
                  <a:pt x="0" y="0"/>
                </a:moveTo>
                <a:lnTo>
                  <a:pt x="6113" y="0"/>
                </a:lnTo>
                <a:lnTo>
                  <a:pt x="611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2781000" y="2257200"/>
            <a:ext cx="2524680" cy="381240"/>
          </a:xfrm>
          <a:custGeom>
            <a:avLst/>
            <a:gdLst/>
            <a:ahLst/>
            <a:rect l="0" t="0" r="r" b="b"/>
            <a:pathLst>
              <a:path w="7013" h="1059">
                <a:moveTo>
                  <a:pt x="0" y="0"/>
                </a:moveTo>
                <a:lnTo>
                  <a:pt x="7013" y="0"/>
                </a:lnTo>
                <a:lnTo>
                  <a:pt x="701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580680" y="2638080"/>
            <a:ext cx="2200680" cy="371880"/>
          </a:xfrm>
          <a:custGeom>
            <a:avLst/>
            <a:gdLst/>
            <a:ahLst/>
            <a:rect l="0" t="0" r="r" b="b"/>
            <a:pathLst>
              <a:path w="6113" h="1033">
                <a:moveTo>
                  <a:pt x="0" y="0"/>
                </a:moveTo>
                <a:lnTo>
                  <a:pt x="6113" y="0"/>
                </a:lnTo>
                <a:lnTo>
                  <a:pt x="61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2781000" y="2638080"/>
            <a:ext cx="2524680" cy="371880"/>
          </a:xfrm>
          <a:custGeom>
            <a:avLst/>
            <a:gdLst/>
            <a:ahLst/>
            <a:rect l="0" t="0" r="r" b="b"/>
            <a:pathLst>
              <a:path w="7013" h="1033">
                <a:moveTo>
                  <a:pt x="0" y="0"/>
                </a:moveTo>
                <a:lnTo>
                  <a:pt x="7013" y="0"/>
                </a:lnTo>
                <a:lnTo>
                  <a:pt x="70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580680" y="3009600"/>
            <a:ext cx="2200680" cy="371880"/>
          </a:xfrm>
          <a:custGeom>
            <a:avLst/>
            <a:gdLst/>
            <a:ahLst/>
            <a:rect l="0" t="0" r="r" b="b"/>
            <a:pathLst>
              <a:path w="6113" h="1033">
                <a:moveTo>
                  <a:pt x="0" y="0"/>
                </a:moveTo>
                <a:lnTo>
                  <a:pt x="6113" y="0"/>
                </a:lnTo>
                <a:lnTo>
                  <a:pt x="61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2781000" y="3009600"/>
            <a:ext cx="2524680" cy="371880"/>
          </a:xfrm>
          <a:custGeom>
            <a:avLst/>
            <a:gdLst/>
            <a:ahLst/>
            <a:rect l="0" t="0" r="r" b="b"/>
            <a:pathLst>
              <a:path w="7013" h="1033">
                <a:moveTo>
                  <a:pt x="0" y="0"/>
                </a:moveTo>
                <a:lnTo>
                  <a:pt x="7013" y="0"/>
                </a:lnTo>
                <a:lnTo>
                  <a:pt x="70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580680" y="3381120"/>
            <a:ext cx="2200680" cy="371880"/>
          </a:xfrm>
          <a:custGeom>
            <a:avLst/>
            <a:gdLst/>
            <a:ahLst/>
            <a:rect l="0" t="0" r="r" b="b"/>
            <a:pathLst>
              <a:path w="6113" h="1033">
                <a:moveTo>
                  <a:pt x="0" y="0"/>
                </a:moveTo>
                <a:lnTo>
                  <a:pt x="6113" y="0"/>
                </a:lnTo>
                <a:lnTo>
                  <a:pt x="61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2781000" y="3381120"/>
            <a:ext cx="2524680" cy="371880"/>
          </a:xfrm>
          <a:custGeom>
            <a:avLst/>
            <a:gdLst/>
            <a:ahLst/>
            <a:rect l="0" t="0" r="r" b="b"/>
            <a:pathLst>
              <a:path w="7013" h="1033">
                <a:moveTo>
                  <a:pt x="0" y="0"/>
                </a:moveTo>
                <a:lnTo>
                  <a:pt x="7013" y="0"/>
                </a:lnTo>
                <a:lnTo>
                  <a:pt x="70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580680" y="3752640"/>
            <a:ext cx="2200680" cy="371880"/>
          </a:xfrm>
          <a:custGeom>
            <a:avLst/>
            <a:gdLst/>
            <a:ahLst/>
            <a:rect l="0" t="0" r="r" b="b"/>
            <a:pathLst>
              <a:path w="6113" h="1033">
                <a:moveTo>
                  <a:pt x="0" y="0"/>
                </a:moveTo>
                <a:lnTo>
                  <a:pt x="6113" y="0"/>
                </a:lnTo>
                <a:lnTo>
                  <a:pt x="61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2781000" y="3752640"/>
            <a:ext cx="2524680" cy="371880"/>
          </a:xfrm>
          <a:custGeom>
            <a:avLst/>
            <a:gdLst/>
            <a:ahLst/>
            <a:rect l="0" t="0" r="r" b="b"/>
            <a:pathLst>
              <a:path w="7013" h="1033">
                <a:moveTo>
                  <a:pt x="0" y="0"/>
                </a:moveTo>
                <a:lnTo>
                  <a:pt x="7013" y="0"/>
                </a:lnTo>
                <a:lnTo>
                  <a:pt x="70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580680" y="4124160"/>
            <a:ext cx="2200680" cy="371880"/>
          </a:xfrm>
          <a:custGeom>
            <a:avLst/>
            <a:gdLst/>
            <a:ahLst/>
            <a:rect l="0" t="0" r="r" b="b"/>
            <a:pathLst>
              <a:path w="6113" h="1033">
                <a:moveTo>
                  <a:pt x="0" y="0"/>
                </a:moveTo>
                <a:lnTo>
                  <a:pt x="6113" y="0"/>
                </a:lnTo>
                <a:lnTo>
                  <a:pt x="61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2781000" y="4124160"/>
            <a:ext cx="2524680" cy="371880"/>
          </a:xfrm>
          <a:custGeom>
            <a:avLst/>
            <a:gdLst/>
            <a:ahLst/>
            <a:rect l="0" t="0" r="r" b="b"/>
            <a:pathLst>
              <a:path w="7013" h="1033">
                <a:moveTo>
                  <a:pt x="0" y="0"/>
                </a:moveTo>
                <a:lnTo>
                  <a:pt x="7013" y="0"/>
                </a:lnTo>
                <a:lnTo>
                  <a:pt x="70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580680" y="4495680"/>
            <a:ext cx="2200680" cy="371880"/>
          </a:xfrm>
          <a:custGeom>
            <a:avLst/>
            <a:gdLst/>
            <a:ahLst/>
            <a:rect l="0" t="0" r="r" b="b"/>
            <a:pathLst>
              <a:path w="6113" h="1033">
                <a:moveTo>
                  <a:pt x="0" y="0"/>
                </a:moveTo>
                <a:lnTo>
                  <a:pt x="6113" y="0"/>
                </a:lnTo>
                <a:lnTo>
                  <a:pt x="61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2781000" y="4495680"/>
            <a:ext cx="2524680" cy="371880"/>
          </a:xfrm>
          <a:custGeom>
            <a:avLst/>
            <a:gdLst/>
            <a:ahLst/>
            <a:rect l="0" t="0" r="r" b="b"/>
            <a:pathLst>
              <a:path w="7013" h="1033">
                <a:moveTo>
                  <a:pt x="0" y="0"/>
                </a:moveTo>
                <a:lnTo>
                  <a:pt x="7013" y="0"/>
                </a:lnTo>
                <a:lnTo>
                  <a:pt x="701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571320" y="2257200"/>
            <a:ext cx="2210040" cy="10080"/>
          </a:xfrm>
          <a:custGeom>
            <a:avLst/>
            <a:gdLst/>
            <a:ahLst/>
            <a:rect l="0" t="0" r="r" b="b"/>
            <a:pathLst>
              <a:path w="6139" h="28">
                <a:moveTo>
                  <a:pt x="0" y="0"/>
                </a:moveTo>
                <a:lnTo>
                  <a:pt x="6139" y="0"/>
                </a:lnTo>
                <a:lnTo>
                  <a:pt x="61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277164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2781000" y="225720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5305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571320" y="262872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2781000" y="262872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277164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5305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571320" y="300024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277164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2781000" y="300024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5305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571320" y="337176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277164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2781000" y="337176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5305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571320" y="374328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277164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2781000" y="374328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5305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571320" y="4114440"/>
            <a:ext cx="2210040" cy="10080"/>
          </a:xfrm>
          <a:custGeom>
            <a:avLst/>
            <a:gdLst/>
            <a:ahLst/>
            <a:rect l="0" t="0" r="r" b="b"/>
            <a:pathLst>
              <a:path w="6139" h="28">
                <a:moveTo>
                  <a:pt x="0" y="0"/>
                </a:moveTo>
                <a:lnTo>
                  <a:pt x="6139" y="0"/>
                </a:lnTo>
                <a:lnTo>
                  <a:pt x="61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277164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2781000" y="411444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5305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571320" y="4485960"/>
            <a:ext cx="2210040" cy="10080"/>
          </a:xfrm>
          <a:custGeom>
            <a:avLst/>
            <a:gdLst/>
            <a:ahLst/>
            <a:rect l="0" t="0" r="r" b="b"/>
            <a:pathLst>
              <a:path w="6139" h="28">
                <a:moveTo>
                  <a:pt x="0" y="0"/>
                </a:moveTo>
                <a:lnTo>
                  <a:pt x="6139" y="0"/>
                </a:lnTo>
                <a:lnTo>
                  <a:pt x="61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277164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2781000" y="4485960"/>
            <a:ext cx="2534040" cy="10080"/>
          </a:xfrm>
          <a:custGeom>
            <a:avLst/>
            <a:gdLst/>
            <a:ahLst/>
            <a:rect l="0" t="0" r="r" b="b"/>
            <a:pathLst>
              <a:path w="7039" h="28">
                <a:moveTo>
                  <a:pt x="0" y="0"/>
                </a:moveTo>
                <a:lnTo>
                  <a:pt x="7039" y="0"/>
                </a:lnTo>
                <a:lnTo>
                  <a:pt x="7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5305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571320" y="4867200"/>
            <a:ext cx="2210040" cy="9720"/>
          </a:xfrm>
          <a:custGeom>
            <a:avLst/>
            <a:gdLst/>
            <a:ahLst/>
            <a:rect l="0" t="0" r="r" b="b"/>
            <a:pathLst>
              <a:path w="6139" h="27">
                <a:moveTo>
                  <a:pt x="0" y="0"/>
                </a:moveTo>
                <a:lnTo>
                  <a:pt x="6139" y="0"/>
                </a:lnTo>
                <a:lnTo>
                  <a:pt x="6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2781000" y="486720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7039" y="0"/>
                </a:lnTo>
                <a:lnTo>
                  <a:pt x="7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571320" y="1668600"/>
            <a:ext cx="36417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CAPEX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与回收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平台视⻆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70488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290520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⾦额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704880" y="2694960"/>
            <a:ext cx="1922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Pipeline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开发（已完成）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2905200" y="2694960"/>
            <a:ext cx="52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¥200K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704880" y="3066120"/>
            <a:ext cx="1982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业态模板库（已完成）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290520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包含在上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704880" y="3437640"/>
            <a:ext cx="129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客户拓展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CAC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2905200" y="3437640"/>
            <a:ext cx="714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¥800/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704880" y="380916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平均客单价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2905200" y="3809160"/>
            <a:ext cx="2408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¥9.5K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设计费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+ 5%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施⼯返点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704880" y="41806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盈亏平衡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2905200" y="4180680"/>
            <a:ext cx="566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~40 </a:t>
            </a:r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704880" y="455220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保守回收期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2905200" y="4552200"/>
            <a:ext cx="1735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个⽉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285840" y="199440"/>
            <a:ext cx="275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Studio Copilot 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580680" y="2638080"/>
            <a:ext cx="1896120" cy="371880"/>
          </a:xfrm>
          <a:custGeom>
            <a:avLst/>
            <a:gdLst/>
            <a:ahLst/>
            <a:rect l="0" t="0" r="r" b="b"/>
            <a:pathLst>
              <a:path w="5267" h="1033">
                <a:moveTo>
                  <a:pt x="0" y="0"/>
                </a:moveTo>
                <a:lnTo>
                  <a:pt x="5267" y="0"/>
                </a:lnTo>
                <a:lnTo>
                  <a:pt x="52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2476440" y="263808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3419280" y="2638080"/>
            <a:ext cx="3791160" cy="371880"/>
          </a:xfrm>
          <a:custGeom>
            <a:avLst/>
            <a:gdLst/>
            <a:ahLst/>
            <a:rect l="0" t="0" r="r" b="b"/>
            <a:pathLst>
              <a:path w="10531" h="1033">
                <a:moveTo>
                  <a:pt x="0" y="0"/>
                </a:moveTo>
                <a:lnTo>
                  <a:pt x="10531" y="0"/>
                </a:lnTo>
                <a:lnTo>
                  <a:pt x="105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580680" y="2638080"/>
            <a:ext cx="1896120" cy="371880"/>
          </a:xfrm>
          <a:custGeom>
            <a:avLst/>
            <a:gdLst/>
            <a:ahLst/>
            <a:rect l="0" t="0" r="r" b="b"/>
            <a:pathLst>
              <a:path w="5267" h="1033">
                <a:moveTo>
                  <a:pt x="0" y="0"/>
                </a:moveTo>
                <a:lnTo>
                  <a:pt x="5267" y="0"/>
                </a:lnTo>
                <a:lnTo>
                  <a:pt x="52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2476440" y="263808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3419280" y="2638080"/>
            <a:ext cx="3791160" cy="371880"/>
          </a:xfrm>
          <a:custGeom>
            <a:avLst/>
            <a:gdLst/>
            <a:ahLst/>
            <a:rect l="0" t="0" r="r" b="b"/>
            <a:pathLst>
              <a:path w="10531" h="1033">
                <a:moveTo>
                  <a:pt x="0" y="0"/>
                </a:moveTo>
                <a:lnTo>
                  <a:pt x="10531" y="0"/>
                </a:lnTo>
                <a:lnTo>
                  <a:pt x="105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580680" y="3009600"/>
            <a:ext cx="1896120" cy="371880"/>
          </a:xfrm>
          <a:custGeom>
            <a:avLst/>
            <a:gdLst/>
            <a:ahLst/>
            <a:rect l="0" t="0" r="r" b="b"/>
            <a:pathLst>
              <a:path w="5267" h="1033">
                <a:moveTo>
                  <a:pt x="0" y="0"/>
                </a:moveTo>
                <a:lnTo>
                  <a:pt x="5267" y="0"/>
                </a:lnTo>
                <a:lnTo>
                  <a:pt x="52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2476440" y="300960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3419280" y="3009600"/>
            <a:ext cx="3791160" cy="371880"/>
          </a:xfrm>
          <a:custGeom>
            <a:avLst/>
            <a:gdLst/>
            <a:ahLst/>
            <a:rect l="0" t="0" r="r" b="b"/>
            <a:pathLst>
              <a:path w="10531" h="1033">
                <a:moveTo>
                  <a:pt x="0" y="0"/>
                </a:moveTo>
                <a:lnTo>
                  <a:pt x="10531" y="0"/>
                </a:lnTo>
                <a:lnTo>
                  <a:pt x="105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580680" y="3381120"/>
            <a:ext cx="1896120" cy="371880"/>
          </a:xfrm>
          <a:custGeom>
            <a:avLst/>
            <a:gdLst/>
            <a:ahLst/>
            <a:rect l="0" t="0" r="r" b="b"/>
            <a:pathLst>
              <a:path w="5267" h="1033">
                <a:moveTo>
                  <a:pt x="0" y="0"/>
                </a:moveTo>
                <a:lnTo>
                  <a:pt x="5267" y="0"/>
                </a:lnTo>
                <a:lnTo>
                  <a:pt x="52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2476440" y="338112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3419280" y="3381120"/>
            <a:ext cx="3791160" cy="371880"/>
          </a:xfrm>
          <a:custGeom>
            <a:avLst/>
            <a:gdLst/>
            <a:ahLst/>
            <a:rect l="0" t="0" r="r" b="b"/>
            <a:pathLst>
              <a:path w="10531" h="1033">
                <a:moveTo>
                  <a:pt x="0" y="0"/>
                </a:moveTo>
                <a:lnTo>
                  <a:pt x="10531" y="0"/>
                </a:lnTo>
                <a:lnTo>
                  <a:pt x="105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580680" y="3752640"/>
            <a:ext cx="1896120" cy="371880"/>
          </a:xfrm>
          <a:custGeom>
            <a:avLst/>
            <a:gdLst/>
            <a:ahLst/>
            <a:rect l="0" t="0" r="r" b="b"/>
            <a:pathLst>
              <a:path w="5267" h="1033">
                <a:moveTo>
                  <a:pt x="0" y="0"/>
                </a:moveTo>
                <a:lnTo>
                  <a:pt x="5267" y="0"/>
                </a:lnTo>
                <a:lnTo>
                  <a:pt x="52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2476440" y="375264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3419280" y="3752640"/>
            <a:ext cx="3791160" cy="371880"/>
          </a:xfrm>
          <a:custGeom>
            <a:avLst/>
            <a:gdLst/>
            <a:ahLst/>
            <a:rect l="0" t="0" r="r" b="b"/>
            <a:pathLst>
              <a:path w="10531" h="1033">
                <a:moveTo>
                  <a:pt x="0" y="0"/>
                </a:moveTo>
                <a:lnTo>
                  <a:pt x="10531" y="0"/>
                </a:lnTo>
                <a:lnTo>
                  <a:pt x="105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580680" y="4124160"/>
            <a:ext cx="1896120" cy="371880"/>
          </a:xfrm>
          <a:custGeom>
            <a:avLst/>
            <a:gdLst/>
            <a:ahLst/>
            <a:rect l="0" t="0" r="r" b="b"/>
            <a:pathLst>
              <a:path w="5267" h="1033">
                <a:moveTo>
                  <a:pt x="0" y="0"/>
                </a:moveTo>
                <a:lnTo>
                  <a:pt x="5267" y="0"/>
                </a:lnTo>
                <a:lnTo>
                  <a:pt x="52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2476440" y="412416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3419280" y="4124160"/>
            <a:ext cx="3791160" cy="371880"/>
          </a:xfrm>
          <a:custGeom>
            <a:avLst/>
            <a:gdLst/>
            <a:ahLst/>
            <a:rect l="0" t="0" r="r" b="b"/>
            <a:pathLst>
              <a:path w="10531" h="1033">
                <a:moveTo>
                  <a:pt x="0" y="0"/>
                </a:moveTo>
                <a:lnTo>
                  <a:pt x="10531" y="0"/>
                </a:lnTo>
                <a:lnTo>
                  <a:pt x="1053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57132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571320" y="2628720"/>
            <a:ext cx="1914840" cy="9720"/>
          </a:xfrm>
          <a:custGeom>
            <a:avLst/>
            <a:gdLst/>
            <a:ahLst/>
            <a:rect l="0" t="0" r="r" b="b"/>
            <a:pathLst>
              <a:path w="5319" h="27">
                <a:moveTo>
                  <a:pt x="0" y="0"/>
                </a:moveTo>
                <a:lnTo>
                  <a:pt x="5319" y="0"/>
                </a:lnTo>
                <a:lnTo>
                  <a:pt x="53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247644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2485800" y="262872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341928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3428640" y="2628720"/>
            <a:ext cx="3791520" cy="9720"/>
          </a:xfrm>
          <a:custGeom>
            <a:avLst/>
            <a:gdLst/>
            <a:ahLst/>
            <a:rect l="0" t="0" r="r" b="b"/>
            <a:pathLst>
              <a:path w="10532" h="27">
                <a:moveTo>
                  <a:pt x="0" y="0"/>
                </a:moveTo>
                <a:lnTo>
                  <a:pt x="10532" y="0"/>
                </a:lnTo>
                <a:lnTo>
                  <a:pt x="105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721008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571320" y="3000240"/>
            <a:ext cx="1914840" cy="9720"/>
          </a:xfrm>
          <a:custGeom>
            <a:avLst/>
            <a:gdLst/>
            <a:ahLst/>
            <a:rect l="0" t="0" r="r" b="b"/>
            <a:pathLst>
              <a:path w="5319" h="27">
                <a:moveTo>
                  <a:pt x="0" y="0"/>
                </a:moveTo>
                <a:lnTo>
                  <a:pt x="5319" y="0"/>
                </a:lnTo>
                <a:lnTo>
                  <a:pt x="53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2485800" y="300024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3428640" y="3000240"/>
            <a:ext cx="3791520" cy="9720"/>
          </a:xfrm>
          <a:custGeom>
            <a:avLst/>
            <a:gdLst/>
            <a:ahLst/>
            <a:rect l="0" t="0" r="r" b="b"/>
            <a:pathLst>
              <a:path w="10532" h="27">
                <a:moveTo>
                  <a:pt x="0" y="0"/>
                </a:moveTo>
                <a:lnTo>
                  <a:pt x="10532" y="0"/>
                </a:lnTo>
                <a:lnTo>
                  <a:pt x="105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247644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341928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721008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571320" y="3371760"/>
            <a:ext cx="1914840" cy="9720"/>
          </a:xfrm>
          <a:custGeom>
            <a:avLst/>
            <a:gdLst/>
            <a:ahLst/>
            <a:rect l="0" t="0" r="r" b="b"/>
            <a:pathLst>
              <a:path w="5319" h="27">
                <a:moveTo>
                  <a:pt x="0" y="0"/>
                </a:moveTo>
                <a:lnTo>
                  <a:pt x="5319" y="0"/>
                </a:lnTo>
                <a:lnTo>
                  <a:pt x="53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247644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2485800" y="337176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341928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3428640" y="3371760"/>
            <a:ext cx="3791520" cy="9720"/>
          </a:xfrm>
          <a:custGeom>
            <a:avLst/>
            <a:gdLst/>
            <a:ahLst/>
            <a:rect l="0" t="0" r="r" b="b"/>
            <a:pathLst>
              <a:path w="10532" h="27">
                <a:moveTo>
                  <a:pt x="0" y="0"/>
                </a:moveTo>
                <a:lnTo>
                  <a:pt x="10532" y="0"/>
                </a:lnTo>
                <a:lnTo>
                  <a:pt x="105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721008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571320" y="3743280"/>
            <a:ext cx="1914840" cy="9720"/>
          </a:xfrm>
          <a:custGeom>
            <a:avLst/>
            <a:gdLst/>
            <a:ahLst/>
            <a:rect l="0" t="0" r="r" b="b"/>
            <a:pathLst>
              <a:path w="5319" h="27">
                <a:moveTo>
                  <a:pt x="0" y="0"/>
                </a:moveTo>
                <a:lnTo>
                  <a:pt x="5319" y="0"/>
                </a:lnTo>
                <a:lnTo>
                  <a:pt x="53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247644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2485800" y="374328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341928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3428640" y="3743280"/>
            <a:ext cx="3791520" cy="9720"/>
          </a:xfrm>
          <a:custGeom>
            <a:avLst/>
            <a:gdLst/>
            <a:ahLst/>
            <a:rect l="0" t="0" r="r" b="b"/>
            <a:pathLst>
              <a:path w="10532" h="27">
                <a:moveTo>
                  <a:pt x="0" y="0"/>
                </a:moveTo>
                <a:lnTo>
                  <a:pt x="10532" y="0"/>
                </a:lnTo>
                <a:lnTo>
                  <a:pt x="105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721008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571320" y="4114440"/>
            <a:ext cx="1914840" cy="10080"/>
          </a:xfrm>
          <a:custGeom>
            <a:avLst/>
            <a:gdLst/>
            <a:ahLst/>
            <a:rect l="0" t="0" r="r" b="b"/>
            <a:pathLst>
              <a:path w="5319" h="28">
                <a:moveTo>
                  <a:pt x="0" y="0"/>
                </a:moveTo>
                <a:lnTo>
                  <a:pt x="5319" y="0"/>
                </a:lnTo>
                <a:lnTo>
                  <a:pt x="53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247644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2485800" y="411444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341928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3428640" y="4114440"/>
            <a:ext cx="3791520" cy="10080"/>
          </a:xfrm>
          <a:custGeom>
            <a:avLst/>
            <a:gdLst/>
            <a:ahLst/>
            <a:rect l="0" t="0" r="r" b="b"/>
            <a:pathLst>
              <a:path w="10532" h="28">
                <a:moveTo>
                  <a:pt x="0" y="0"/>
                </a:moveTo>
                <a:lnTo>
                  <a:pt x="10532" y="0"/>
                </a:lnTo>
                <a:lnTo>
                  <a:pt x="105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721008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571320" y="4485960"/>
            <a:ext cx="1914840" cy="10080"/>
          </a:xfrm>
          <a:custGeom>
            <a:avLst/>
            <a:gdLst/>
            <a:ahLst/>
            <a:rect l="0" t="0" r="r" b="b"/>
            <a:pathLst>
              <a:path w="5319" h="28">
                <a:moveTo>
                  <a:pt x="0" y="0"/>
                </a:moveTo>
                <a:lnTo>
                  <a:pt x="5319" y="0"/>
                </a:lnTo>
                <a:lnTo>
                  <a:pt x="53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2485800" y="448596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3428640" y="4485960"/>
            <a:ext cx="3791520" cy="10080"/>
          </a:xfrm>
          <a:custGeom>
            <a:avLst/>
            <a:gdLst/>
            <a:ahLst/>
            <a:rect l="0" t="0" r="r" b="b"/>
            <a:pathLst>
              <a:path w="10532" h="28">
                <a:moveTo>
                  <a:pt x="0" y="0"/>
                </a:moveTo>
                <a:lnTo>
                  <a:pt x="10532" y="0"/>
                </a:lnTo>
                <a:lnTo>
                  <a:pt x="105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571320" y="2049840"/>
            <a:ext cx="1671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⻛险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缓解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70488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⻛险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260820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影响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355140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缓解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704880" y="3066120"/>
            <a:ext cx="173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客户对 </a:t>
            </a:r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⽅案信任度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260820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转化率低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3551400" y="3066120"/>
            <a:ext cx="3035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免费出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，决策点明确，修改成本近零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704880" y="343764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施⼯落地偏差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2608200" y="3437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⼝碑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3551400" y="3437640"/>
            <a:ext cx="3061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绑定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家认证总包，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BOQ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精度到单品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704880" y="380916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同质化竞争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260820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利润压缩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3551400" y="3809160"/>
            <a:ext cx="3659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业态模板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stakeholder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⾃动化叙事护城河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704880" y="418068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政策（资质）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2608200" y="41806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受阻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3551400" y="4180680"/>
            <a:ext cx="187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轻资产，不涉及施⼯资质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285840" y="199440"/>
            <a:ext cx="275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Studio Copilot 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571320" y="240012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B899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571320" y="1439640"/>
            <a:ext cx="243900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本轮募资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628560" y="339084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571320" y="2658240"/>
            <a:ext cx="353268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¥3M ·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种⼦轮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12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个⽉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628560" y="37526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2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838080" y="3273480"/>
            <a:ext cx="4225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40%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⼯程（扩模板到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业态，覆盖全屋）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628560" y="4114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838080" y="3635640"/>
            <a:ext cx="4251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30%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市场（杭州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深圳两地试点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628560" y="44766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838080" y="3997440"/>
            <a:ext cx="3563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20%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团队（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设计师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⼯程师）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838080" y="4359240"/>
            <a:ext cx="1173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10%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备⽤⾦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571320" y="4778640"/>
            <a:ext cx="5788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→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12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个⽉验证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：单⽉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转化率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20%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⽑利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90%+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285840" y="199440"/>
            <a:ext cx="275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Studio Copilot 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117838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