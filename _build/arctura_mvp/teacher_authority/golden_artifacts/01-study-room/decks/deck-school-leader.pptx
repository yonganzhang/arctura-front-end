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25524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9B3F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580680" y="41907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523880" y="4190760"/>
            <a:ext cx="1333800" cy="371880"/>
          </a:xfrm>
          <a:custGeom>
            <a:avLst/>
            <a:gdLst/>
            <a:ahLst/>
            <a:rect l="0" t="0" r="r" b="b"/>
            <a:pathLst>
              <a:path w="3705" h="1033">
                <a:moveTo>
                  <a:pt x="0" y="0"/>
                </a:moveTo>
                <a:lnTo>
                  <a:pt x="3705" y="0"/>
                </a:lnTo>
                <a:lnTo>
                  <a:pt x="370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2857320" y="419076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80680" y="41907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523880" y="4190760"/>
            <a:ext cx="1333800" cy="371880"/>
          </a:xfrm>
          <a:custGeom>
            <a:avLst/>
            <a:gdLst/>
            <a:ahLst/>
            <a:rect l="0" t="0" r="r" b="b"/>
            <a:pathLst>
              <a:path w="3705" h="1033">
                <a:moveTo>
                  <a:pt x="0" y="0"/>
                </a:moveTo>
                <a:lnTo>
                  <a:pt x="3705" y="0"/>
                </a:lnTo>
                <a:lnTo>
                  <a:pt x="370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857320" y="419076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580680" y="45622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523880" y="4562280"/>
            <a:ext cx="1333800" cy="371880"/>
          </a:xfrm>
          <a:custGeom>
            <a:avLst/>
            <a:gdLst/>
            <a:ahLst/>
            <a:rect l="0" t="0" r="r" b="b"/>
            <a:pathLst>
              <a:path w="3705" h="1033">
                <a:moveTo>
                  <a:pt x="0" y="0"/>
                </a:moveTo>
                <a:lnTo>
                  <a:pt x="3705" y="0"/>
                </a:lnTo>
                <a:lnTo>
                  <a:pt x="370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857320" y="456228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713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71320" y="418140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51416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523880" y="418140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8573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866680" y="418140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80016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71320" y="455292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523880" y="455292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2866680" y="455292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5713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51416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28573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380016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571320" y="492408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523880" y="4924080"/>
            <a:ext cx="1343160" cy="10080"/>
          </a:xfrm>
          <a:custGeom>
            <a:avLst/>
            <a:gdLst/>
            <a:ahLst/>
            <a:rect l="0" t="0" r="r" b="b"/>
            <a:pathLst>
              <a:path w="3731" h="28">
                <a:moveTo>
                  <a:pt x="0" y="0"/>
                </a:moveTo>
                <a:lnTo>
                  <a:pt x="3731" y="0"/>
                </a:lnTo>
                <a:lnTo>
                  <a:pt x="37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866680" y="4924080"/>
            <a:ext cx="943560" cy="10080"/>
          </a:xfrm>
          <a:custGeom>
            <a:avLst/>
            <a:gdLst/>
            <a:ahLst/>
            <a:rect l="0" t="0" r="r" b="b"/>
            <a:pathLst>
              <a:path w="2621" h="28">
                <a:moveTo>
                  <a:pt x="0" y="0"/>
                </a:moveTo>
                <a:lnTo>
                  <a:pt x="2621" y="0"/>
                </a:lnTo>
                <a:lnTo>
                  <a:pt x="2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71320" y="1592280"/>
            <a:ext cx="643140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驱动的室内设计研究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71320" y="2810520"/>
            <a:ext cx="567864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MVP #01 ·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极简书房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9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29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秒交付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71320" y="3396240"/>
            <a:ext cx="35186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学院领导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科研处 的研究汇报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04880" y="42472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⽣成时间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647720" y="42472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物件规模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986200" y="42472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交付格式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04880" y="4618800"/>
            <a:ext cx="479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9' 29"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647720" y="4618800"/>
            <a:ext cx="1220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对象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986200" y="4618800"/>
            <a:ext cx="37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199440"/>
            <a:ext cx="301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AI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驱动家装研究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286320" y="19162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研究背景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38080" y="4521240"/>
            <a:ext cx="4391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⾏业现状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：传统室内设计周期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2-4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周，设计费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38080" y="4826160"/>
            <a:ext cx="866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5%-10%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38080" y="5187960"/>
            <a:ext cx="4965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关键瓶颈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：需求理解 → 概念⽅案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建模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28560" y="5962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4"/>
                  <a:pt x="93" y="0"/>
                  <a:pt x="107" y="0"/>
                </a:cubicBezTo>
                <a:cubicBezTo>
                  <a:pt x="121" y="0"/>
                  <a:pt x="134" y="4"/>
                  <a:pt x="147" y="9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38080" y="5492880"/>
            <a:ext cx="3362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图纸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BOQ →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演示，串⾏且重复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38080" y="5845320"/>
            <a:ext cx="4912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学术空⽩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：端到端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AI-driven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家装交付管线尚未成熟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628560" y="66290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38080" y="6150240"/>
            <a:ext cx="3691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stakeholder-aware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叙事尤其缺失）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38080" y="6512040"/>
            <a:ext cx="5010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切⼊点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：⽤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CLI agent harness + LLM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统⼀接⼝，在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85840" y="199440"/>
            <a:ext cx="301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AI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驱动家装研究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5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 txBox="1"/>
          <p:nvPr/>
        </p:nvSpPr>
        <p:spPr>
          <a:xfrm>
            <a:off x="6286320" y="19162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核⼼命题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571320" y="4426200"/>
            <a:ext cx="5387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Research Question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：能否⽤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LLM + CLI Agent harness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71320" y="4730760"/>
            <a:ext cx="3341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在分钟级完成室内设计端到端交付？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286320" y="4578480"/>
            <a:ext cx="1777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Sub-Questions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28920" y="5664240"/>
            <a:ext cx="5375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参数化场景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(room.json)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是否⾜以覆盖主流室内业态？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587160" y="6026400"/>
            <a:ext cx="5480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同⼀数据源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stakeholder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叙事，专业语⾔真实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838080" y="632160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性如何？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587160" y="6683400"/>
            <a:ext cx="2364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IFC4 BIM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互操作在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968200" y="6683400"/>
            <a:ext cx="275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⽣成场景下是否保持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schema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85840" y="199440"/>
            <a:ext cx="301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AI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驱动家装研究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71320" y="1364040"/>
            <a:ext cx="3408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关键指标（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Preliminary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71320" y="1945440"/>
            <a:ext cx="234972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9'29"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571320" y="304488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端到端⽣成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330440" y="1945440"/>
            <a:ext cx="92412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21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330440" y="3044880"/>
            <a:ext cx="819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物件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8089920" y="1945440"/>
            <a:ext cx="91404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8089920" y="3044880"/>
            <a:ext cx="1592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stakeholder PPT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71320" y="3393360"/>
            <a:ext cx="91404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71320" y="449280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⼯业格式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571320" y="4873680"/>
            <a:ext cx="7788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对⽐传统流程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2-4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数百次⼿⼯操作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设计师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1-3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⼈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费⽤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¥5K-¥30K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285840" y="199440"/>
            <a:ext cx="301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AI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驱动家装研究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8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"/>
          <p:cNvSpPr/>
          <p:nvPr/>
        </p:nvSpPr>
        <p:spPr>
          <a:xfrm>
            <a:off x="576000" y="4357440"/>
            <a:ext cx="5324760" cy="2500560"/>
          </a:xfrm>
          <a:custGeom>
            <a:avLst/>
            <a:gdLst/>
            <a:ahLst/>
            <a:rect l="0" t="0" r="r" b="b"/>
            <a:pathLst>
              <a:path w="14791" h="6946">
                <a:moveTo>
                  <a:pt x="0" y="692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646" y="0"/>
                </a:lnTo>
                <a:cubicBezTo>
                  <a:pt x="14655" y="0"/>
                  <a:pt x="14665" y="1"/>
                  <a:pt x="14674" y="3"/>
                </a:cubicBezTo>
                <a:cubicBezTo>
                  <a:pt x="14684" y="5"/>
                  <a:pt x="14693" y="8"/>
                  <a:pt x="14702" y="11"/>
                </a:cubicBezTo>
                <a:cubicBezTo>
                  <a:pt x="14710" y="15"/>
                  <a:pt x="14719" y="19"/>
                  <a:pt x="14727" y="25"/>
                </a:cubicBezTo>
                <a:cubicBezTo>
                  <a:pt x="14735" y="30"/>
                  <a:pt x="14742" y="36"/>
                  <a:pt x="14749" y="43"/>
                </a:cubicBezTo>
                <a:cubicBezTo>
                  <a:pt x="14756" y="50"/>
                  <a:pt x="14762" y="57"/>
                  <a:pt x="14767" y="65"/>
                </a:cubicBezTo>
                <a:cubicBezTo>
                  <a:pt x="14772" y="73"/>
                  <a:pt x="14777" y="81"/>
                  <a:pt x="14780" y="90"/>
                </a:cubicBezTo>
                <a:cubicBezTo>
                  <a:pt x="14784" y="99"/>
                  <a:pt x="14787" y="108"/>
                  <a:pt x="14789" y="117"/>
                </a:cubicBezTo>
                <a:cubicBezTo>
                  <a:pt x="14791" y="127"/>
                  <a:pt x="14791" y="136"/>
                  <a:pt x="14791" y="146"/>
                </a:cubicBezTo>
                <a:lnTo>
                  <a:pt x="14791" y="6920"/>
                </a:lnTo>
                <a:cubicBezTo>
                  <a:pt x="14791" y="6929"/>
                  <a:pt x="14791" y="6938"/>
                  <a:pt x="14789" y="6946"/>
                </a:cubicBezTo>
                <a:lnTo>
                  <a:pt x="3" y="6946"/>
                </a:lnTo>
                <a:cubicBezTo>
                  <a:pt x="1" y="6938"/>
                  <a:pt x="0" y="6929"/>
                  <a:pt x="0" y="6920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576000" y="4357440"/>
            <a:ext cx="5324760" cy="2500560"/>
          </a:xfrm>
          <a:custGeom>
            <a:avLst/>
            <a:gdLst/>
            <a:ahLst/>
            <a:rect l="0" t="0" r="r" b="b"/>
            <a:pathLst>
              <a:path w="14791" h="6946">
                <a:moveTo>
                  <a:pt x="0" y="692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646" y="0"/>
                </a:lnTo>
                <a:cubicBezTo>
                  <a:pt x="14655" y="0"/>
                  <a:pt x="14665" y="1"/>
                  <a:pt x="14674" y="3"/>
                </a:cubicBezTo>
                <a:cubicBezTo>
                  <a:pt x="14684" y="5"/>
                  <a:pt x="14693" y="8"/>
                  <a:pt x="14702" y="11"/>
                </a:cubicBezTo>
                <a:cubicBezTo>
                  <a:pt x="14710" y="15"/>
                  <a:pt x="14719" y="19"/>
                  <a:pt x="14727" y="25"/>
                </a:cubicBezTo>
                <a:cubicBezTo>
                  <a:pt x="14735" y="30"/>
                  <a:pt x="14742" y="36"/>
                  <a:pt x="14749" y="43"/>
                </a:cubicBezTo>
                <a:cubicBezTo>
                  <a:pt x="14756" y="50"/>
                  <a:pt x="14762" y="57"/>
                  <a:pt x="14767" y="65"/>
                </a:cubicBezTo>
                <a:cubicBezTo>
                  <a:pt x="14772" y="73"/>
                  <a:pt x="14777" y="81"/>
                  <a:pt x="14780" y="90"/>
                </a:cubicBezTo>
                <a:cubicBezTo>
                  <a:pt x="14784" y="99"/>
                  <a:pt x="14787" y="108"/>
                  <a:pt x="14789" y="117"/>
                </a:cubicBezTo>
                <a:cubicBezTo>
                  <a:pt x="14791" y="127"/>
                  <a:pt x="14791" y="136"/>
                  <a:pt x="14791" y="146"/>
                </a:cubicBezTo>
                <a:lnTo>
                  <a:pt x="14791" y="6920"/>
                </a:lnTo>
                <a:cubicBezTo>
                  <a:pt x="14791" y="6929"/>
                  <a:pt x="14791" y="6938"/>
                  <a:pt x="14789" y="6946"/>
                </a:cubicBezTo>
                <a:lnTo>
                  <a:pt x="3" y="6946"/>
                </a:lnTo>
                <a:cubicBezTo>
                  <a:pt x="1" y="6938"/>
                  <a:pt x="0" y="6929"/>
                  <a:pt x="0" y="692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286320" y="1916280"/>
            <a:ext cx="3104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⽅法论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Pipeline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架构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33320" y="4511520"/>
            <a:ext cx="12780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brief.json (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2003400" y="4488480"/>
            <a:ext cx="1061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9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⼈类语义需求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3057840" y="4511520"/>
            <a:ext cx="17532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733320" y="4718160"/>
            <a:ext cx="95868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  ↓ LLM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33320" y="4915800"/>
            <a:ext cx="117144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room.json (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897560" y="4892400"/>
            <a:ext cx="531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9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参数化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2424600" y="4915800"/>
            <a:ext cx="4266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3D 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2847960" y="4892400"/>
            <a:ext cx="3542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9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场景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3199680" y="4915800"/>
            <a:ext cx="17532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733320" y="5122440"/>
            <a:ext cx="29808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  ↓ blender-cli (headless)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33320" y="5319720"/>
            <a:ext cx="181008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renders/*.png (8 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2532240" y="5296680"/>
            <a:ext cx="3542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9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⻆度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2883960" y="5319720"/>
            <a:ext cx="287424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 + IFC4 + glTF + OBJ + FBX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733320" y="5526720"/>
            <a:ext cx="191664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  ↓ inkscape-cli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733320" y="5724000"/>
            <a:ext cx="234216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floorplan.svg/png (2D)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33320" y="5931000"/>
            <a:ext cx="223596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  ↓ libreoffice-cli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33320" y="6128280"/>
            <a:ext cx="95868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BOQ.ods (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685880" y="6104880"/>
            <a:ext cx="531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9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预算表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213280" y="6128280"/>
            <a:ext cx="17532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33320" y="6334920"/>
            <a:ext cx="29808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  ↓ marp-cli × 8 templates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33320" y="6532560"/>
            <a:ext cx="21348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8 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945000" y="6509160"/>
            <a:ext cx="177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9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120680" y="6532560"/>
            <a:ext cx="234216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stakeholder-aware PPT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285840" y="199440"/>
            <a:ext cx="301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AI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驱动家装研究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2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6286320" y="1916280"/>
            <a:ext cx="2006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可重复实验设计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838080" y="4521240"/>
            <a:ext cx="5308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Benchmark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个不同业态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MVP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（书房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咖啡馆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838080" y="4826160"/>
            <a:ext cx="2138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⾃习室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画廊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...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838080" y="5187960"/>
            <a:ext cx="5323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Metric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：⽣成时间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⾸次成功率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客户满意度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结构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628560" y="5962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4"/>
                  <a:pt x="93" y="0"/>
                  <a:pt x="107" y="0"/>
                </a:cubicBezTo>
                <a:cubicBezTo>
                  <a:pt x="121" y="0"/>
                  <a:pt x="134" y="4"/>
                  <a:pt x="147" y="9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838080" y="5492880"/>
            <a:ext cx="2179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完整性（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通过率）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628560" y="63244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838080" y="5845320"/>
            <a:ext cx="4832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Baseline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：同业态传统设计师完成时间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修改轮次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838080" y="6207120"/>
            <a:ext cx="5279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Ablation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：去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stakeholder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模板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去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导出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去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838080" y="6512040"/>
            <a:ext cx="2666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CLI harness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，观察失败模式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285840" y="199440"/>
            <a:ext cx="301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AI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驱动家装研究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80680" y="244764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885840" y="2447640"/>
            <a:ext cx="2514960" cy="371880"/>
          </a:xfrm>
          <a:custGeom>
            <a:avLst/>
            <a:gdLst/>
            <a:ahLst/>
            <a:rect l="0" t="0" r="r" b="b"/>
            <a:pathLst>
              <a:path w="6986" h="1033">
                <a:moveTo>
                  <a:pt x="0" y="0"/>
                </a:moveTo>
                <a:lnTo>
                  <a:pt x="6986" y="0"/>
                </a:lnTo>
                <a:lnTo>
                  <a:pt x="69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6400440" y="2447640"/>
            <a:ext cx="2267640" cy="371880"/>
          </a:xfrm>
          <a:custGeom>
            <a:avLst/>
            <a:gdLst/>
            <a:ahLst/>
            <a:rect l="0" t="0" r="r" b="b"/>
            <a:pathLst>
              <a:path w="6299" h="1033">
                <a:moveTo>
                  <a:pt x="0" y="0"/>
                </a:moveTo>
                <a:lnTo>
                  <a:pt x="6299" y="0"/>
                </a:lnTo>
                <a:lnTo>
                  <a:pt x="629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580680" y="244764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3885840" y="2447640"/>
            <a:ext cx="2514960" cy="371880"/>
          </a:xfrm>
          <a:custGeom>
            <a:avLst/>
            <a:gdLst/>
            <a:ahLst/>
            <a:rect l="0" t="0" r="r" b="b"/>
            <a:pathLst>
              <a:path w="6986" h="1033">
                <a:moveTo>
                  <a:pt x="0" y="0"/>
                </a:moveTo>
                <a:lnTo>
                  <a:pt x="6986" y="0"/>
                </a:lnTo>
                <a:lnTo>
                  <a:pt x="69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6400440" y="2447640"/>
            <a:ext cx="2267640" cy="371880"/>
          </a:xfrm>
          <a:custGeom>
            <a:avLst/>
            <a:gdLst/>
            <a:ahLst/>
            <a:rect l="0" t="0" r="r" b="b"/>
            <a:pathLst>
              <a:path w="6299" h="1033">
                <a:moveTo>
                  <a:pt x="0" y="0"/>
                </a:moveTo>
                <a:lnTo>
                  <a:pt x="6299" y="0"/>
                </a:lnTo>
                <a:lnTo>
                  <a:pt x="629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80680" y="281916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3885840" y="2819160"/>
            <a:ext cx="2514960" cy="371880"/>
          </a:xfrm>
          <a:custGeom>
            <a:avLst/>
            <a:gdLst/>
            <a:ahLst/>
            <a:rect l="0" t="0" r="r" b="b"/>
            <a:pathLst>
              <a:path w="6986" h="1033">
                <a:moveTo>
                  <a:pt x="0" y="0"/>
                </a:moveTo>
                <a:lnTo>
                  <a:pt x="6986" y="0"/>
                </a:lnTo>
                <a:lnTo>
                  <a:pt x="69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6400440" y="2819160"/>
            <a:ext cx="2267640" cy="371880"/>
          </a:xfrm>
          <a:custGeom>
            <a:avLst/>
            <a:gdLst/>
            <a:ahLst/>
            <a:rect l="0" t="0" r="r" b="b"/>
            <a:pathLst>
              <a:path w="6299" h="1033">
                <a:moveTo>
                  <a:pt x="0" y="0"/>
                </a:moveTo>
                <a:lnTo>
                  <a:pt x="6299" y="0"/>
                </a:lnTo>
                <a:lnTo>
                  <a:pt x="629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580680" y="319068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3885840" y="3190680"/>
            <a:ext cx="2514960" cy="371880"/>
          </a:xfrm>
          <a:custGeom>
            <a:avLst/>
            <a:gdLst/>
            <a:ahLst/>
            <a:rect l="0" t="0" r="r" b="b"/>
            <a:pathLst>
              <a:path w="6986" h="1033">
                <a:moveTo>
                  <a:pt x="0" y="0"/>
                </a:moveTo>
                <a:lnTo>
                  <a:pt x="6986" y="0"/>
                </a:lnTo>
                <a:lnTo>
                  <a:pt x="69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6400440" y="3190680"/>
            <a:ext cx="2267640" cy="371880"/>
          </a:xfrm>
          <a:custGeom>
            <a:avLst/>
            <a:gdLst/>
            <a:ahLst/>
            <a:rect l="0" t="0" r="r" b="b"/>
            <a:pathLst>
              <a:path w="6299" h="1033">
                <a:moveTo>
                  <a:pt x="0" y="0"/>
                </a:moveTo>
                <a:lnTo>
                  <a:pt x="6299" y="0"/>
                </a:lnTo>
                <a:lnTo>
                  <a:pt x="629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580680" y="356220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3885840" y="3562200"/>
            <a:ext cx="2514960" cy="371880"/>
          </a:xfrm>
          <a:custGeom>
            <a:avLst/>
            <a:gdLst/>
            <a:ahLst/>
            <a:rect l="0" t="0" r="r" b="b"/>
            <a:pathLst>
              <a:path w="6986" h="1033">
                <a:moveTo>
                  <a:pt x="0" y="0"/>
                </a:moveTo>
                <a:lnTo>
                  <a:pt x="6986" y="0"/>
                </a:lnTo>
                <a:lnTo>
                  <a:pt x="69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6400440" y="3562200"/>
            <a:ext cx="2267640" cy="371880"/>
          </a:xfrm>
          <a:custGeom>
            <a:avLst/>
            <a:gdLst/>
            <a:ahLst/>
            <a:rect l="0" t="0" r="r" b="b"/>
            <a:pathLst>
              <a:path w="6299" h="1033">
                <a:moveTo>
                  <a:pt x="0" y="0"/>
                </a:moveTo>
                <a:lnTo>
                  <a:pt x="6299" y="0"/>
                </a:lnTo>
                <a:lnTo>
                  <a:pt x="629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80680" y="393372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3885840" y="3933720"/>
            <a:ext cx="2514960" cy="371880"/>
          </a:xfrm>
          <a:custGeom>
            <a:avLst/>
            <a:gdLst/>
            <a:ahLst/>
            <a:rect l="0" t="0" r="r" b="b"/>
            <a:pathLst>
              <a:path w="6986" h="1033">
                <a:moveTo>
                  <a:pt x="0" y="0"/>
                </a:moveTo>
                <a:lnTo>
                  <a:pt x="6986" y="0"/>
                </a:lnTo>
                <a:lnTo>
                  <a:pt x="69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6400440" y="3933720"/>
            <a:ext cx="2267640" cy="371880"/>
          </a:xfrm>
          <a:custGeom>
            <a:avLst/>
            <a:gdLst/>
            <a:ahLst/>
            <a:rect l="0" t="0" r="r" b="b"/>
            <a:pathLst>
              <a:path w="6299" h="1033">
                <a:moveTo>
                  <a:pt x="0" y="0"/>
                </a:moveTo>
                <a:lnTo>
                  <a:pt x="6299" y="0"/>
                </a:lnTo>
                <a:lnTo>
                  <a:pt x="629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80680" y="4305240"/>
            <a:ext cx="3305520" cy="381240"/>
          </a:xfrm>
          <a:custGeom>
            <a:avLst/>
            <a:gdLst/>
            <a:ahLst/>
            <a:rect l="0" t="0" r="r" b="b"/>
            <a:pathLst>
              <a:path w="9182" h="1059">
                <a:moveTo>
                  <a:pt x="0" y="0"/>
                </a:moveTo>
                <a:lnTo>
                  <a:pt x="9182" y="0"/>
                </a:lnTo>
                <a:lnTo>
                  <a:pt x="918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885840" y="4305240"/>
            <a:ext cx="2514960" cy="381240"/>
          </a:xfrm>
          <a:custGeom>
            <a:avLst/>
            <a:gdLst/>
            <a:ahLst/>
            <a:rect l="0" t="0" r="r" b="b"/>
            <a:pathLst>
              <a:path w="6986" h="1059">
                <a:moveTo>
                  <a:pt x="0" y="0"/>
                </a:moveTo>
                <a:lnTo>
                  <a:pt x="6986" y="0"/>
                </a:lnTo>
                <a:lnTo>
                  <a:pt x="698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400440" y="4305240"/>
            <a:ext cx="2267640" cy="381240"/>
          </a:xfrm>
          <a:custGeom>
            <a:avLst/>
            <a:gdLst/>
            <a:ahLst/>
            <a:rect l="0" t="0" r="r" b="b"/>
            <a:pathLst>
              <a:path w="6299" h="1059">
                <a:moveTo>
                  <a:pt x="0" y="0"/>
                </a:moveTo>
                <a:lnTo>
                  <a:pt x="6299" y="0"/>
                </a:lnTo>
                <a:lnTo>
                  <a:pt x="629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71320" y="2438280"/>
            <a:ext cx="3314880" cy="9720"/>
          </a:xfrm>
          <a:custGeom>
            <a:avLst/>
            <a:gdLst/>
            <a:ahLst/>
            <a:rect l="0" t="0" r="r" b="b"/>
            <a:pathLst>
              <a:path w="9208" h="27">
                <a:moveTo>
                  <a:pt x="0" y="0"/>
                </a:moveTo>
                <a:lnTo>
                  <a:pt x="9208" y="0"/>
                </a:lnTo>
                <a:lnTo>
                  <a:pt x="9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387648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3885840" y="243828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639108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6400440" y="2438280"/>
            <a:ext cx="2267640" cy="9720"/>
          </a:xfrm>
          <a:custGeom>
            <a:avLst/>
            <a:gdLst/>
            <a:ahLst/>
            <a:rect l="0" t="0" r="r" b="b"/>
            <a:pathLst>
              <a:path w="6299" h="27">
                <a:moveTo>
                  <a:pt x="0" y="0"/>
                </a:moveTo>
                <a:lnTo>
                  <a:pt x="6299" y="0"/>
                </a:lnTo>
                <a:lnTo>
                  <a:pt x="62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865800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71320" y="2819160"/>
            <a:ext cx="3314880" cy="10080"/>
          </a:xfrm>
          <a:custGeom>
            <a:avLst/>
            <a:gdLst/>
            <a:ahLst/>
            <a:rect l="0" t="0" r="r" b="b"/>
            <a:pathLst>
              <a:path w="9208" h="28">
                <a:moveTo>
                  <a:pt x="0" y="0"/>
                </a:moveTo>
                <a:lnTo>
                  <a:pt x="9208" y="0"/>
                </a:lnTo>
                <a:lnTo>
                  <a:pt x="92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3885840" y="2819160"/>
            <a:ext cx="2514960" cy="10080"/>
          </a:xfrm>
          <a:custGeom>
            <a:avLst/>
            <a:gdLst/>
            <a:ah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6400440" y="2819160"/>
            <a:ext cx="2267640" cy="10080"/>
          </a:xfrm>
          <a:custGeom>
            <a:avLst/>
            <a:gdLst/>
            <a:ahLst/>
            <a:rect l="0" t="0" r="r" b="b"/>
            <a:pathLst>
              <a:path w="6299" h="28">
                <a:moveTo>
                  <a:pt x="0" y="0"/>
                </a:moveTo>
                <a:lnTo>
                  <a:pt x="6299" y="0"/>
                </a:lnTo>
                <a:lnTo>
                  <a:pt x="62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387648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639108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865800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571320" y="3190680"/>
            <a:ext cx="3314880" cy="9720"/>
          </a:xfrm>
          <a:custGeom>
            <a:avLst/>
            <a:gdLst/>
            <a:ahLst/>
            <a:rect l="0" t="0" r="r" b="b"/>
            <a:pathLst>
              <a:path w="9208" h="27">
                <a:moveTo>
                  <a:pt x="0" y="0"/>
                </a:moveTo>
                <a:lnTo>
                  <a:pt x="9208" y="0"/>
                </a:lnTo>
                <a:lnTo>
                  <a:pt x="9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387648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3885840" y="319068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639108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6400440" y="3190680"/>
            <a:ext cx="2267640" cy="9720"/>
          </a:xfrm>
          <a:custGeom>
            <a:avLst/>
            <a:gdLst/>
            <a:ahLst/>
            <a:rect l="0" t="0" r="r" b="b"/>
            <a:pathLst>
              <a:path w="6299" h="27">
                <a:moveTo>
                  <a:pt x="0" y="0"/>
                </a:moveTo>
                <a:lnTo>
                  <a:pt x="6299" y="0"/>
                </a:lnTo>
                <a:lnTo>
                  <a:pt x="62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865800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571320" y="3562200"/>
            <a:ext cx="3314880" cy="9720"/>
          </a:xfrm>
          <a:custGeom>
            <a:avLst/>
            <a:gdLst/>
            <a:ahLst/>
            <a:rect l="0" t="0" r="r" b="b"/>
            <a:pathLst>
              <a:path w="9208" h="27">
                <a:moveTo>
                  <a:pt x="0" y="0"/>
                </a:moveTo>
                <a:lnTo>
                  <a:pt x="9208" y="0"/>
                </a:lnTo>
                <a:lnTo>
                  <a:pt x="9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38764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3885840" y="356220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63910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6400440" y="3562200"/>
            <a:ext cx="2267640" cy="9720"/>
          </a:xfrm>
          <a:custGeom>
            <a:avLst/>
            <a:gdLst/>
            <a:ahLst/>
            <a:rect l="0" t="0" r="r" b="b"/>
            <a:pathLst>
              <a:path w="6299" h="27">
                <a:moveTo>
                  <a:pt x="0" y="0"/>
                </a:moveTo>
                <a:lnTo>
                  <a:pt x="6299" y="0"/>
                </a:lnTo>
                <a:lnTo>
                  <a:pt x="62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865800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571320" y="3933720"/>
            <a:ext cx="3314880" cy="9720"/>
          </a:xfrm>
          <a:custGeom>
            <a:avLst/>
            <a:gdLst/>
            <a:ahLst/>
            <a:rect l="0" t="0" r="r" b="b"/>
            <a:pathLst>
              <a:path w="9208" h="27">
                <a:moveTo>
                  <a:pt x="0" y="0"/>
                </a:moveTo>
                <a:lnTo>
                  <a:pt x="9208" y="0"/>
                </a:lnTo>
                <a:lnTo>
                  <a:pt x="9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387648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3885840" y="393372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639108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6400440" y="3933720"/>
            <a:ext cx="2267640" cy="9720"/>
          </a:xfrm>
          <a:custGeom>
            <a:avLst/>
            <a:gdLst/>
            <a:ahLst/>
            <a:rect l="0" t="0" r="r" b="b"/>
            <a:pathLst>
              <a:path w="6299" h="27">
                <a:moveTo>
                  <a:pt x="0" y="0"/>
                </a:moveTo>
                <a:lnTo>
                  <a:pt x="6299" y="0"/>
                </a:lnTo>
                <a:lnTo>
                  <a:pt x="62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865800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571320" y="4305240"/>
            <a:ext cx="3314880" cy="9720"/>
          </a:xfrm>
          <a:custGeom>
            <a:avLst/>
            <a:gdLst/>
            <a:ahLst/>
            <a:rect l="0" t="0" r="r" b="b"/>
            <a:pathLst>
              <a:path w="9208" h="27">
                <a:moveTo>
                  <a:pt x="0" y="0"/>
                </a:moveTo>
                <a:lnTo>
                  <a:pt x="9208" y="0"/>
                </a:lnTo>
                <a:lnTo>
                  <a:pt x="9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387648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3885840" y="430524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639108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6400440" y="4305240"/>
            <a:ext cx="2267640" cy="9720"/>
          </a:xfrm>
          <a:custGeom>
            <a:avLst/>
            <a:gdLst/>
            <a:ahLst/>
            <a:rect l="0" t="0" r="r" b="b"/>
            <a:pathLst>
              <a:path w="6299" h="27">
                <a:moveTo>
                  <a:pt x="0" y="0"/>
                </a:moveTo>
                <a:lnTo>
                  <a:pt x="6299" y="0"/>
                </a:lnTo>
                <a:lnTo>
                  <a:pt x="62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865800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571320" y="4676760"/>
            <a:ext cx="3314880" cy="9720"/>
          </a:xfrm>
          <a:custGeom>
            <a:avLst/>
            <a:gdLst/>
            <a:ahLst/>
            <a:rect l="0" t="0" r="r" b="b"/>
            <a:pathLst>
              <a:path w="9208" h="27">
                <a:moveTo>
                  <a:pt x="0" y="0"/>
                </a:moveTo>
                <a:lnTo>
                  <a:pt x="9208" y="0"/>
                </a:lnTo>
                <a:lnTo>
                  <a:pt x="9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3885840" y="467676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6400440" y="4676760"/>
            <a:ext cx="2267640" cy="9720"/>
          </a:xfrm>
          <a:custGeom>
            <a:avLst/>
            <a:gdLst/>
            <a:ahLst/>
            <a:rect l="0" t="0" r="r" b="b"/>
            <a:pathLst>
              <a:path w="6299" h="27">
                <a:moveTo>
                  <a:pt x="0" y="0"/>
                </a:moveTo>
                <a:lnTo>
                  <a:pt x="6299" y="0"/>
                </a:lnTo>
                <a:lnTo>
                  <a:pt x="62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571320" y="185940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可发表⽅向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⽅向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4013280" y="2504160"/>
            <a:ext cx="1206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⽬标会议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期刊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6525720" y="2504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关键贡献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04880" y="2885400"/>
            <a:ext cx="3038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End-to-end AI interior design pipeline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4013280" y="2885400"/>
            <a:ext cx="2019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CAAD Futures / eCAADe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525720" y="2885400"/>
            <a:ext cx="1707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⾸个分钟级交付全流程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04880" y="3256920"/>
            <a:ext cx="286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Multi-stakeholder LLM presentation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4013280" y="3256920"/>
            <a:ext cx="879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CHI / UIST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525720" y="3256920"/>
            <a:ext cx="2096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同源数据 →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N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套专业叙事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704880" y="3628440"/>
            <a:ext cx="20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BIM-LLM interoperability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4013280" y="3628440"/>
            <a:ext cx="224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Automation in Construction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525720" y="3628440"/>
            <a:ext cx="1991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IFC4 schema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⼀致性评估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704880" y="3999600"/>
            <a:ext cx="2316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CLI harness for GUI software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4013280" y="3999600"/>
            <a:ext cx="144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ICSE / FSE / ASE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525720" y="3999600"/>
            <a:ext cx="136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软件⼯程通⽤框架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704880" y="4371120"/>
            <a:ext cx="2968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User study: AI-designer collaboration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4013280" y="4371120"/>
            <a:ext cx="733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CHI LBW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525720" y="4371120"/>
            <a:ext cx="187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设计师信任度与修改偏好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285840" y="199440"/>
            <a:ext cx="301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AI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驱动家装研究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580680" y="244764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2133360" y="244764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0"/>
                </a:moveTo>
                <a:lnTo>
                  <a:pt x="5637" y="0"/>
                </a:lnTo>
                <a:lnTo>
                  <a:pt x="56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4162320" y="2447640"/>
            <a:ext cx="2400480" cy="371880"/>
          </a:xfrm>
          <a:custGeom>
            <a:avLst/>
            <a:gdLst/>
            <a:ahLst/>
            <a:rect l="0" t="0" r="r" b="b"/>
            <a:pathLst>
              <a:path w="6668" h="1033">
                <a:moveTo>
                  <a:pt x="0" y="0"/>
                </a:moveTo>
                <a:lnTo>
                  <a:pt x="6668" y="0"/>
                </a:lnTo>
                <a:lnTo>
                  <a:pt x="6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580680" y="244764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2133360" y="244764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0"/>
                </a:moveTo>
                <a:lnTo>
                  <a:pt x="5637" y="0"/>
                </a:lnTo>
                <a:lnTo>
                  <a:pt x="56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4162320" y="2447640"/>
            <a:ext cx="2400480" cy="371880"/>
          </a:xfrm>
          <a:custGeom>
            <a:avLst/>
            <a:gdLst/>
            <a:ahLst/>
            <a:rect l="0" t="0" r="r" b="b"/>
            <a:pathLst>
              <a:path w="6668" h="1033">
                <a:moveTo>
                  <a:pt x="0" y="0"/>
                </a:moveTo>
                <a:lnTo>
                  <a:pt x="6668" y="0"/>
                </a:lnTo>
                <a:lnTo>
                  <a:pt x="6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580680" y="281916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2133360" y="281916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0"/>
                </a:moveTo>
                <a:lnTo>
                  <a:pt x="5637" y="0"/>
                </a:lnTo>
                <a:lnTo>
                  <a:pt x="56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4162320" y="2819160"/>
            <a:ext cx="2400480" cy="371880"/>
          </a:xfrm>
          <a:custGeom>
            <a:avLst/>
            <a:gdLst/>
            <a:ahLst/>
            <a:rect l="0" t="0" r="r" b="b"/>
            <a:pathLst>
              <a:path w="6668" h="1033">
                <a:moveTo>
                  <a:pt x="0" y="0"/>
                </a:moveTo>
                <a:lnTo>
                  <a:pt x="6668" y="0"/>
                </a:lnTo>
                <a:lnTo>
                  <a:pt x="6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580680" y="319068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2133360" y="319068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0"/>
                </a:moveTo>
                <a:lnTo>
                  <a:pt x="5637" y="0"/>
                </a:lnTo>
                <a:lnTo>
                  <a:pt x="56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4162320" y="3190680"/>
            <a:ext cx="2400480" cy="371880"/>
          </a:xfrm>
          <a:custGeom>
            <a:avLst/>
            <a:gdLst/>
            <a:ahLst/>
            <a:rect l="0" t="0" r="r" b="b"/>
            <a:pathLst>
              <a:path w="6668" h="1033">
                <a:moveTo>
                  <a:pt x="0" y="0"/>
                </a:moveTo>
                <a:lnTo>
                  <a:pt x="6668" y="0"/>
                </a:lnTo>
                <a:lnTo>
                  <a:pt x="6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580680" y="356220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2133360" y="356220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0"/>
                </a:moveTo>
                <a:lnTo>
                  <a:pt x="5637" y="0"/>
                </a:lnTo>
                <a:lnTo>
                  <a:pt x="56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4162320" y="3562200"/>
            <a:ext cx="2400480" cy="371880"/>
          </a:xfrm>
          <a:custGeom>
            <a:avLst/>
            <a:gdLst/>
            <a:ahLst/>
            <a:rect l="0" t="0" r="r" b="b"/>
            <a:pathLst>
              <a:path w="6668" h="1033">
                <a:moveTo>
                  <a:pt x="0" y="0"/>
                </a:moveTo>
                <a:lnTo>
                  <a:pt x="6668" y="0"/>
                </a:lnTo>
                <a:lnTo>
                  <a:pt x="6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580680" y="393372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2133360" y="393372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0"/>
                </a:moveTo>
                <a:lnTo>
                  <a:pt x="5637" y="0"/>
                </a:lnTo>
                <a:lnTo>
                  <a:pt x="56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4162320" y="3933720"/>
            <a:ext cx="2400480" cy="371880"/>
          </a:xfrm>
          <a:custGeom>
            <a:avLst/>
            <a:gdLst/>
            <a:ahLst/>
            <a:rect l="0" t="0" r="r" b="b"/>
            <a:pathLst>
              <a:path w="6668" h="1033">
                <a:moveTo>
                  <a:pt x="0" y="0"/>
                </a:moveTo>
                <a:lnTo>
                  <a:pt x="6668" y="0"/>
                </a:lnTo>
                <a:lnTo>
                  <a:pt x="6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580680" y="4305240"/>
            <a:ext cx="1553040" cy="381240"/>
          </a:xfrm>
          <a:custGeom>
            <a:avLst/>
            <a:gdLst/>
            <a:ahLst/>
            <a:rect l="0" t="0" r="r" b="b"/>
            <a:pathLst>
              <a:path w="4314" h="1059">
                <a:moveTo>
                  <a:pt x="0" y="0"/>
                </a:moveTo>
                <a:lnTo>
                  <a:pt x="4314" y="0"/>
                </a:lnTo>
                <a:lnTo>
                  <a:pt x="431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2133360" y="4305240"/>
            <a:ext cx="2029320" cy="381240"/>
          </a:xfrm>
          <a:custGeom>
            <a:avLst/>
            <a:gdLst/>
            <a:ahLst/>
            <a:rect l="0" t="0" r="r" b="b"/>
            <a:pathLst>
              <a:path w="5637" h="1059">
                <a:moveTo>
                  <a:pt x="0" y="0"/>
                </a:moveTo>
                <a:lnTo>
                  <a:pt x="5637" y="0"/>
                </a:lnTo>
                <a:lnTo>
                  <a:pt x="563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4162320" y="4305240"/>
            <a:ext cx="2400480" cy="381240"/>
          </a:xfrm>
          <a:custGeom>
            <a:avLst/>
            <a:gdLst/>
            <a:ahLst/>
            <a:rect l="0" t="0" r="r" b="b"/>
            <a:pathLst>
              <a:path w="6668" h="1059">
                <a:moveTo>
                  <a:pt x="0" y="0"/>
                </a:moveTo>
                <a:lnTo>
                  <a:pt x="6668" y="0"/>
                </a:lnTo>
                <a:lnTo>
                  <a:pt x="6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571320" y="2438280"/>
            <a:ext cx="1572120" cy="9720"/>
          </a:xfrm>
          <a:custGeom>
            <a:avLst/>
            <a:gdLst/>
            <a:ahLst/>
            <a:rect l="0" t="0" r="r" b="b"/>
            <a:pathLst>
              <a:path w="4367" h="27">
                <a:moveTo>
                  <a:pt x="0" y="0"/>
                </a:moveTo>
                <a:lnTo>
                  <a:pt x="4367" y="0"/>
                </a:lnTo>
                <a:lnTo>
                  <a:pt x="4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213336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2143080" y="2438280"/>
            <a:ext cx="2028960" cy="9720"/>
          </a:xfrm>
          <a:custGeom>
            <a:avLst/>
            <a:gdLst/>
            <a:ah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4162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4171680" y="2438280"/>
            <a:ext cx="2400840" cy="9720"/>
          </a:xfrm>
          <a:custGeom>
            <a:avLst/>
            <a:gdLst/>
            <a:ah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656244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571320" y="2819160"/>
            <a:ext cx="1572120" cy="10080"/>
          </a:xfrm>
          <a:custGeom>
            <a:avLst/>
            <a:gdLst/>
            <a:ahLst/>
            <a:rect l="0" t="0" r="r" b="b"/>
            <a:pathLst>
              <a:path w="4367" h="28">
                <a:moveTo>
                  <a:pt x="0" y="0"/>
                </a:moveTo>
                <a:lnTo>
                  <a:pt x="4367" y="0"/>
                </a:lnTo>
                <a:lnTo>
                  <a:pt x="43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2143080" y="2819160"/>
            <a:ext cx="2028960" cy="10080"/>
          </a:xfrm>
          <a:custGeom>
            <a:avLst/>
            <a:gdLst/>
            <a:ahLst/>
            <a:rect l="0" t="0" r="r" b="b"/>
            <a:pathLst>
              <a:path w="5636" h="28">
                <a:moveTo>
                  <a:pt x="0" y="0"/>
                </a:moveTo>
                <a:lnTo>
                  <a:pt x="5636" y="0"/>
                </a:lnTo>
                <a:lnTo>
                  <a:pt x="56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4171680" y="2819160"/>
            <a:ext cx="2400840" cy="10080"/>
          </a:xfrm>
          <a:custGeom>
            <a:avLst/>
            <a:gdLst/>
            <a:ahLst/>
            <a:rect l="0" t="0" r="r" b="b"/>
            <a:pathLst>
              <a:path w="6669" h="28">
                <a:moveTo>
                  <a:pt x="0" y="0"/>
                </a:moveTo>
                <a:lnTo>
                  <a:pt x="6669" y="0"/>
                </a:lnTo>
                <a:lnTo>
                  <a:pt x="66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213336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4162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656244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571320" y="3190680"/>
            <a:ext cx="1572120" cy="9720"/>
          </a:xfrm>
          <a:custGeom>
            <a:avLst/>
            <a:gdLst/>
            <a:ahLst/>
            <a:rect l="0" t="0" r="r" b="b"/>
            <a:pathLst>
              <a:path w="4367" h="27">
                <a:moveTo>
                  <a:pt x="0" y="0"/>
                </a:moveTo>
                <a:lnTo>
                  <a:pt x="4367" y="0"/>
                </a:lnTo>
                <a:lnTo>
                  <a:pt x="4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213336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143080" y="3190680"/>
            <a:ext cx="2028960" cy="9720"/>
          </a:xfrm>
          <a:custGeom>
            <a:avLst/>
            <a:gdLst/>
            <a:ah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4162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4171680" y="3190680"/>
            <a:ext cx="2400840" cy="9720"/>
          </a:xfrm>
          <a:custGeom>
            <a:avLst/>
            <a:gdLst/>
            <a:ah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656244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571320" y="3562200"/>
            <a:ext cx="1572120" cy="9720"/>
          </a:xfrm>
          <a:custGeom>
            <a:avLst/>
            <a:gdLst/>
            <a:ahLst/>
            <a:rect l="0" t="0" r="r" b="b"/>
            <a:pathLst>
              <a:path w="4367" h="27">
                <a:moveTo>
                  <a:pt x="0" y="0"/>
                </a:moveTo>
                <a:lnTo>
                  <a:pt x="4367" y="0"/>
                </a:lnTo>
                <a:lnTo>
                  <a:pt x="4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213336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2143080" y="3562200"/>
            <a:ext cx="2028960" cy="9720"/>
          </a:xfrm>
          <a:custGeom>
            <a:avLst/>
            <a:gdLst/>
            <a:ah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4162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4171680" y="3562200"/>
            <a:ext cx="2400840" cy="9720"/>
          </a:xfrm>
          <a:custGeom>
            <a:avLst/>
            <a:gdLst/>
            <a:ah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656244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571320" y="3933720"/>
            <a:ext cx="1572120" cy="9720"/>
          </a:xfrm>
          <a:custGeom>
            <a:avLst/>
            <a:gdLst/>
            <a:ahLst/>
            <a:rect l="0" t="0" r="r" b="b"/>
            <a:pathLst>
              <a:path w="4367" h="27">
                <a:moveTo>
                  <a:pt x="0" y="0"/>
                </a:moveTo>
                <a:lnTo>
                  <a:pt x="4367" y="0"/>
                </a:lnTo>
                <a:lnTo>
                  <a:pt x="4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213336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2143080" y="3933720"/>
            <a:ext cx="2028960" cy="9720"/>
          </a:xfrm>
          <a:custGeom>
            <a:avLst/>
            <a:gdLst/>
            <a:ah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4162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4171680" y="3933720"/>
            <a:ext cx="2400840" cy="9720"/>
          </a:xfrm>
          <a:custGeom>
            <a:avLst/>
            <a:gdLst/>
            <a:ah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656244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571320" y="4305240"/>
            <a:ext cx="1572120" cy="9720"/>
          </a:xfrm>
          <a:custGeom>
            <a:avLst/>
            <a:gdLst/>
            <a:ahLst/>
            <a:rect l="0" t="0" r="r" b="b"/>
            <a:pathLst>
              <a:path w="4367" h="27">
                <a:moveTo>
                  <a:pt x="0" y="0"/>
                </a:moveTo>
                <a:lnTo>
                  <a:pt x="4367" y="0"/>
                </a:lnTo>
                <a:lnTo>
                  <a:pt x="4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213336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2143080" y="4305240"/>
            <a:ext cx="2028960" cy="9720"/>
          </a:xfrm>
          <a:custGeom>
            <a:avLst/>
            <a:gdLst/>
            <a:ah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4162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4171680" y="4305240"/>
            <a:ext cx="2400840" cy="9720"/>
          </a:xfrm>
          <a:custGeom>
            <a:avLst/>
            <a:gdLst/>
            <a:ah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656244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571320" y="4676760"/>
            <a:ext cx="1572120" cy="9720"/>
          </a:xfrm>
          <a:custGeom>
            <a:avLst/>
            <a:gdLst/>
            <a:ahLst/>
            <a:rect l="0" t="0" r="r" b="b"/>
            <a:pathLst>
              <a:path w="4367" h="27">
                <a:moveTo>
                  <a:pt x="0" y="0"/>
                </a:moveTo>
                <a:lnTo>
                  <a:pt x="4367" y="0"/>
                </a:lnTo>
                <a:lnTo>
                  <a:pt x="4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2143080" y="4676760"/>
            <a:ext cx="2028960" cy="9720"/>
          </a:xfrm>
          <a:custGeom>
            <a:avLst/>
            <a:gdLst/>
            <a:ah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4171680" y="4676760"/>
            <a:ext cx="2400840" cy="9720"/>
          </a:xfrm>
          <a:custGeom>
            <a:avLst/>
            <a:gdLst/>
            <a:ah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571320" y="1859400"/>
            <a:ext cx="2006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教学与孵化价值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场景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2262600" y="2504160"/>
            <a:ext cx="86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课程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429084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素材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704880" y="2885400"/>
            <a:ext cx="134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研究⽣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capstone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2262600" y="2885400"/>
            <a:ext cx="1859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计算性设计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AI ×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建筑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4290840" y="2885400"/>
            <a:ext cx="2282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业态模板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pipeline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源码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704880" y="32569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跨学科课题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2262600" y="3256920"/>
            <a:ext cx="1820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建筑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计算机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商业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4290840" y="3256920"/>
            <a:ext cx="1550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brief →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交付全链路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704880" y="36284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创业孵化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2262600" y="3628440"/>
            <a:ext cx="1803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StartUP-Building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项⽬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4290840" y="3628440"/>
            <a:ext cx="16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本仓库为⼯作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branch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704880" y="39996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数字孪⽣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2262600" y="3999600"/>
            <a:ext cx="136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建筑信息与可视化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4290840" y="3999600"/>
            <a:ext cx="1374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IFC4 + glTF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样例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704880" y="4371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本科通识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2262600" y="4371120"/>
            <a:ext cx="770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与设计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4290840" y="4371120"/>
            <a:ext cx="1654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demo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，直观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285840" y="199440"/>
            <a:ext cx="301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AI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驱动家装研究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576000" y="2890800"/>
            <a:ext cx="11039760" cy="1343160"/>
          </a:xfrm>
          <a:custGeom>
            <a:avLst/>
            <a:gdLst/>
            <a:ahLst/>
            <a:rect l="0" t="0" r="r" b="b"/>
            <a:pathLst>
              <a:path w="30666" h="3731">
                <a:moveTo>
                  <a:pt x="0" y="358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2"/>
                </a:cubicBezTo>
                <a:cubicBezTo>
                  <a:pt x="30559" y="4"/>
                  <a:pt x="30568" y="7"/>
                  <a:pt x="30577" y="11"/>
                </a:cubicBezTo>
                <a:cubicBezTo>
                  <a:pt x="30585" y="14"/>
                  <a:pt x="30594" y="19"/>
                  <a:pt x="30602" y="24"/>
                </a:cubicBezTo>
                <a:cubicBezTo>
                  <a:pt x="30610" y="29"/>
                  <a:pt x="30617" y="35"/>
                  <a:pt x="30624" y="42"/>
                </a:cubicBezTo>
                <a:cubicBezTo>
                  <a:pt x="30631" y="49"/>
                  <a:pt x="30637" y="56"/>
                  <a:pt x="30642" y="64"/>
                </a:cubicBezTo>
                <a:cubicBezTo>
                  <a:pt x="30647" y="72"/>
                  <a:pt x="30652" y="81"/>
                  <a:pt x="30655" y="89"/>
                </a:cubicBezTo>
                <a:cubicBezTo>
                  <a:pt x="30659" y="98"/>
                  <a:pt x="30662" y="107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3586"/>
                </a:lnTo>
                <a:cubicBezTo>
                  <a:pt x="30666" y="3595"/>
                  <a:pt x="30665" y="3605"/>
                  <a:pt x="30664" y="3614"/>
                </a:cubicBezTo>
                <a:cubicBezTo>
                  <a:pt x="30662" y="3623"/>
                  <a:pt x="30659" y="3633"/>
                  <a:pt x="30655" y="3641"/>
                </a:cubicBezTo>
                <a:cubicBezTo>
                  <a:pt x="30652" y="3650"/>
                  <a:pt x="30647" y="3659"/>
                  <a:pt x="30642" y="3667"/>
                </a:cubicBezTo>
                <a:cubicBezTo>
                  <a:pt x="30637" y="3674"/>
                  <a:pt x="30631" y="3682"/>
                  <a:pt x="30624" y="3689"/>
                </a:cubicBezTo>
                <a:cubicBezTo>
                  <a:pt x="30617" y="3695"/>
                  <a:pt x="30610" y="3701"/>
                  <a:pt x="30602" y="3707"/>
                </a:cubicBezTo>
                <a:cubicBezTo>
                  <a:pt x="30594" y="3712"/>
                  <a:pt x="30585" y="3716"/>
                  <a:pt x="30577" y="3720"/>
                </a:cubicBezTo>
                <a:cubicBezTo>
                  <a:pt x="30568" y="3724"/>
                  <a:pt x="30559" y="3727"/>
                  <a:pt x="30549" y="3728"/>
                </a:cubicBezTo>
                <a:cubicBezTo>
                  <a:pt x="30540" y="3730"/>
                  <a:pt x="30530" y="3731"/>
                  <a:pt x="30521" y="3731"/>
                </a:cubicBezTo>
                <a:lnTo>
                  <a:pt x="146" y="3731"/>
                </a:lnTo>
                <a:cubicBezTo>
                  <a:pt x="136" y="3731"/>
                  <a:pt x="127" y="3730"/>
                  <a:pt x="117" y="3728"/>
                </a:cubicBezTo>
                <a:cubicBezTo>
                  <a:pt x="108" y="3727"/>
                  <a:pt x="99" y="3724"/>
                  <a:pt x="90" y="3720"/>
                </a:cubicBezTo>
                <a:cubicBezTo>
                  <a:pt x="81" y="3716"/>
                  <a:pt x="73" y="3712"/>
                  <a:pt x="65" y="3707"/>
                </a:cubicBezTo>
                <a:cubicBezTo>
                  <a:pt x="57" y="3701"/>
                  <a:pt x="50" y="3695"/>
                  <a:pt x="43" y="3689"/>
                </a:cubicBezTo>
                <a:cubicBezTo>
                  <a:pt x="36" y="3682"/>
                  <a:pt x="30" y="3674"/>
                  <a:pt x="25" y="3667"/>
                </a:cubicBezTo>
                <a:cubicBezTo>
                  <a:pt x="19" y="3659"/>
                  <a:pt x="15" y="3650"/>
                  <a:pt x="11" y="3641"/>
                </a:cubicBezTo>
                <a:cubicBezTo>
                  <a:pt x="8" y="3633"/>
                  <a:pt x="5" y="3623"/>
                  <a:pt x="3" y="3614"/>
                </a:cubicBezTo>
                <a:cubicBezTo>
                  <a:pt x="1" y="3605"/>
                  <a:pt x="0" y="3595"/>
                  <a:pt x="0" y="35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576000" y="2890800"/>
            <a:ext cx="11039760" cy="1343160"/>
          </a:xfrm>
          <a:custGeom>
            <a:avLst/>
            <a:gdLst/>
            <a:ahLst/>
            <a:rect l="0" t="0" r="r" b="b"/>
            <a:pathLst>
              <a:path w="30666" h="3731">
                <a:moveTo>
                  <a:pt x="0" y="358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2"/>
                </a:cubicBezTo>
                <a:cubicBezTo>
                  <a:pt x="30559" y="4"/>
                  <a:pt x="30568" y="7"/>
                  <a:pt x="30577" y="11"/>
                </a:cubicBezTo>
                <a:cubicBezTo>
                  <a:pt x="30585" y="14"/>
                  <a:pt x="30594" y="19"/>
                  <a:pt x="30602" y="24"/>
                </a:cubicBezTo>
                <a:cubicBezTo>
                  <a:pt x="30610" y="29"/>
                  <a:pt x="30617" y="35"/>
                  <a:pt x="30624" y="42"/>
                </a:cubicBezTo>
                <a:cubicBezTo>
                  <a:pt x="30631" y="49"/>
                  <a:pt x="30637" y="56"/>
                  <a:pt x="30642" y="64"/>
                </a:cubicBezTo>
                <a:cubicBezTo>
                  <a:pt x="30647" y="72"/>
                  <a:pt x="30652" y="81"/>
                  <a:pt x="30655" y="89"/>
                </a:cubicBezTo>
                <a:cubicBezTo>
                  <a:pt x="30659" y="98"/>
                  <a:pt x="30662" y="107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3586"/>
                </a:lnTo>
                <a:cubicBezTo>
                  <a:pt x="30666" y="3595"/>
                  <a:pt x="30665" y="3605"/>
                  <a:pt x="30664" y="3614"/>
                </a:cubicBezTo>
                <a:cubicBezTo>
                  <a:pt x="30662" y="3623"/>
                  <a:pt x="30659" y="3633"/>
                  <a:pt x="30655" y="3641"/>
                </a:cubicBezTo>
                <a:cubicBezTo>
                  <a:pt x="30652" y="3650"/>
                  <a:pt x="30647" y="3659"/>
                  <a:pt x="30642" y="3667"/>
                </a:cubicBezTo>
                <a:cubicBezTo>
                  <a:pt x="30637" y="3674"/>
                  <a:pt x="30631" y="3682"/>
                  <a:pt x="30624" y="3689"/>
                </a:cubicBezTo>
                <a:cubicBezTo>
                  <a:pt x="30617" y="3695"/>
                  <a:pt x="30610" y="3701"/>
                  <a:pt x="30602" y="3707"/>
                </a:cubicBezTo>
                <a:cubicBezTo>
                  <a:pt x="30594" y="3712"/>
                  <a:pt x="30585" y="3716"/>
                  <a:pt x="30577" y="3720"/>
                </a:cubicBezTo>
                <a:cubicBezTo>
                  <a:pt x="30568" y="3724"/>
                  <a:pt x="30559" y="3727"/>
                  <a:pt x="30549" y="3728"/>
                </a:cubicBezTo>
                <a:cubicBezTo>
                  <a:pt x="30540" y="3730"/>
                  <a:pt x="30530" y="3731"/>
                  <a:pt x="30521" y="3731"/>
                </a:cubicBezTo>
                <a:lnTo>
                  <a:pt x="146" y="3731"/>
                </a:lnTo>
                <a:cubicBezTo>
                  <a:pt x="136" y="3731"/>
                  <a:pt x="127" y="3730"/>
                  <a:pt x="117" y="3728"/>
                </a:cubicBezTo>
                <a:cubicBezTo>
                  <a:pt x="108" y="3727"/>
                  <a:pt x="99" y="3724"/>
                  <a:pt x="90" y="3720"/>
                </a:cubicBezTo>
                <a:cubicBezTo>
                  <a:pt x="81" y="3716"/>
                  <a:pt x="73" y="3712"/>
                  <a:pt x="65" y="3707"/>
                </a:cubicBezTo>
                <a:cubicBezTo>
                  <a:pt x="57" y="3701"/>
                  <a:pt x="50" y="3695"/>
                  <a:pt x="43" y="3689"/>
                </a:cubicBezTo>
                <a:cubicBezTo>
                  <a:pt x="36" y="3682"/>
                  <a:pt x="30" y="3674"/>
                  <a:pt x="25" y="3667"/>
                </a:cubicBezTo>
                <a:cubicBezTo>
                  <a:pt x="19" y="3659"/>
                  <a:pt x="15" y="3650"/>
                  <a:pt x="11" y="3641"/>
                </a:cubicBezTo>
                <a:cubicBezTo>
                  <a:pt x="8" y="3633"/>
                  <a:pt x="5" y="3623"/>
                  <a:pt x="3" y="3614"/>
                </a:cubicBezTo>
                <a:cubicBezTo>
                  <a:pt x="1" y="3605"/>
                  <a:pt x="0" y="3595"/>
                  <a:pt x="0" y="35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571320" y="230688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本年度计划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733320" y="3044520"/>
            <a:ext cx="2040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Q2 (2026-04 ~ 06)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2770920" y="302112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完成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3126960" y="304452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13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3556080" y="302112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业态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3912480" y="3044520"/>
            <a:ext cx="752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MVP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4663080" y="3021120"/>
            <a:ext cx="14270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⼩规模客户测试（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6087960" y="304452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20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6409440" y="302112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单）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733320" y="3254040"/>
            <a:ext cx="2040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Q3 (2026-07 ~ 09)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2770920" y="3230640"/>
            <a:ext cx="17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投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2949120" y="3254040"/>
            <a:ext cx="27918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CAAD Futures / CHI LBW ·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5737320" y="3230640"/>
            <a:ext cx="1070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撰写期刊⻓⽂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733320" y="3454200"/>
            <a:ext cx="2040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Q4 (2026-10 ~ 12)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2770920" y="3430800"/>
            <a:ext cx="1070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申软件著作权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3839760" y="3454200"/>
            <a:ext cx="752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× 2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4590360" y="343080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发明专利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5302800" y="345420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× 1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733320" y="3663720"/>
            <a:ext cx="2040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               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2770920" y="364032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联合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3126960" y="366372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2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3448800" y="3640320"/>
            <a:ext cx="12488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家家装企业试点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4695840" y="3663720"/>
            <a:ext cx="537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100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5231880" y="3640320"/>
            <a:ext cx="17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单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733320" y="3863880"/>
            <a:ext cx="2040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2027 H1          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2770920" y="3840120"/>
            <a:ext cx="892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国际合作（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3661560" y="3863880"/>
            <a:ext cx="10742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NTU / ETH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4734000" y="3840120"/>
            <a:ext cx="892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建筑学院）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285840" y="199440"/>
            <a:ext cx="301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AI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驱动家装研究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571320" y="258120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9B3F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571320" y="1620720"/>
            <a:ext cx="365832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争取学校⽀持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571320" y="2839320"/>
            <a:ext cx="122004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请求三项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628920" y="3454560"/>
            <a:ext cx="5901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算⼒⽀持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4090 × 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或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A100 × 1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，⽤于⼤规模业态库训练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587160" y="3816360"/>
            <a:ext cx="5929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试点空间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：校内孵化器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m²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⼯位，作为现场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demo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基地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587160" y="4178520"/>
            <a:ext cx="6264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跨院系合作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：建筑学院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计算机学院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商学院联合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capstone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571320" y="4597560"/>
            <a:ext cx="7359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→ 预期成果：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篇顶会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+ 1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项专利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+ 3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位研究⽣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capstone + 1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家孵化企业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285840" y="199440"/>
            <a:ext cx="301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AI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驱动家装研究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