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571320" y="3162240"/>
            <a:ext cx="11049480" cy="57240"/>
          </a:xfrm>
          <a:custGeom>
            <a:avLst/>
            <a:gdLst/>
            <a:ahLst/>
            <a:rect l="0" t="0" r="r" b="b"/>
            <a:pathLst>
              <a:path w="30693" h="159">
                <a:moveTo>
                  <a:pt x="0" y="0"/>
                </a:moveTo>
                <a:lnTo>
                  <a:pt x="30693" y="0"/>
                </a:lnTo>
                <a:lnTo>
                  <a:pt x="30693" y="15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solidFill>
            <a:srgbClr val="4A8B6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571320" y="2201760"/>
            <a:ext cx="320616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Coﬀee Lab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571320" y="3420360"/>
            <a:ext cx="486108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运营⼿册概览 </a:t>
            </a:r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80 m² 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精品咖啡店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571320" y="4015440"/>
            <a:ext cx="34682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每⽇流程 </a:t>
            </a:r>
            <a:r>
              <a:rPr lang="en-US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⻝安 </a:t>
            </a:r>
            <a:r>
              <a:rPr lang="en-US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培训 </a:t>
            </a:r>
            <a:r>
              <a:rPr lang="en-US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能耗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285840" y="6409440"/>
            <a:ext cx="371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店⻓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运营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18450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2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11048760" cy="690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285840" y="6409440"/>
            <a:ext cx="371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店⻓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运营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9" name=""/>
          <p:cNvPicPr/>
          <p:nvPr/>
        </p:nvPicPr>
        <p:blipFill>
          <a:blip r:embed="rId1"/>
          <a:stretch/>
        </p:blipFill>
        <p:spPr>
          <a:xfrm>
            <a:off x="5485680" y="0"/>
            <a:ext cx="67068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"/>
          <p:cNvSpPr txBox="1"/>
          <p:nvPr/>
        </p:nvSpPr>
        <p:spPr>
          <a:xfrm>
            <a:off x="571320" y="237348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客⼈动线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2991240" y="920880"/>
            <a:ext cx="2025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1.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进⻔即⻅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LOGO +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3200400" y="1225800"/>
            <a:ext cx="1601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书架墙 → 直觉找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3200400" y="1521000"/>
            <a:ext cx="627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到吧台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2949480" y="1882800"/>
            <a:ext cx="19346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2.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吧台点单（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AI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菜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3200400" y="2187720"/>
            <a:ext cx="1635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单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线下菜单）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3200400" y="2492640"/>
            <a:ext cx="1752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→ ⼿机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桌号取餐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2949480" y="2854440"/>
            <a:ext cx="2072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3.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散座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⻓桌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沙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3200400" y="3159360"/>
            <a:ext cx="1671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发⾃由选（⾮满座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3200400" y="3463920"/>
            <a:ext cx="1044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不设带位）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2949480" y="3826080"/>
            <a:ext cx="1979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4.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离开⾛相同通道，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628560" y="52765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2"/>
                </a:cubicBezTo>
                <a:cubicBezTo>
                  <a:pt x="41" y="22"/>
                  <a:pt x="53" y="15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5"/>
                  <a:pt x="171" y="22"/>
                  <a:pt x="181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3200400" y="4130640"/>
            <a:ext cx="1044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不穿越后厨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38080" y="5159520"/>
            <a:ext cx="1822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动线不交叉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客⼈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838080" y="5454720"/>
            <a:ext cx="1044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不触碰后厨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285840" y="6409440"/>
            <a:ext cx="371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店⻓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运营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580680" y="188568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2038320" y="1885680"/>
            <a:ext cx="2819520" cy="371880"/>
          </a:xfrm>
          <a:custGeom>
            <a:avLst/>
            <a:gdLst/>
            <a:ahLst/>
            <a:rect l="0" t="0" r="r" b="b"/>
            <a:pathLst>
              <a:path w="7832" h="1033">
                <a:moveTo>
                  <a:pt x="0" y="0"/>
                </a:moveTo>
                <a:lnTo>
                  <a:pt x="7832" y="0"/>
                </a:lnTo>
                <a:lnTo>
                  <a:pt x="7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580680" y="188568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2038320" y="1885680"/>
            <a:ext cx="2819520" cy="371880"/>
          </a:xfrm>
          <a:custGeom>
            <a:avLst/>
            <a:gdLst/>
            <a:ahLst/>
            <a:rect l="0" t="0" r="r" b="b"/>
            <a:pathLst>
              <a:path w="7832" h="1033">
                <a:moveTo>
                  <a:pt x="0" y="0"/>
                </a:moveTo>
                <a:lnTo>
                  <a:pt x="7832" y="0"/>
                </a:lnTo>
                <a:lnTo>
                  <a:pt x="7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580680" y="2257200"/>
            <a:ext cx="1458000" cy="381240"/>
          </a:xfrm>
          <a:custGeom>
            <a:avLst/>
            <a:gdLst/>
            <a:ahLst/>
            <a:rect l="0" t="0" r="r" b="b"/>
            <a:pathLst>
              <a:path w="4050" h="1059">
                <a:moveTo>
                  <a:pt x="0" y="0"/>
                </a:moveTo>
                <a:lnTo>
                  <a:pt x="4050" y="0"/>
                </a:lnTo>
                <a:lnTo>
                  <a:pt x="405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2038320" y="2257200"/>
            <a:ext cx="2819520" cy="381240"/>
          </a:xfrm>
          <a:custGeom>
            <a:avLst/>
            <a:gdLst/>
            <a:ahLst/>
            <a:rect l="0" t="0" r="r" b="b"/>
            <a:pathLst>
              <a:path w="7832" h="1059">
                <a:moveTo>
                  <a:pt x="0" y="0"/>
                </a:moveTo>
                <a:lnTo>
                  <a:pt x="7832" y="0"/>
                </a:lnTo>
                <a:lnTo>
                  <a:pt x="783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580680" y="263808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2038320" y="2638080"/>
            <a:ext cx="2819520" cy="371880"/>
          </a:xfrm>
          <a:custGeom>
            <a:avLst/>
            <a:gdLst/>
            <a:ahLst/>
            <a:rect l="0" t="0" r="r" b="b"/>
            <a:pathLst>
              <a:path w="7832" h="1033">
                <a:moveTo>
                  <a:pt x="0" y="0"/>
                </a:moveTo>
                <a:lnTo>
                  <a:pt x="7832" y="0"/>
                </a:lnTo>
                <a:lnTo>
                  <a:pt x="7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580680" y="300960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2038320" y="3009600"/>
            <a:ext cx="2819520" cy="371880"/>
          </a:xfrm>
          <a:custGeom>
            <a:avLst/>
            <a:gdLst/>
            <a:ahLst/>
            <a:rect l="0" t="0" r="r" b="b"/>
            <a:pathLst>
              <a:path w="7832" h="1033">
                <a:moveTo>
                  <a:pt x="0" y="0"/>
                </a:moveTo>
                <a:lnTo>
                  <a:pt x="7832" y="0"/>
                </a:lnTo>
                <a:lnTo>
                  <a:pt x="7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580680" y="338112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2038320" y="3381120"/>
            <a:ext cx="2819520" cy="371880"/>
          </a:xfrm>
          <a:custGeom>
            <a:avLst/>
            <a:gdLst/>
            <a:ahLst/>
            <a:rect l="0" t="0" r="r" b="b"/>
            <a:pathLst>
              <a:path w="7832" h="1033">
                <a:moveTo>
                  <a:pt x="0" y="0"/>
                </a:moveTo>
                <a:lnTo>
                  <a:pt x="7832" y="0"/>
                </a:lnTo>
                <a:lnTo>
                  <a:pt x="7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580680" y="375264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2038320" y="3752640"/>
            <a:ext cx="2819520" cy="371880"/>
          </a:xfrm>
          <a:custGeom>
            <a:avLst/>
            <a:gdLst/>
            <a:ahLst/>
            <a:rect l="0" t="0" r="r" b="b"/>
            <a:pathLst>
              <a:path w="7832" h="1033">
                <a:moveTo>
                  <a:pt x="0" y="0"/>
                </a:moveTo>
                <a:lnTo>
                  <a:pt x="7832" y="0"/>
                </a:lnTo>
                <a:lnTo>
                  <a:pt x="7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580680" y="412416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2038320" y="4124160"/>
            <a:ext cx="2819520" cy="371880"/>
          </a:xfrm>
          <a:custGeom>
            <a:avLst/>
            <a:gdLst/>
            <a:ahLst/>
            <a:rect l="0" t="0" r="r" b="b"/>
            <a:pathLst>
              <a:path w="7832" h="1033">
                <a:moveTo>
                  <a:pt x="0" y="0"/>
                </a:moveTo>
                <a:lnTo>
                  <a:pt x="7832" y="0"/>
                </a:lnTo>
                <a:lnTo>
                  <a:pt x="7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580680" y="449568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2038320" y="4495680"/>
            <a:ext cx="2819520" cy="371880"/>
          </a:xfrm>
          <a:custGeom>
            <a:avLst/>
            <a:gdLst/>
            <a:ahLst/>
            <a:rect l="0" t="0" r="r" b="b"/>
            <a:pathLst>
              <a:path w="7832" h="1033">
                <a:moveTo>
                  <a:pt x="0" y="0"/>
                </a:moveTo>
                <a:lnTo>
                  <a:pt x="7832" y="0"/>
                </a:lnTo>
                <a:lnTo>
                  <a:pt x="7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580680" y="486720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2038320" y="4867200"/>
            <a:ext cx="2819520" cy="371880"/>
          </a:xfrm>
          <a:custGeom>
            <a:avLst/>
            <a:gdLst/>
            <a:ahLst/>
            <a:rect l="0" t="0" r="r" b="b"/>
            <a:pathLst>
              <a:path w="7832" h="1033">
                <a:moveTo>
                  <a:pt x="0" y="0"/>
                </a:moveTo>
                <a:lnTo>
                  <a:pt x="7832" y="0"/>
                </a:lnTo>
                <a:lnTo>
                  <a:pt x="7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571320" y="18856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571320" y="1885680"/>
            <a:ext cx="1467360" cy="10440"/>
          </a:xfrm>
          <a:custGeom>
            <a:avLst/>
            <a:gdLst/>
            <a:ahLst/>
            <a:rect l="0" t="0" r="r" b="b"/>
            <a:pathLst>
              <a:path w="4076" h="29">
                <a:moveTo>
                  <a:pt x="0" y="0"/>
                </a:moveTo>
                <a:lnTo>
                  <a:pt x="4076" y="0"/>
                </a:lnTo>
                <a:lnTo>
                  <a:pt x="4076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2028600" y="188568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2038320" y="1885680"/>
            <a:ext cx="2819520" cy="10440"/>
          </a:xfrm>
          <a:custGeom>
            <a:avLst/>
            <a:gdLst/>
            <a:ahLst/>
            <a:rect l="0" t="0" r="r" b="b"/>
            <a:pathLst>
              <a:path w="7832" h="29">
                <a:moveTo>
                  <a:pt x="0" y="0"/>
                </a:moveTo>
                <a:lnTo>
                  <a:pt x="7832" y="0"/>
                </a:lnTo>
                <a:lnTo>
                  <a:pt x="7832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4848120" y="18856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571320" y="2257200"/>
            <a:ext cx="1467360" cy="10080"/>
          </a:xfrm>
          <a:custGeom>
            <a:avLst/>
            <a:gdLst/>
            <a:ahLst/>
            <a:rect l="0" t="0" r="r" b="b"/>
            <a:pathLst>
              <a:path w="4076" h="28">
                <a:moveTo>
                  <a:pt x="0" y="0"/>
                </a:moveTo>
                <a:lnTo>
                  <a:pt x="4076" y="0"/>
                </a:lnTo>
                <a:lnTo>
                  <a:pt x="40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2038320" y="2257200"/>
            <a:ext cx="2819520" cy="10080"/>
          </a:xfrm>
          <a:custGeom>
            <a:avLst/>
            <a:gdLst/>
            <a:ahLst/>
            <a:rect l="0" t="0" r="r" b="b"/>
            <a:pathLst>
              <a:path w="7832" h="28">
                <a:moveTo>
                  <a:pt x="0" y="0"/>
                </a:moveTo>
                <a:lnTo>
                  <a:pt x="7832" y="0"/>
                </a:lnTo>
                <a:lnTo>
                  <a:pt x="78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571320" y="226692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2028600" y="226692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4848120" y="226692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5713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571320" y="2628720"/>
            <a:ext cx="1467360" cy="9720"/>
          </a:xfrm>
          <a:custGeom>
            <a:avLst/>
            <a:gdLst/>
            <a:ahLst/>
            <a:rect l="0" t="0" r="r" b="b"/>
            <a:pathLst>
              <a:path w="4076" h="27">
                <a:moveTo>
                  <a:pt x="0" y="0"/>
                </a:moveTo>
                <a:lnTo>
                  <a:pt x="4076" y="0"/>
                </a:lnTo>
                <a:lnTo>
                  <a:pt x="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202860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2038320" y="2628720"/>
            <a:ext cx="2819520" cy="9720"/>
          </a:xfrm>
          <a:custGeom>
            <a:avLst/>
            <a:gdLst/>
            <a:ahLst/>
            <a:rect l="0" t="0" r="r" b="b"/>
            <a:pathLst>
              <a:path w="7832" h="27">
                <a:moveTo>
                  <a:pt x="0" y="0"/>
                </a:moveTo>
                <a:lnTo>
                  <a:pt x="7832" y="0"/>
                </a:lnTo>
                <a:lnTo>
                  <a:pt x="7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48481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571320" y="3000240"/>
            <a:ext cx="1467360" cy="9720"/>
          </a:xfrm>
          <a:custGeom>
            <a:avLst/>
            <a:gdLst/>
            <a:ahLst/>
            <a:rect l="0" t="0" r="r" b="b"/>
            <a:pathLst>
              <a:path w="4076" h="27">
                <a:moveTo>
                  <a:pt x="0" y="0"/>
                </a:moveTo>
                <a:lnTo>
                  <a:pt x="4076" y="0"/>
                </a:lnTo>
                <a:lnTo>
                  <a:pt x="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202860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2038320" y="3000240"/>
            <a:ext cx="2819520" cy="9720"/>
          </a:xfrm>
          <a:custGeom>
            <a:avLst/>
            <a:gdLst/>
            <a:ahLst/>
            <a:rect l="0" t="0" r="r" b="b"/>
            <a:pathLst>
              <a:path w="7832" h="27">
                <a:moveTo>
                  <a:pt x="0" y="0"/>
                </a:moveTo>
                <a:lnTo>
                  <a:pt x="7832" y="0"/>
                </a:lnTo>
                <a:lnTo>
                  <a:pt x="7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48481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571320" y="3371760"/>
            <a:ext cx="1467360" cy="9720"/>
          </a:xfrm>
          <a:custGeom>
            <a:avLst/>
            <a:gdLst/>
            <a:ahLst/>
            <a:rect l="0" t="0" r="r" b="b"/>
            <a:pathLst>
              <a:path w="4076" h="27">
                <a:moveTo>
                  <a:pt x="0" y="0"/>
                </a:moveTo>
                <a:lnTo>
                  <a:pt x="4076" y="0"/>
                </a:lnTo>
                <a:lnTo>
                  <a:pt x="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202860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2038320" y="3371760"/>
            <a:ext cx="2819520" cy="9720"/>
          </a:xfrm>
          <a:custGeom>
            <a:avLst/>
            <a:gdLst/>
            <a:ahLst/>
            <a:rect l="0" t="0" r="r" b="b"/>
            <a:pathLst>
              <a:path w="7832" h="27">
                <a:moveTo>
                  <a:pt x="0" y="0"/>
                </a:moveTo>
                <a:lnTo>
                  <a:pt x="7832" y="0"/>
                </a:lnTo>
                <a:lnTo>
                  <a:pt x="7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48481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571320" y="3743280"/>
            <a:ext cx="1467360" cy="9720"/>
          </a:xfrm>
          <a:custGeom>
            <a:avLst/>
            <a:gdLst/>
            <a:ahLst/>
            <a:rect l="0" t="0" r="r" b="b"/>
            <a:pathLst>
              <a:path w="4076" h="27">
                <a:moveTo>
                  <a:pt x="0" y="0"/>
                </a:moveTo>
                <a:lnTo>
                  <a:pt x="4076" y="0"/>
                </a:lnTo>
                <a:lnTo>
                  <a:pt x="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202860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2038320" y="3743280"/>
            <a:ext cx="2819520" cy="9720"/>
          </a:xfrm>
          <a:custGeom>
            <a:avLst/>
            <a:gdLst/>
            <a:ahLst/>
            <a:rect l="0" t="0" r="r" b="b"/>
            <a:pathLst>
              <a:path w="7832" h="27">
                <a:moveTo>
                  <a:pt x="0" y="0"/>
                </a:moveTo>
                <a:lnTo>
                  <a:pt x="7832" y="0"/>
                </a:lnTo>
                <a:lnTo>
                  <a:pt x="7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48481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571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571320" y="4114440"/>
            <a:ext cx="1467360" cy="10080"/>
          </a:xfrm>
          <a:custGeom>
            <a:avLst/>
            <a:gdLst/>
            <a:ahLst/>
            <a:rect l="0" t="0" r="r" b="b"/>
            <a:pathLst>
              <a:path w="4076" h="28">
                <a:moveTo>
                  <a:pt x="0" y="0"/>
                </a:moveTo>
                <a:lnTo>
                  <a:pt x="4076" y="0"/>
                </a:lnTo>
                <a:lnTo>
                  <a:pt x="40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202860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2038320" y="4114440"/>
            <a:ext cx="2819520" cy="10080"/>
          </a:xfrm>
          <a:custGeom>
            <a:avLst/>
            <a:gdLst/>
            <a:ahLst/>
            <a:rect l="0" t="0" r="r" b="b"/>
            <a:pathLst>
              <a:path w="7832" h="28">
                <a:moveTo>
                  <a:pt x="0" y="0"/>
                </a:moveTo>
                <a:lnTo>
                  <a:pt x="7832" y="0"/>
                </a:lnTo>
                <a:lnTo>
                  <a:pt x="78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48481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5713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571320" y="4485960"/>
            <a:ext cx="1467360" cy="10080"/>
          </a:xfrm>
          <a:custGeom>
            <a:avLst/>
            <a:gdLst/>
            <a:ahLst/>
            <a:rect l="0" t="0" r="r" b="b"/>
            <a:pathLst>
              <a:path w="4076" h="28">
                <a:moveTo>
                  <a:pt x="0" y="0"/>
                </a:moveTo>
                <a:lnTo>
                  <a:pt x="4076" y="0"/>
                </a:lnTo>
                <a:lnTo>
                  <a:pt x="40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202860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2038320" y="4485960"/>
            <a:ext cx="2819520" cy="10080"/>
          </a:xfrm>
          <a:custGeom>
            <a:avLst/>
            <a:gdLst/>
            <a:ahLst/>
            <a:rect l="0" t="0" r="r" b="b"/>
            <a:pathLst>
              <a:path w="7832" h="28">
                <a:moveTo>
                  <a:pt x="0" y="0"/>
                </a:moveTo>
                <a:lnTo>
                  <a:pt x="7832" y="0"/>
                </a:lnTo>
                <a:lnTo>
                  <a:pt x="78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48481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571320" y="4876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571320" y="4867200"/>
            <a:ext cx="1467360" cy="9720"/>
          </a:xfrm>
          <a:custGeom>
            <a:avLst/>
            <a:gdLst/>
            <a:ahLst/>
            <a:rect l="0" t="0" r="r" b="b"/>
            <a:pathLst>
              <a:path w="4076" h="27">
                <a:moveTo>
                  <a:pt x="0" y="0"/>
                </a:moveTo>
                <a:lnTo>
                  <a:pt x="4076" y="0"/>
                </a:lnTo>
                <a:lnTo>
                  <a:pt x="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2028600" y="4876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2038320" y="4867200"/>
            <a:ext cx="2819520" cy="9720"/>
          </a:xfrm>
          <a:custGeom>
            <a:avLst/>
            <a:gdLst/>
            <a:ahLst/>
            <a:rect l="0" t="0" r="r" b="b"/>
            <a:pathLst>
              <a:path w="7832" h="27">
                <a:moveTo>
                  <a:pt x="0" y="0"/>
                </a:moveTo>
                <a:lnTo>
                  <a:pt x="7832" y="0"/>
                </a:lnTo>
                <a:lnTo>
                  <a:pt x="7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4848120" y="4876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571320" y="5238720"/>
            <a:ext cx="1467360" cy="9720"/>
          </a:xfrm>
          <a:custGeom>
            <a:avLst/>
            <a:gdLst/>
            <a:ahLst/>
            <a:rect l="0" t="0" r="r" b="b"/>
            <a:pathLst>
              <a:path w="4076" h="27">
                <a:moveTo>
                  <a:pt x="0" y="0"/>
                </a:moveTo>
                <a:lnTo>
                  <a:pt x="4076" y="0"/>
                </a:lnTo>
                <a:lnTo>
                  <a:pt x="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2038320" y="5238720"/>
            <a:ext cx="2819520" cy="9720"/>
          </a:xfrm>
          <a:custGeom>
            <a:avLst/>
            <a:gdLst/>
            <a:ahLst/>
            <a:rect l="0" t="0" r="r" b="b"/>
            <a:pathLst>
              <a:path w="7832" h="27">
                <a:moveTo>
                  <a:pt x="0" y="0"/>
                </a:moveTo>
                <a:lnTo>
                  <a:pt x="7832" y="0"/>
                </a:lnTo>
                <a:lnTo>
                  <a:pt x="7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571320" y="1297440"/>
            <a:ext cx="36208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F&amp;B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单位经济（⽉度⽬标）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704880" y="195192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指标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2162160" y="195192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704880" y="23234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⽇均客流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2162160" y="2323440"/>
            <a:ext cx="2795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120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单（⼯作⽇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100 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周末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160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704880" y="26949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平均客单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2162160" y="2694960"/>
            <a:ext cx="2482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¥45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（咖啡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¥35 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加购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¥10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704880" y="306612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⽉流⽔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2162160" y="3066120"/>
            <a:ext cx="732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¥162,000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704880" y="34376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⻝材成本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2162160" y="3437640"/>
            <a:ext cx="1506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35%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¥56,700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704880" y="3809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⼈⼯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2162160" y="3809160"/>
            <a:ext cx="2457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咖啡师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+ 2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兼职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= ¥32,000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704880" y="418068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房租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2162160" y="4180680"/>
            <a:ext cx="660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¥40,000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704880" y="4552200"/>
            <a:ext cx="138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⽔电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耗材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营销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2162160" y="4552200"/>
            <a:ext cx="55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¥8,000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704880" y="493308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净利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2162160" y="4933080"/>
            <a:ext cx="1164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~¥25,000 / </a:t>
            </a:r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285840" y="6409440"/>
            <a:ext cx="371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店⻓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运营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580680" y="2076120"/>
            <a:ext cx="705240" cy="371880"/>
          </a:xfrm>
          <a:custGeom>
            <a:avLst/>
            <a:gdLst/>
            <a:ahLst/>
            <a:rect l="0" t="0" r="r" b="b"/>
            <a:pathLst>
              <a:path w="1959" h="1033">
                <a:moveTo>
                  <a:pt x="0" y="0"/>
                </a:moveTo>
                <a:lnTo>
                  <a:pt x="1959" y="0"/>
                </a:lnTo>
                <a:lnTo>
                  <a:pt x="19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1285560" y="2076120"/>
            <a:ext cx="3477240" cy="371880"/>
          </a:xfrm>
          <a:custGeom>
            <a:avLst/>
            <a:gdLst/>
            <a:ahLst/>
            <a:rect l="0" t="0" r="r" b="b"/>
            <a:pathLst>
              <a:path w="9659" h="1033">
                <a:moveTo>
                  <a:pt x="0" y="0"/>
                </a:moveTo>
                <a:lnTo>
                  <a:pt x="9659" y="0"/>
                </a:lnTo>
                <a:lnTo>
                  <a:pt x="96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4762440" y="207612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580680" y="2076120"/>
            <a:ext cx="705240" cy="371880"/>
          </a:xfrm>
          <a:custGeom>
            <a:avLst/>
            <a:gdLst/>
            <a:ahLst/>
            <a:rect l="0" t="0" r="r" b="b"/>
            <a:pathLst>
              <a:path w="1959" h="1033">
                <a:moveTo>
                  <a:pt x="0" y="0"/>
                </a:moveTo>
                <a:lnTo>
                  <a:pt x="1959" y="0"/>
                </a:lnTo>
                <a:lnTo>
                  <a:pt x="19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1285560" y="2076120"/>
            <a:ext cx="3477240" cy="371880"/>
          </a:xfrm>
          <a:custGeom>
            <a:avLst/>
            <a:gdLst/>
            <a:ahLst/>
            <a:rect l="0" t="0" r="r" b="b"/>
            <a:pathLst>
              <a:path w="9659" h="1033">
                <a:moveTo>
                  <a:pt x="0" y="0"/>
                </a:moveTo>
                <a:lnTo>
                  <a:pt x="9659" y="0"/>
                </a:lnTo>
                <a:lnTo>
                  <a:pt x="96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4762440" y="207612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580680" y="2447640"/>
            <a:ext cx="705240" cy="371880"/>
          </a:xfrm>
          <a:custGeom>
            <a:avLst/>
            <a:gdLst/>
            <a:ahLst/>
            <a:rect l="0" t="0" r="r" b="b"/>
            <a:pathLst>
              <a:path w="1959" h="1033">
                <a:moveTo>
                  <a:pt x="0" y="0"/>
                </a:moveTo>
                <a:lnTo>
                  <a:pt x="1959" y="0"/>
                </a:lnTo>
                <a:lnTo>
                  <a:pt x="19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1285560" y="2447640"/>
            <a:ext cx="3477240" cy="371880"/>
          </a:xfrm>
          <a:custGeom>
            <a:avLst/>
            <a:gdLst/>
            <a:ahLst/>
            <a:rect l="0" t="0" r="r" b="b"/>
            <a:pathLst>
              <a:path w="9659" h="1033">
                <a:moveTo>
                  <a:pt x="0" y="0"/>
                </a:moveTo>
                <a:lnTo>
                  <a:pt x="9659" y="0"/>
                </a:lnTo>
                <a:lnTo>
                  <a:pt x="96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4762440" y="244764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580680" y="2819160"/>
            <a:ext cx="705240" cy="371880"/>
          </a:xfrm>
          <a:custGeom>
            <a:avLst/>
            <a:gdLst/>
            <a:ahLst/>
            <a:rect l="0" t="0" r="r" b="b"/>
            <a:pathLst>
              <a:path w="1959" h="1033">
                <a:moveTo>
                  <a:pt x="0" y="0"/>
                </a:moveTo>
                <a:lnTo>
                  <a:pt x="1959" y="0"/>
                </a:lnTo>
                <a:lnTo>
                  <a:pt x="19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1285560" y="2819160"/>
            <a:ext cx="3477240" cy="371880"/>
          </a:xfrm>
          <a:custGeom>
            <a:avLst/>
            <a:gdLst/>
            <a:ahLst/>
            <a:rect l="0" t="0" r="r" b="b"/>
            <a:pathLst>
              <a:path w="9659" h="1033">
                <a:moveTo>
                  <a:pt x="0" y="0"/>
                </a:moveTo>
                <a:lnTo>
                  <a:pt x="9659" y="0"/>
                </a:lnTo>
                <a:lnTo>
                  <a:pt x="96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4762440" y="281916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580680" y="3190680"/>
            <a:ext cx="705240" cy="371880"/>
          </a:xfrm>
          <a:custGeom>
            <a:avLst/>
            <a:gdLst/>
            <a:ahLst/>
            <a:rect l="0" t="0" r="r" b="b"/>
            <a:pathLst>
              <a:path w="1959" h="1033">
                <a:moveTo>
                  <a:pt x="0" y="0"/>
                </a:moveTo>
                <a:lnTo>
                  <a:pt x="1959" y="0"/>
                </a:lnTo>
                <a:lnTo>
                  <a:pt x="19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1285560" y="3190680"/>
            <a:ext cx="3477240" cy="371880"/>
          </a:xfrm>
          <a:custGeom>
            <a:avLst/>
            <a:gdLst/>
            <a:ahLst/>
            <a:rect l="0" t="0" r="r" b="b"/>
            <a:pathLst>
              <a:path w="9659" h="1033">
                <a:moveTo>
                  <a:pt x="0" y="0"/>
                </a:moveTo>
                <a:lnTo>
                  <a:pt x="9659" y="0"/>
                </a:lnTo>
                <a:lnTo>
                  <a:pt x="96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4762440" y="319068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580680" y="3562200"/>
            <a:ext cx="705240" cy="371880"/>
          </a:xfrm>
          <a:custGeom>
            <a:avLst/>
            <a:gdLst/>
            <a:ahLst/>
            <a:rect l="0" t="0" r="r" b="b"/>
            <a:pathLst>
              <a:path w="1959" h="1033">
                <a:moveTo>
                  <a:pt x="0" y="0"/>
                </a:moveTo>
                <a:lnTo>
                  <a:pt x="1959" y="0"/>
                </a:lnTo>
                <a:lnTo>
                  <a:pt x="19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1285560" y="3562200"/>
            <a:ext cx="3477240" cy="371880"/>
          </a:xfrm>
          <a:custGeom>
            <a:avLst/>
            <a:gdLst/>
            <a:ahLst/>
            <a:rect l="0" t="0" r="r" b="b"/>
            <a:pathLst>
              <a:path w="9659" h="1033">
                <a:moveTo>
                  <a:pt x="0" y="0"/>
                </a:moveTo>
                <a:lnTo>
                  <a:pt x="9659" y="0"/>
                </a:lnTo>
                <a:lnTo>
                  <a:pt x="96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4762440" y="356220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580680" y="3933720"/>
            <a:ext cx="705240" cy="371880"/>
          </a:xfrm>
          <a:custGeom>
            <a:avLst/>
            <a:gdLst/>
            <a:ahLst/>
            <a:rect l="0" t="0" r="r" b="b"/>
            <a:pathLst>
              <a:path w="1959" h="1033">
                <a:moveTo>
                  <a:pt x="0" y="0"/>
                </a:moveTo>
                <a:lnTo>
                  <a:pt x="1959" y="0"/>
                </a:lnTo>
                <a:lnTo>
                  <a:pt x="19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1285560" y="3933720"/>
            <a:ext cx="3477240" cy="371880"/>
          </a:xfrm>
          <a:custGeom>
            <a:avLst/>
            <a:gdLst/>
            <a:ahLst/>
            <a:rect l="0" t="0" r="r" b="b"/>
            <a:pathLst>
              <a:path w="9659" h="1033">
                <a:moveTo>
                  <a:pt x="0" y="0"/>
                </a:moveTo>
                <a:lnTo>
                  <a:pt x="9659" y="0"/>
                </a:lnTo>
                <a:lnTo>
                  <a:pt x="96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4762440" y="393372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580680" y="4305240"/>
            <a:ext cx="705240" cy="381240"/>
          </a:xfrm>
          <a:custGeom>
            <a:avLst/>
            <a:gdLst/>
            <a:ahLst/>
            <a:rect l="0" t="0" r="r" b="b"/>
            <a:pathLst>
              <a:path w="1959" h="1059">
                <a:moveTo>
                  <a:pt x="0" y="0"/>
                </a:moveTo>
                <a:lnTo>
                  <a:pt x="1959" y="0"/>
                </a:lnTo>
                <a:lnTo>
                  <a:pt x="195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1285560" y="4305240"/>
            <a:ext cx="3477240" cy="381240"/>
          </a:xfrm>
          <a:custGeom>
            <a:avLst/>
            <a:gdLst/>
            <a:ahLst/>
            <a:rect l="0" t="0" r="r" b="b"/>
            <a:pathLst>
              <a:path w="9659" h="1059">
                <a:moveTo>
                  <a:pt x="0" y="0"/>
                </a:moveTo>
                <a:lnTo>
                  <a:pt x="9659" y="0"/>
                </a:lnTo>
                <a:lnTo>
                  <a:pt x="965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4762440" y="4305240"/>
            <a:ext cx="943200" cy="381240"/>
          </a:xfrm>
          <a:custGeom>
            <a:avLst/>
            <a:gdLst/>
            <a:ahLst/>
            <a:rect l="0" t="0" r="r" b="b"/>
            <a:pathLst>
              <a:path w="2620" h="1059">
                <a:moveTo>
                  <a:pt x="0" y="0"/>
                </a:moveTo>
                <a:lnTo>
                  <a:pt x="2620" y="0"/>
                </a:lnTo>
                <a:lnTo>
                  <a:pt x="262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580680" y="4686120"/>
            <a:ext cx="705240" cy="371880"/>
          </a:xfrm>
          <a:custGeom>
            <a:avLst/>
            <a:gdLst/>
            <a:ahLst/>
            <a:rect l="0" t="0" r="r" b="b"/>
            <a:pathLst>
              <a:path w="1959" h="1033">
                <a:moveTo>
                  <a:pt x="0" y="0"/>
                </a:moveTo>
                <a:lnTo>
                  <a:pt x="1959" y="0"/>
                </a:lnTo>
                <a:lnTo>
                  <a:pt x="19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1285560" y="4686120"/>
            <a:ext cx="3477240" cy="371880"/>
          </a:xfrm>
          <a:custGeom>
            <a:avLst/>
            <a:gdLst/>
            <a:ahLst/>
            <a:rect l="0" t="0" r="r" b="b"/>
            <a:pathLst>
              <a:path w="9659" h="1033">
                <a:moveTo>
                  <a:pt x="0" y="0"/>
                </a:moveTo>
                <a:lnTo>
                  <a:pt x="9659" y="0"/>
                </a:lnTo>
                <a:lnTo>
                  <a:pt x="96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4762440" y="468612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571320" y="2066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571320" y="2066760"/>
            <a:ext cx="724320" cy="9720"/>
          </a:xfrm>
          <a:custGeom>
            <a:avLst/>
            <a:gdLst/>
            <a:ah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1285560" y="20667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1295280" y="2066760"/>
            <a:ext cx="3467520" cy="9720"/>
          </a:xfrm>
          <a:custGeom>
            <a:avLst/>
            <a:gdLst/>
            <a:ahLst/>
            <a:rect l="0" t="0" r="r" b="b"/>
            <a:pathLst>
              <a:path w="9632" h="27">
                <a:moveTo>
                  <a:pt x="0" y="0"/>
                </a:moveTo>
                <a:lnTo>
                  <a:pt x="9632" y="0"/>
                </a:lnTo>
                <a:lnTo>
                  <a:pt x="96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4752720" y="20667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4762440" y="206676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5695920" y="2066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571320" y="2438280"/>
            <a:ext cx="724320" cy="9720"/>
          </a:xfrm>
          <a:custGeom>
            <a:avLst/>
            <a:gdLst/>
            <a:ah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1295280" y="2438280"/>
            <a:ext cx="3467520" cy="9720"/>
          </a:xfrm>
          <a:custGeom>
            <a:avLst/>
            <a:gdLst/>
            <a:ahLst/>
            <a:rect l="0" t="0" r="r" b="b"/>
            <a:pathLst>
              <a:path w="9632" h="27">
                <a:moveTo>
                  <a:pt x="0" y="0"/>
                </a:moveTo>
                <a:lnTo>
                  <a:pt x="9632" y="0"/>
                </a:lnTo>
                <a:lnTo>
                  <a:pt x="96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4762440" y="243828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57132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1285560" y="24476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4752720" y="24476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569592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5713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571320" y="2819160"/>
            <a:ext cx="724320" cy="10080"/>
          </a:xfrm>
          <a:custGeom>
            <a:avLst/>
            <a:gdLst/>
            <a:ahLst/>
            <a:rect l="0" t="0" r="r" b="b"/>
            <a:pathLst>
              <a:path w="2012" h="28">
                <a:moveTo>
                  <a:pt x="0" y="0"/>
                </a:moveTo>
                <a:lnTo>
                  <a:pt x="2012" y="0"/>
                </a:lnTo>
                <a:lnTo>
                  <a:pt x="2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128556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1295280" y="2819160"/>
            <a:ext cx="3467520" cy="10080"/>
          </a:xfrm>
          <a:custGeom>
            <a:avLst/>
            <a:gdLst/>
            <a:ahLst/>
            <a:rect l="0" t="0" r="r" b="b"/>
            <a:pathLst>
              <a:path w="9632" h="28">
                <a:moveTo>
                  <a:pt x="0" y="0"/>
                </a:moveTo>
                <a:lnTo>
                  <a:pt x="9632" y="0"/>
                </a:lnTo>
                <a:lnTo>
                  <a:pt x="96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475272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4762440" y="2819160"/>
            <a:ext cx="943200" cy="10080"/>
          </a:xfrm>
          <a:custGeom>
            <a:avLst/>
            <a:gdLst/>
            <a:ahLst/>
            <a:rect l="0" t="0" r="r" b="b"/>
            <a:pathLst>
              <a:path w="2620" h="28">
                <a:moveTo>
                  <a:pt x="0" y="0"/>
                </a:moveTo>
                <a:lnTo>
                  <a:pt x="2620" y="0"/>
                </a:lnTo>
                <a:lnTo>
                  <a:pt x="26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56959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5713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571320" y="3190680"/>
            <a:ext cx="724320" cy="9720"/>
          </a:xfrm>
          <a:custGeom>
            <a:avLst/>
            <a:gdLst/>
            <a:ah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128556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1295280" y="3190680"/>
            <a:ext cx="3467520" cy="9720"/>
          </a:xfrm>
          <a:custGeom>
            <a:avLst/>
            <a:gdLst/>
            <a:ahLst/>
            <a:rect l="0" t="0" r="r" b="b"/>
            <a:pathLst>
              <a:path w="9632" h="27">
                <a:moveTo>
                  <a:pt x="0" y="0"/>
                </a:moveTo>
                <a:lnTo>
                  <a:pt x="9632" y="0"/>
                </a:lnTo>
                <a:lnTo>
                  <a:pt x="96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475272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4762440" y="319068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56959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5713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571320" y="3562200"/>
            <a:ext cx="724320" cy="9720"/>
          </a:xfrm>
          <a:custGeom>
            <a:avLst/>
            <a:gdLst/>
            <a:ah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128556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1295280" y="3562200"/>
            <a:ext cx="3467520" cy="9720"/>
          </a:xfrm>
          <a:custGeom>
            <a:avLst/>
            <a:gdLst/>
            <a:ahLst/>
            <a:rect l="0" t="0" r="r" b="b"/>
            <a:pathLst>
              <a:path w="9632" h="27">
                <a:moveTo>
                  <a:pt x="0" y="0"/>
                </a:moveTo>
                <a:lnTo>
                  <a:pt x="9632" y="0"/>
                </a:lnTo>
                <a:lnTo>
                  <a:pt x="96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475272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4762440" y="356220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56959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5713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571320" y="3933720"/>
            <a:ext cx="724320" cy="9720"/>
          </a:xfrm>
          <a:custGeom>
            <a:avLst/>
            <a:gdLst/>
            <a:ah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128556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1295280" y="3933720"/>
            <a:ext cx="3467520" cy="9720"/>
          </a:xfrm>
          <a:custGeom>
            <a:avLst/>
            <a:gdLst/>
            <a:ahLst/>
            <a:rect l="0" t="0" r="r" b="b"/>
            <a:pathLst>
              <a:path w="9632" h="27">
                <a:moveTo>
                  <a:pt x="0" y="0"/>
                </a:moveTo>
                <a:lnTo>
                  <a:pt x="9632" y="0"/>
                </a:lnTo>
                <a:lnTo>
                  <a:pt x="96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475272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4762440" y="393372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56959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571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571320" y="4305240"/>
            <a:ext cx="724320" cy="9720"/>
          </a:xfrm>
          <a:custGeom>
            <a:avLst/>
            <a:gdLst/>
            <a:ah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128556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1295280" y="4305240"/>
            <a:ext cx="3467520" cy="9720"/>
          </a:xfrm>
          <a:custGeom>
            <a:avLst/>
            <a:gdLst/>
            <a:ahLst/>
            <a:rect l="0" t="0" r="r" b="b"/>
            <a:pathLst>
              <a:path w="9632" h="27">
                <a:moveTo>
                  <a:pt x="0" y="0"/>
                </a:moveTo>
                <a:lnTo>
                  <a:pt x="9632" y="0"/>
                </a:lnTo>
                <a:lnTo>
                  <a:pt x="96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475272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4762440" y="430524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56959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57132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571320" y="4676760"/>
            <a:ext cx="724320" cy="9720"/>
          </a:xfrm>
          <a:custGeom>
            <a:avLst/>
            <a:gdLst/>
            <a:ah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1285560" y="4686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1295280" y="4676760"/>
            <a:ext cx="3467520" cy="9720"/>
          </a:xfrm>
          <a:custGeom>
            <a:avLst/>
            <a:gdLst/>
            <a:ahLst/>
            <a:rect l="0" t="0" r="r" b="b"/>
            <a:pathLst>
              <a:path w="9632" h="27">
                <a:moveTo>
                  <a:pt x="0" y="0"/>
                </a:moveTo>
                <a:lnTo>
                  <a:pt x="9632" y="0"/>
                </a:lnTo>
                <a:lnTo>
                  <a:pt x="96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4752720" y="4686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4762440" y="467676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569592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571320" y="5047920"/>
            <a:ext cx="724320" cy="10080"/>
          </a:xfrm>
          <a:custGeom>
            <a:avLst/>
            <a:gdLst/>
            <a:ahLst/>
            <a:rect l="0" t="0" r="r" b="b"/>
            <a:pathLst>
              <a:path w="2012" h="28">
                <a:moveTo>
                  <a:pt x="0" y="0"/>
                </a:moveTo>
                <a:lnTo>
                  <a:pt x="2012" y="0"/>
                </a:lnTo>
                <a:lnTo>
                  <a:pt x="2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1295280" y="5047920"/>
            <a:ext cx="3467520" cy="10080"/>
          </a:xfrm>
          <a:custGeom>
            <a:avLst/>
            <a:gdLst/>
            <a:ahLst/>
            <a:rect l="0" t="0" r="r" b="b"/>
            <a:pathLst>
              <a:path w="9632" h="28">
                <a:moveTo>
                  <a:pt x="0" y="0"/>
                </a:moveTo>
                <a:lnTo>
                  <a:pt x="9632" y="0"/>
                </a:lnTo>
                <a:lnTo>
                  <a:pt x="96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4762440" y="5047920"/>
            <a:ext cx="943200" cy="10080"/>
          </a:xfrm>
          <a:custGeom>
            <a:avLst/>
            <a:gdLst/>
            <a:ahLst/>
            <a:rect l="0" t="0" r="r" b="b"/>
            <a:pathLst>
              <a:path w="2620" h="28">
                <a:moveTo>
                  <a:pt x="0" y="0"/>
                </a:moveTo>
                <a:lnTo>
                  <a:pt x="2620" y="0"/>
                </a:lnTo>
                <a:lnTo>
                  <a:pt x="26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571320" y="1487880"/>
            <a:ext cx="13453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每⽇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SOP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704880" y="21330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时段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1418760" y="21330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任务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4888080" y="21330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负责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704880" y="2504160"/>
            <a:ext cx="446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07:30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1418760" y="2504160"/>
            <a:ext cx="3294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开店：磨⾖机校准、萃取测试（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杯弃⽤）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4888080" y="25041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主咖啡师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704880" y="2885400"/>
            <a:ext cx="455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08:00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1418760" y="2885400"/>
            <a:ext cx="2912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营业、⽔吧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展示冷柜补货、扫地拖地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4888080" y="28854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全员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704880" y="3256920"/>
            <a:ext cx="387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11:30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1418760" y="3256920"/>
            <a:ext cx="2571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午市峰值准备：奶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⾖补⻬、洗⼿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4888080" y="325692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全员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704880" y="3628440"/>
            <a:ext cx="421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14:00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1418760" y="3628440"/>
            <a:ext cx="2902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桌⾯深度清洁、卫⽣间补给、垃圾换袋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4888080" y="3628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兼职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704880" y="3999600"/>
            <a:ext cx="412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17:30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1418760" y="3999600"/>
            <a:ext cx="263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晚市准备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书架整理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绿植浇⽔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4888080" y="39996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店⻓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704880" y="4371120"/>
            <a:ext cx="421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21:00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1418760" y="4371120"/>
            <a:ext cx="2902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打烊：设备冲洗、冷柜库存对账、⽇结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4888080" y="437112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全员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704880" y="4742640"/>
            <a:ext cx="421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21:30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1418760" y="4742640"/>
            <a:ext cx="2638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垃圾分类外倒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锁⻔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监控检查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4888080" y="47426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店⻓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285840" y="6409440"/>
            <a:ext cx="371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店⻓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运营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571320" y="1535400"/>
            <a:ext cx="20062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⻝品安全关键点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628920" y="2121120"/>
            <a:ext cx="55810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操作⼈员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：全员健康证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每⽉指甲检查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⼝罩⼿套规范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895320" y="29527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19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6" y="204"/>
                </a:cubicBezTo>
                <a:cubicBezTo>
                  <a:pt x="133" y="210"/>
                  <a:pt x="119" y="212"/>
                  <a:pt x="105" y="212"/>
                </a:cubicBezTo>
                <a:cubicBezTo>
                  <a:pt x="91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19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cubicBezTo>
                  <a:pt x="119" y="0"/>
                  <a:pt x="133" y="2"/>
                  <a:pt x="146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noFill/>
          <a:ln w="9360">
            <a:solidFill>
              <a:srgbClr val="2C2C2E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587160" y="2482920"/>
            <a:ext cx="1352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温度管控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895320" y="33145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1"/>
                  <a:pt x="181" y="181"/>
                </a:cubicBezTo>
                <a:cubicBezTo>
                  <a:pt x="171" y="192"/>
                  <a:pt x="160" y="199"/>
                  <a:pt x="146" y="205"/>
                </a:cubicBezTo>
                <a:cubicBezTo>
                  <a:pt x="133" y="210"/>
                  <a:pt x="119" y="213"/>
                  <a:pt x="105" y="213"/>
                </a:cubicBezTo>
                <a:cubicBezTo>
                  <a:pt x="91" y="213"/>
                  <a:pt x="78" y="210"/>
                  <a:pt x="65" y="205"/>
                </a:cubicBezTo>
                <a:cubicBezTo>
                  <a:pt x="52" y="199"/>
                  <a:pt x="41" y="192"/>
                  <a:pt x="31" y="181"/>
                </a:cubicBezTo>
                <a:cubicBezTo>
                  <a:pt x="21" y="171"/>
                  <a:pt x="13" y="159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cubicBezTo>
                  <a:pt x="119" y="0"/>
                  <a:pt x="133" y="3"/>
                  <a:pt x="146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noFill/>
          <a:ln w="9360">
            <a:solidFill>
              <a:srgbClr val="2C2C2E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1104840" y="2835360"/>
            <a:ext cx="2680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冷柜 ≤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4°C 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每⽇早晚记录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1104840" y="3197520"/>
            <a:ext cx="2852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奶类开封标⽇期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3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⽇内⽤完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587160" y="3559320"/>
            <a:ext cx="48081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⽔质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：净⽔器滤芯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⽉换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每周清洗软⽔树脂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587160" y="3921120"/>
            <a:ext cx="46605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垃圾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：厨余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可回收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有害分三桶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每⽇清运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587160" y="4283280"/>
            <a:ext cx="43905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隔油池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：每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周⼈⼯清捞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⽉度专业保养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587160" y="4645080"/>
            <a:ext cx="43092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餐具消毒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：⾼温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100°C × 10 min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或消毒柜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285840" y="6409440"/>
            <a:ext cx="371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店⻓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运营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580680" y="244764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1180800" y="244764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1780920" y="2447640"/>
            <a:ext cx="5067720" cy="371880"/>
          </a:xfrm>
          <a:custGeom>
            <a:avLst/>
            <a:gdLst/>
            <a:ahLst/>
            <a:rect l="0" t="0" r="r" b="b"/>
            <a:pathLst>
              <a:path w="14077" h="1033">
                <a:moveTo>
                  <a:pt x="0" y="0"/>
                </a:moveTo>
                <a:lnTo>
                  <a:pt x="14077" y="0"/>
                </a:lnTo>
                <a:lnTo>
                  <a:pt x="1407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580680" y="244764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1180800" y="244764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1780920" y="2447640"/>
            <a:ext cx="5067720" cy="371880"/>
          </a:xfrm>
          <a:custGeom>
            <a:avLst/>
            <a:gdLst/>
            <a:ahLst/>
            <a:rect l="0" t="0" r="r" b="b"/>
            <a:pathLst>
              <a:path w="14077" h="1033">
                <a:moveTo>
                  <a:pt x="0" y="0"/>
                </a:moveTo>
                <a:lnTo>
                  <a:pt x="14077" y="0"/>
                </a:lnTo>
                <a:lnTo>
                  <a:pt x="1407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580680" y="281916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1180800" y="281916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1780920" y="2819160"/>
            <a:ext cx="5067720" cy="371880"/>
          </a:xfrm>
          <a:custGeom>
            <a:avLst/>
            <a:gdLst/>
            <a:ahLst/>
            <a:rect l="0" t="0" r="r" b="b"/>
            <a:pathLst>
              <a:path w="14077" h="1033">
                <a:moveTo>
                  <a:pt x="0" y="0"/>
                </a:moveTo>
                <a:lnTo>
                  <a:pt x="14077" y="0"/>
                </a:lnTo>
                <a:lnTo>
                  <a:pt x="1407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580680" y="319068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1180800" y="319068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1780920" y="3190680"/>
            <a:ext cx="5067720" cy="371880"/>
          </a:xfrm>
          <a:custGeom>
            <a:avLst/>
            <a:gdLst/>
            <a:ahLst/>
            <a:rect l="0" t="0" r="r" b="b"/>
            <a:pathLst>
              <a:path w="14077" h="1033">
                <a:moveTo>
                  <a:pt x="0" y="0"/>
                </a:moveTo>
                <a:lnTo>
                  <a:pt x="14077" y="0"/>
                </a:lnTo>
                <a:lnTo>
                  <a:pt x="1407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580680" y="356220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1180800" y="356220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1780920" y="3562200"/>
            <a:ext cx="5067720" cy="371880"/>
          </a:xfrm>
          <a:custGeom>
            <a:avLst/>
            <a:gdLst/>
            <a:ahLst/>
            <a:rect l="0" t="0" r="r" b="b"/>
            <a:pathLst>
              <a:path w="14077" h="1033">
                <a:moveTo>
                  <a:pt x="0" y="0"/>
                </a:moveTo>
                <a:lnTo>
                  <a:pt x="14077" y="0"/>
                </a:lnTo>
                <a:lnTo>
                  <a:pt x="1407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580680" y="393372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1180800" y="393372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1780920" y="3933720"/>
            <a:ext cx="5067720" cy="371880"/>
          </a:xfrm>
          <a:custGeom>
            <a:avLst/>
            <a:gdLst/>
            <a:ahLst/>
            <a:rect l="0" t="0" r="r" b="b"/>
            <a:pathLst>
              <a:path w="14077" h="1033">
                <a:moveTo>
                  <a:pt x="0" y="0"/>
                </a:moveTo>
                <a:lnTo>
                  <a:pt x="14077" y="0"/>
                </a:lnTo>
                <a:lnTo>
                  <a:pt x="1407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580680" y="4305240"/>
            <a:ext cx="600480" cy="381240"/>
          </a:xfrm>
          <a:custGeom>
            <a:avLst/>
            <a:gdLst/>
            <a:ahLst/>
            <a:rect l="0" t="0" r="r" b="b"/>
            <a:pathLst>
              <a:path w="1668" h="1059">
                <a:moveTo>
                  <a:pt x="0" y="0"/>
                </a:moveTo>
                <a:lnTo>
                  <a:pt x="1668" y="0"/>
                </a:lnTo>
                <a:lnTo>
                  <a:pt x="166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1180800" y="4305240"/>
            <a:ext cx="600480" cy="381240"/>
          </a:xfrm>
          <a:custGeom>
            <a:avLst/>
            <a:gdLst/>
            <a:ahLst/>
            <a:rect l="0" t="0" r="r" b="b"/>
            <a:pathLst>
              <a:path w="1668" h="1059">
                <a:moveTo>
                  <a:pt x="0" y="0"/>
                </a:moveTo>
                <a:lnTo>
                  <a:pt x="1668" y="0"/>
                </a:lnTo>
                <a:lnTo>
                  <a:pt x="166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1780920" y="4305240"/>
            <a:ext cx="5067720" cy="381240"/>
          </a:xfrm>
          <a:custGeom>
            <a:avLst/>
            <a:gdLst/>
            <a:ahLst/>
            <a:rect l="0" t="0" r="r" b="b"/>
            <a:pathLst>
              <a:path w="14077" h="1059">
                <a:moveTo>
                  <a:pt x="0" y="0"/>
                </a:moveTo>
                <a:lnTo>
                  <a:pt x="14077" y="0"/>
                </a:lnTo>
                <a:lnTo>
                  <a:pt x="1407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57132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571320" y="2438280"/>
            <a:ext cx="609840" cy="9720"/>
          </a:xfrm>
          <a:custGeom>
            <a:avLst/>
            <a:gdLst/>
            <a:ahLst/>
            <a:rect l="0" t="0" r="r" b="b"/>
            <a:pathLst>
              <a:path w="1694" h="27">
                <a:moveTo>
                  <a:pt x="0" y="0"/>
                </a:moveTo>
                <a:lnTo>
                  <a:pt x="1694" y="0"/>
                </a:lnTo>
                <a:lnTo>
                  <a:pt x="16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117144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1180800" y="243828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177156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1780920" y="2438280"/>
            <a:ext cx="5067720" cy="9720"/>
          </a:xfrm>
          <a:custGeom>
            <a:avLst/>
            <a:gdLst/>
            <a:ahLst/>
            <a:rect l="0" t="0" r="r" b="b"/>
            <a:pathLst>
              <a:path w="14077" h="27">
                <a:moveTo>
                  <a:pt x="0" y="0"/>
                </a:moveTo>
                <a:lnTo>
                  <a:pt x="14077" y="0"/>
                </a:lnTo>
                <a:lnTo>
                  <a:pt x="140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683892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571320" y="2819160"/>
            <a:ext cx="609840" cy="10080"/>
          </a:xfrm>
          <a:custGeom>
            <a:avLst/>
            <a:gdLst/>
            <a:ahLst/>
            <a:rect l="0" t="0" r="r" b="b"/>
            <a:pathLst>
              <a:path w="1694" h="28">
                <a:moveTo>
                  <a:pt x="0" y="0"/>
                </a:moveTo>
                <a:lnTo>
                  <a:pt x="1694" y="0"/>
                </a:lnTo>
                <a:lnTo>
                  <a:pt x="16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1180800" y="281916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1780920" y="2819160"/>
            <a:ext cx="5067720" cy="10080"/>
          </a:xfrm>
          <a:custGeom>
            <a:avLst/>
            <a:gdLst/>
            <a:ahLst/>
            <a:rect l="0" t="0" r="r" b="b"/>
            <a:pathLst>
              <a:path w="14077" h="28">
                <a:moveTo>
                  <a:pt x="0" y="0"/>
                </a:moveTo>
                <a:lnTo>
                  <a:pt x="14077" y="0"/>
                </a:lnTo>
                <a:lnTo>
                  <a:pt x="140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5713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117144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177156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68389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5713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571320" y="3190680"/>
            <a:ext cx="609840" cy="9720"/>
          </a:xfrm>
          <a:custGeom>
            <a:avLst/>
            <a:gdLst/>
            <a:ahLst/>
            <a:rect l="0" t="0" r="r" b="b"/>
            <a:pathLst>
              <a:path w="1694" h="27">
                <a:moveTo>
                  <a:pt x="0" y="0"/>
                </a:moveTo>
                <a:lnTo>
                  <a:pt x="1694" y="0"/>
                </a:lnTo>
                <a:lnTo>
                  <a:pt x="16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117144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1180800" y="319068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177156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1780920" y="3190680"/>
            <a:ext cx="5067720" cy="9720"/>
          </a:xfrm>
          <a:custGeom>
            <a:avLst/>
            <a:gdLst/>
            <a:ahLst/>
            <a:rect l="0" t="0" r="r" b="b"/>
            <a:pathLst>
              <a:path w="14077" h="27">
                <a:moveTo>
                  <a:pt x="0" y="0"/>
                </a:moveTo>
                <a:lnTo>
                  <a:pt x="14077" y="0"/>
                </a:lnTo>
                <a:lnTo>
                  <a:pt x="140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68389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5713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571320" y="3562200"/>
            <a:ext cx="609840" cy="9720"/>
          </a:xfrm>
          <a:custGeom>
            <a:avLst/>
            <a:gdLst/>
            <a:ahLst/>
            <a:rect l="0" t="0" r="r" b="b"/>
            <a:pathLst>
              <a:path w="1694" h="27">
                <a:moveTo>
                  <a:pt x="0" y="0"/>
                </a:moveTo>
                <a:lnTo>
                  <a:pt x="1694" y="0"/>
                </a:lnTo>
                <a:lnTo>
                  <a:pt x="16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117144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1180800" y="356220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177156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1780920" y="3562200"/>
            <a:ext cx="5067720" cy="9720"/>
          </a:xfrm>
          <a:custGeom>
            <a:avLst/>
            <a:gdLst/>
            <a:ahLst/>
            <a:rect l="0" t="0" r="r" b="b"/>
            <a:pathLst>
              <a:path w="14077" h="27">
                <a:moveTo>
                  <a:pt x="0" y="0"/>
                </a:moveTo>
                <a:lnTo>
                  <a:pt x="14077" y="0"/>
                </a:lnTo>
                <a:lnTo>
                  <a:pt x="140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68389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5713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571320" y="3933720"/>
            <a:ext cx="609840" cy="9720"/>
          </a:xfrm>
          <a:custGeom>
            <a:avLst/>
            <a:gdLst/>
            <a:ahLst/>
            <a:rect l="0" t="0" r="r" b="b"/>
            <a:pathLst>
              <a:path w="1694" h="27">
                <a:moveTo>
                  <a:pt x="0" y="0"/>
                </a:moveTo>
                <a:lnTo>
                  <a:pt x="1694" y="0"/>
                </a:lnTo>
                <a:lnTo>
                  <a:pt x="16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117144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1180800" y="393372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177156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1780920" y="3933720"/>
            <a:ext cx="5067720" cy="9720"/>
          </a:xfrm>
          <a:custGeom>
            <a:avLst/>
            <a:gdLst/>
            <a:ahLst/>
            <a:rect l="0" t="0" r="r" b="b"/>
            <a:pathLst>
              <a:path w="14077" h="27">
                <a:moveTo>
                  <a:pt x="0" y="0"/>
                </a:moveTo>
                <a:lnTo>
                  <a:pt x="14077" y="0"/>
                </a:lnTo>
                <a:lnTo>
                  <a:pt x="140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68389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571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571320" y="4305240"/>
            <a:ext cx="609840" cy="9720"/>
          </a:xfrm>
          <a:custGeom>
            <a:avLst/>
            <a:gdLst/>
            <a:ahLst/>
            <a:rect l="0" t="0" r="r" b="b"/>
            <a:pathLst>
              <a:path w="1694" h="27">
                <a:moveTo>
                  <a:pt x="0" y="0"/>
                </a:moveTo>
                <a:lnTo>
                  <a:pt x="1694" y="0"/>
                </a:lnTo>
                <a:lnTo>
                  <a:pt x="16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117144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1180800" y="430524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177156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1780920" y="4305240"/>
            <a:ext cx="5067720" cy="9720"/>
          </a:xfrm>
          <a:custGeom>
            <a:avLst/>
            <a:gdLst/>
            <a:ahLst/>
            <a:rect l="0" t="0" r="r" b="b"/>
            <a:pathLst>
              <a:path w="14077" h="27">
                <a:moveTo>
                  <a:pt x="0" y="0"/>
                </a:moveTo>
                <a:lnTo>
                  <a:pt x="14077" y="0"/>
                </a:lnTo>
                <a:lnTo>
                  <a:pt x="140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68389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571320" y="4676760"/>
            <a:ext cx="609840" cy="9720"/>
          </a:xfrm>
          <a:custGeom>
            <a:avLst/>
            <a:gdLst/>
            <a:ahLst/>
            <a:rect l="0" t="0" r="r" b="b"/>
            <a:pathLst>
              <a:path w="1694" h="27">
                <a:moveTo>
                  <a:pt x="0" y="0"/>
                </a:moveTo>
                <a:lnTo>
                  <a:pt x="1694" y="0"/>
                </a:lnTo>
                <a:lnTo>
                  <a:pt x="16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1180800" y="467676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1780920" y="4676760"/>
            <a:ext cx="5067720" cy="9720"/>
          </a:xfrm>
          <a:custGeom>
            <a:avLst/>
            <a:gdLst/>
            <a:ahLst/>
            <a:rect l="0" t="0" r="r" b="b"/>
            <a:pathLst>
              <a:path w="14077" h="27">
                <a:moveTo>
                  <a:pt x="0" y="0"/>
                </a:moveTo>
                <a:lnTo>
                  <a:pt x="14077" y="0"/>
                </a:lnTo>
                <a:lnTo>
                  <a:pt x="140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571320" y="1859400"/>
            <a:ext cx="38232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咖啡师培训（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Barista SOP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70488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阶段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130500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天数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190512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内容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704880" y="2885400"/>
            <a:ext cx="227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1305000" y="288540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1905120" y="2885400"/>
            <a:ext cx="5077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咖啡⾖知识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磨⾖机校准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意式萃取（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18g → 36g / 25-30s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704880" y="3256920"/>
            <a:ext cx="261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1305000" y="325692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1905120" y="3256920"/>
            <a:ext cx="3789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奶泡打发（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55-65°C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拉花基础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⼿冲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V60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704880" y="3628440"/>
            <a:ext cx="261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1305000" y="362844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1905120" y="3628440"/>
            <a:ext cx="3233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SOP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流程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收银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⼩程序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⻝安规范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704880" y="3999600"/>
            <a:ext cx="261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1305000" y="399960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1905120" y="3999600"/>
            <a:ext cx="3167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跟岗实训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出品考核（盲测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款合格）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704880" y="437112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⽉度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1305000" y="437112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1905120" y="4371120"/>
            <a:ext cx="2656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新品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季度菜单培训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交叉学习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285840" y="6409440"/>
            <a:ext cx="371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店⻓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运营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1182276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580680" y="2076120"/>
            <a:ext cx="2419920" cy="371880"/>
          </a:xfrm>
          <a:custGeom>
            <a:avLst/>
            <a:gdLst/>
            <a:ahLst/>
            <a:rect l="0" t="0" r="r" b="b"/>
            <a:pathLst>
              <a:path w="6722" h="1033">
                <a:moveTo>
                  <a:pt x="0" y="0"/>
                </a:moveTo>
                <a:lnTo>
                  <a:pt x="6722" y="0"/>
                </a:lnTo>
                <a:lnTo>
                  <a:pt x="672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3000240" y="2076120"/>
            <a:ext cx="1457640" cy="371880"/>
          </a:xfrm>
          <a:custGeom>
            <a:avLst/>
            <a:gdLst/>
            <a:ahLst/>
            <a:rect l="0" t="0" r="r" b="b"/>
            <a:pathLst>
              <a:path w="4049" h="1033">
                <a:moveTo>
                  <a:pt x="0" y="0"/>
                </a:moveTo>
                <a:lnTo>
                  <a:pt x="4049" y="0"/>
                </a:lnTo>
                <a:lnTo>
                  <a:pt x="40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4457520" y="2076120"/>
            <a:ext cx="1171800" cy="371880"/>
          </a:xfrm>
          <a:custGeom>
            <a:avLst/>
            <a:gdLst/>
            <a:ahLst/>
            <a:rect l="0" t="0" r="r" b="b"/>
            <a:pathLst>
              <a:path w="3255" h="1033">
                <a:moveTo>
                  <a:pt x="0" y="0"/>
                </a:moveTo>
                <a:lnTo>
                  <a:pt x="3255" y="0"/>
                </a:lnTo>
                <a:lnTo>
                  <a:pt x="325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5628960" y="2076120"/>
            <a:ext cx="905400" cy="371880"/>
          </a:xfrm>
          <a:custGeom>
            <a:avLst/>
            <a:gdLst/>
            <a:ahLst/>
            <a:rect l="0" t="0" r="r" b="b"/>
            <a:pathLst>
              <a:path w="2515" h="1033">
                <a:moveTo>
                  <a:pt x="0" y="0"/>
                </a:moveTo>
                <a:lnTo>
                  <a:pt x="2515" y="0"/>
                </a:lnTo>
                <a:lnTo>
                  <a:pt x="251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580680" y="2076120"/>
            <a:ext cx="2419920" cy="371880"/>
          </a:xfrm>
          <a:custGeom>
            <a:avLst/>
            <a:gdLst/>
            <a:ahLst/>
            <a:rect l="0" t="0" r="r" b="b"/>
            <a:pathLst>
              <a:path w="6722" h="1033">
                <a:moveTo>
                  <a:pt x="0" y="0"/>
                </a:moveTo>
                <a:lnTo>
                  <a:pt x="6722" y="0"/>
                </a:lnTo>
                <a:lnTo>
                  <a:pt x="672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3000240" y="2076120"/>
            <a:ext cx="1457640" cy="371880"/>
          </a:xfrm>
          <a:custGeom>
            <a:avLst/>
            <a:gdLst/>
            <a:ahLst/>
            <a:rect l="0" t="0" r="r" b="b"/>
            <a:pathLst>
              <a:path w="4049" h="1033">
                <a:moveTo>
                  <a:pt x="0" y="0"/>
                </a:moveTo>
                <a:lnTo>
                  <a:pt x="4049" y="0"/>
                </a:lnTo>
                <a:lnTo>
                  <a:pt x="40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4457520" y="2076120"/>
            <a:ext cx="1171800" cy="371880"/>
          </a:xfrm>
          <a:custGeom>
            <a:avLst/>
            <a:gdLst/>
            <a:ahLst/>
            <a:rect l="0" t="0" r="r" b="b"/>
            <a:pathLst>
              <a:path w="3255" h="1033">
                <a:moveTo>
                  <a:pt x="0" y="0"/>
                </a:moveTo>
                <a:lnTo>
                  <a:pt x="3255" y="0"/>
                </a:lnTo>
                <a:lnTo>
                  <a:pt x="325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5628960" y="2076120"/>
            <a:ext cx="905400" cy="371880"/>
          </a:xfrm>
          <a:custGeom>
            <a:avLst/>
            <a:gdLst/>
            <a:ahLst/>
            <a:rect l="0" t="0" r="r" b="b"/>
            <a:pathLst>
              <a:path w="2515" h="1033">
                <a:moveTo>
                  <a:pt x="0" y="0"/>
                </a:moveTo>
                <a:lnTo>
                  <a:pt x="2515" y="0"/>
                </a:lnTo>
                <a:lnTo>
                  <a:pt x="251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580680" y="2447640"/>
            <a:ext cx="2419920" cy="371880"/>
          </a:xfrm>
          <a:custGeom>
            <a:avLst/>
            <a:gdLst/>
            <a:ahLst/>
            <a:rect l="0" t="0" r="r" b="b"/>
            <a:pathLst>
              <a:path w="6722" h="1033">
                <a:moveTo>
                  <a:pt x="0" y="0"/>
                </a:moveTo>
                <a:lnTo>
                  <a:pt x="6722" y="0"/>
                </a:lnTo>
                <a:lnTo>
                  <a:pt x="672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3000240" y="2447640"/>
            <a:ext cx="1457640" cy="371880"/>
          </a:xfrm>
          <a:custGeom>
            <a:avLst/>
            <a:gdLst/>
            <a:ahLst/>
            <a:rect l="0" t="0" r="r" b="b"/>
            <a:pathLst>
              <a:path w="4049" h="1033">
                <a:moveTo>
                  <a:pt x="0" y="0"/>
                </a:moveTo>
                <a:lnTo>
                  <a:pt x="4049" y="0"/>
                </a:lnTo>
                <a:lnTo>
                  <a:pt x="40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4457520" y="2447640"/>
            <a:ext cx="1171800" cy="371880"/>
          </a:xfrm>
          <a:custGeom>
            <a:avLst/>
            <a:gdLst/>
            <a:ahLst/>
            <a:rect l="0" t="0" r="r" b="b"/>
            <a:pathLst>
              <a:path w="3255" h="1033">
                <a:moveTo>
                  <a:pt x="0" y="0"/>
                </a:moveTo>
                <a:lnTo>
                  <a:pt x="3255" y="0"/>
                </a:lnTo>
                <a:lnTo>
                  <a:pt x="325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5628960" y="2447640"/>
            <a:ext cx="905400" cy="371880"/>
          </a:xfrm>
          <a:custGeom>
            <a:avLst/>
            <a:gdLst/>
            <a:ahLst/>
            <a:rect l="0" t="0" r="r" b="b"/>
            <a:pathLst>
              <a:path w="2515" h="1033">
                <a:moveTo>
                  <a:pt x="0" y="0"/>
                </a:moveTo>
                <a:lnTo>
                  <a:pt x="2515" y="0"/>
                </a:lnTo>
                <a:lnTo>
                  <a:pt x="251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580680" y="2819160"/>
            <a:ext cx="2419920" cy="371880"/>
          </a:xfrm>
          <a:custGeom>
            <a:avLst/>
            <a:gdLst/>
            <a:ahLst/>
            <a:rect l="0" t="0" r="r" b="b"/>
            <a:pathLst>
              <a:path w="6722" h="1033">
                <a:moveTo>
                  <a:pt x="0" y="0"/>
                </a:moveTo>
                <a:lnTo>
                  <a:pt x="6722" y="0"/>
                </a:lnTo>
                <a:lnTo>
                  <a:pt x="672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3000240" y="2819160"/>
            <a:ext cx="1457640" cy="371880"/>
          </a:xfrm>
          <a:custGeom>
            <a:avLst/>
            <a:gdLst/>
            <a:ahLst/>
            <a:rect l="0" t="0" r="r" b="b"/>
            <a:pathLst>
              <a:path w="4049" h="1033">
                <a:moveTo>
                  <a:pt x="0" y="0"/>
                </a:moveTo>
                <a:lnTo>
                  <a:pt x="4049" y="0"/>
                </a:lnTo>
                <a:lnTo>
                  <a:pt x="40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4457520" y="2819160"/>
            <a:ext cx="1171800" cy="371880"/>
          </a:xfrm>
          <a:custGeom>
            <a:avLst/>
            <a:gdLst/>
            <a:ahLst/>
            <a:rect l="0" t="0" r="r" b="b"/>
            <a:pathLst>
              <a:path w="3255" h="1033">
                <a:moveTo>
                  <a:pt x="0" y="0"/>
                </a:moveTo>
                <a:lnTo>
                  <a:pt x="3255" y="0"/>
                </a:lnTo>
                <a:lnTo>
                  <a:pt x="325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5628960" y="2819160"/>
            <a:ext cx="905400" cy="371880"/>
          </a:xfrm>
          <a:custGeom>
            <a:avLst/>
            <a:gdLst/>
            <a:ahLst/>
            <a:rect l="0" t="0" r="r" b="b"/>
            <a:pathLst>
              <a:path w="2515" h="1033">
                <a:moveTo>
                  <a:pt x="0" y="0"/>
                </a:moveTo>
                <a:lnTo>
                  <a:pt x="2515" y="0"/>
                </a:lnTo>
                <a:lnTo>
                  <a:pt x="251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580680" y="3190680"/>
            <a:ext cx="2419920" cy="371880"/>
          </a:xfrm>
          <a:custGeom>
            <a:avLst/>
            <a:gdLst/>
            <a:ahLst/>
            <a:rect l="0" t="0" r="r" b="b"/>
            <a:pathLst>
              <a:path w="6722" h="1033">
                <a:moveTo>
                  <a:pt x="0" y="0"/>
                </a:moveTo>
                <a:lnTo>
                  <a:pt x="6722" y="0"/>
                </a:lnTo>
                <a:lnTo>
                  <a:pt x="672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3000240" y="3190680"/>
            <a:ext cx="1457640" cy="371880"/>
          </a:xfrm>
          <a:custGeom>
            <a:avLst/>
            <a:gdLst/>
            <a:ahLst/>
            <a:rect l="0" t="0" r="r" b="b"/>
            <a:pathLst>
              <a:path w="4049" h="1033">
                <a:moveTo>
                  <a:pt x="0" y="0"/>
                </a:moveTo>
                <a:lnTo>
                  <a:pt x="4049" y="0"/>
                </a:lnTo>
                <a:lnTo>
                  <a:pt x="40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4457520" y="3190680"/>
            <a:ext cx="1171800" cy="371880"/>
          </a:xfrm>
          <a:custGeom>
            <a:avLst/>
            <a:gdLst/>
            <a:ahLst/>
            <a:rect l="0" t="0" r="r" b="b"/>
            <a:pathLst>
              <a:path w="3255" h="1033">
                <a:moveTo>
                  <a:pt x="0" y="0"/>
                </a:moveTo>
                <a:lnTo>
                  <a:pt x="3255" y="0"/>
                </a:lnTo>
                <a:lnTo>
                  <a:pt x="325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5628960" y="3190680"/>
            <a:ext cx="905400" cy="371880"/>
          </a:xfrm>
          <a:custGeom>
            <a:avLst/>
            <a:gdLst/>
            <a:ahLst/>
            <a:rect l="0" t="0" r="r" b="b"/>
            <a:pathLst>
              <a:path w="2515" h="1033">
                <a:moveTo>
                  <a:pt x="0" y="0"/>
                </a:moveTo>
                <a:lnTo>
                  <a:pt x="2515" y="0"/>
                </a:lnTo>
                <a:lnTo>
                  <a:pt x="251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580680" y="3562200"/>
            <a:ext cx="2419920" cy="371880"/>
          </a:xfrm>
          <a:custGeom>
            <a:avLst/>
            <a:gdLst/>
            <a:ahLst/>
            <a:rect l="0" t="0" r="r" b="b"/>
            <a:pathLst>
              <a:path w="6722" h="1033">
                <a:moveTo>
                  <a:pt x="0" y="0"/>
                </a:moveTo>
                <a:lnTo>
                  <a:pt x="6722" y="0"/>
                </a:lnTo>
                <a:lnTo>
                  <a:pt x="672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3000240" y="3562200"/>
            <a:ext cx="1457640" cy="371880"/>
          </a:xfrm>
          <a:custGeom>
            <a:avLst/>
            <a:gdLst/>
            <a:ahLst/>
            <a:rect l="0" t="0" r="r" b="b"/>
            <a:pathLst>
              <a:path w="4049" h="1033">
                <a:moveTo>
                  <a:pt x="0" y="0"/>
                </a:moveTo>
                <a:lnTo>
                  <a:pt x="4049" y="0"/>
                </a:lnTo>
                <a:lnTo>
                  <a:pt x="40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4457520" y="3562200"/>
            <a:ext cx="1171800" cy="371880"/>
          </a:xfrm>
          <a:custGeom>
            <a:avLst/>
            <a:gdLst/>
            <a:ahLst/>
            <a:rect l="0" t="0" r="r" b="b"/>
            <a:pathLst>
              <a:path w="3255" h="1033">
                <a:moveTo>
                  <a:pt x="0" y="0"/>
                </a:moveTo>
                <a:lnTo>
                  <a:pt x="3255" y="0"/>
                </a:lnTo>
                <a:lnTo>
                  <a:pt x="325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5628960" y="3562200"/>
            <a:ext cx="905400" cy="371880"/>
          </a:xfrm>
          <a:custGeom>
            <a:avLst/>
            <a:gdLst/>
            <a:ahLst/>
            <a:rect l="0" t="0" r="r" b="b"/>
            <a:pathLst>
              <a:path w="2515" h="1033">
                <a:moveTo>
                  <a:pt x="0" y="0"/>
                </a:moveTo>
                <a:lnTo>
                  <a:pt x="2515" y="0"/>
                </a:lnTo>
                <a:lnTo>
                  <a:pt x="251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580680" y="3933720"/>
            <a:ext cx="2419920" cy="371880"/>
          </a:xfrm>
          <a:custGeom>
            <a:avLst/>
            <a:gdLst/>
            <a:ahLst/>
            <a:rect l="0" t="0" r="r" b="b"/>
            <a:pathLst>
              <a:path w="6722" h="1033">
                <a:moveTo>
                  <a:pt x="0" y="0"/>
                </a:moveTo>
                <a:lnTo>
                  <a:pt x="6722" y="0"/>
                </a:lnTo>
                <a:lnTo>
                  <a:pt x="672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3000240" y="3933720"/>
            <a:ext cx="1457640" cy="371880"/>
          </a:xfrm>
          <a:custGeom>
            <a:avLst/>
            <a:gdLst/>
            <a:ahLst/>
            <a:rect l="0" t="0" r="r" b="b"/>
            <a:pathLst>
              <a:path w="4049" h="1033">
                <a:moveTo>
                  <a:pt x="0" y="0"/>
                </a:moveTo>
                <a:lnTo>
                  <a:pt x="4049" y="0"/>
                </a:lnTo>
                <a:lnTo>
                  <a:pt x="40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4457520" y="3933720"/>
            <a:ext cx="1171800" cy="371880"/>
          </a:xfrm>
          <a:custGeom>
            <a:avLst/>
            <a:gdLst/>
            <a:ahLst/>
            <a:rect l="0" t="0" r="r" b="b"/>
            <a:pathLst>
              <a:path w="3255" h="1033">
                <a:moveTo>
                  <a:pt x="0" y="0"/>
                </a:moveTo>
                <a:lnTo>
                  <a:pt x="3255" y="0"/>
                </a:lnTo>
                <a:lnTo>
                  <a:pt x="325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5628960" y="3933720"/>
            <a:ext cx="905400" cy="371880"/>
          </a:xfrm>
          <a:custGeom>
            <a:avLst/>
            <a:gdLst/>
            <a:ahLst/>
            <a:rect l="0" t="0" r="r" b="b"/>
            <a:pathLst>
              <a:path w="2515" h="1033">
                <a:moveTo>
                  <a:pt x="0" y="0"/>
                </a:moveTo>
                <a:lnTo>
                  <a:pt x="2515" y="0"/>
                </a:lnTo>
                <a:lnTo>
                  <a:pt x="251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580680" y="4305240"/>
            <a:ext cx="2419920" cy="381240"/>
          </a:xfrm>
          <a:custGeom>
            <a:avLst/>
            <a:gdLst/>
            <a:ahLst/>
            <a:rect l="0" t="0" r="r" b="b"/>
            <a:pathLst>
              <a:path w="6722" h="1059">
                <a:moveTo>
                  <a:pt x="0" y="0"/>
                </a:moveTo>
                <a:lnTo>
                  <a:pt x="6722" y="0"/>
                </a:lnTo>
                <a:lnTo>
                  <a:pt x="672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3000240" y="4305240"/>
            <a:ext cx="1457640" cy="381240"/>
          </a:xfrm>
          <a:custGeom>
            <a:avLst/>
            <a:gdLst/>
            <a:ahLst/>
            <a:rect l="0" t="0" r="r" b="b"/>
            <a:pathLst>
              <a:path w="4049" h="1059">
                <a:moveTo>
                  <a:pt x="0" y="0"/>
                </a:moveTo>
                <a:lnTo>
                  <a:pt x="4049" y="0"/>
                </a:lnTo>
                <a:lnTo>
                  <a:pt x="404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4457520" y="4305240"/>
            <a:ext cx="1171800" cy="381240"/>
          </a:xfrm>
          <a:custGeom>
            <a:avLst/>
            <a:gdLst/>
            <a:ahLst/>
            <a:rect l="0" t="0" r="r" b="b"/>
            <a:pathLst>
              <a:path w="3255" h="1059">
                <a:moveTo>
                  <a:pt x="0" y="0"/>
                </a:moveTo>
                <a:lnTo>
                  <a:pt x="3255" y="0"/>
                </a:lnTo>
                <a:lnTo>
                  <a:pt x="325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5628960" y="4305240"/>
            <a:ext cx="905400" cy="381240"/>
          </a:xfrm>
          <a:custGeom>
            <a:avLst/>
            <a:gdLst/>
            <a:ahLst/>
            <a:rect l="0" t="0" r="r" b="b"/>
            <a:pathLst>
              <a:path w="2515" h="1059">
                <a:moveTo>
                  <a:pt x="0" y="0"/>
                </a:moveTo>
                <a:lnTo>
                  <a:pt x="2515" y="0"/>
                </a:lnTo>
                <a:lnTo>
                  <a:pt x="251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580680" y="4686120"/>
            <a:ext cx="2419920" cy="371880"/>
          </a:xfrm>
          <a:custGeom>
            <a:avLst/>
            <a:gdLst/>
            <a:ahLst/>
            <a:rect l="0" t="0" r="r" b="b"/>
            <a:pathLst>
              <a:path w="6722" h="1033">
                <a:moveTo>
                  <a:pt x="0" y="0"/>
                </a:moveTo>
                <a:lnTo>
                  <a:pt x="6722" y="0"/>
                </a:lnTo>
                <a:lnTo>
                  <a:pt x="672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3000240" y="4686120"/>
            <a:ext cx="1457640" cy="371880"/>
          </a:xfrm>
          <a:custGeom>
            <a:avLst/>
            <a:gdLst/>
            <a:ahLst/>
            <a:rect l="0" t="0" r="r" b="b"/>
            <a:pathLst>
              <a:path w="4049" h="1033">
                <a:moveTo>
                  <a:pt x="0" y="0"/>
                </a:moveTo>
                <a:lnTo>
                  <a:pt x="4049" y="0"/>
                </a:lnTo>
                <a:lnTo>
                  <a:pt x="40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4457520" y="4686120"/>
            <a:ext cx="1171800" cy="371880"/>
          </a:xfrm>
          <a:custGeom>
            <a:avLst/>
            <a:gdLst/>
            <a:ahLst/>
            <a:rect l="0" t="0" r="r" b="b"/>
            <a:pathLst>
              <a:path w="3255" h="1033">
                <a:moveTo>
                  <a:pt x="0" y="0"/>
                </a:moveTo>
                <a:lnTo>
                  <a:pt x="3255" y="0"/>
                </a:lnTo>
                <a:lnTo>
                  <a:pt x="325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5628960" y="4686120"/>
            <a:ext cx="905400" cy="371880"/>
          </a:xfrm>
          <a:custGeom>
            <a:avLst/>
            <a:gdLst/>
            <a:ahLst/>
            <a:rect l="0" t="0" r="r" b="b"/>
            <a:pathLst>
              <a:path w="2515" h="1033">
                <a:moveTo>
                  <a:pt x="0" y="0"/>
                </a:moveTo>
                <a:lnTo>
                  <a:pt x="2515" y="0"/>
                </a:lnTo>
                <a:lnTo>
                  <a:pt x="251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571320" y="2066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571320" y="2066760"/>
            <a:ext cx="2438640" cy="9720"/>
          </a:xfrm>
          <a:custGeom>
            <a:avLst/>
            <a:gdLst/>
            <a:ahLst/>
            <a:rect l="0" t="0" r="r" b="b"/>
            <a:pathLst>
              <a:path w="6774" h="27">
                <a:moveTo>
                  <a:pt x="0" y="0"/>
                </a:moveTo>
                <a:lnTo>
                  <a:pt x="6774" y="0"/>
                </a:lnTo>
                <a:lnTo>
                  <a:pt x="67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3000240" y="2066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3009600" y="2066760"/>
            <a:ext cx="1448280" cy="9720"/>
          </a:xfrm>
          <a:custGeom>
            <a:avLst/>
            <a:gdLst/>
            <a:ahLst/>
            <a:rect l="0" t="0" r="r" b="b"/>
            <a:pathLst>
              <a:path w="4023" h="27">
                <a:moveTo>
                  <a:pt x="0" y="0"/>
                </a:moveTo>
                <a:lnTo>
                  <a:pt x="4023" y="0"/>
                </a:lnTo>
                <a:lnTo>
                  <a:pt x="40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4448160" y="2066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4457520" y="2066760"/>
            <a:ext cx="1171800" cy="9720"/>
          </a:xfrm>
          <a:custGeom>
            <a:avLst/>
            <a:gdLst/>
            <a:ahLst/>
            <a:rect l="0" t="0" r="r" b="b"/>
            <a:pathLst>
              <a:path w="3255" h="27">
                <a:moveTo>
                  <a:pt x="0" y="0"/>
                </a:moveTo>
                <a:lnTo>
                  <a:pt x="3255" y="0"/>
                </a:lnTo>
                <a:lnTo>
                  <a:pt x="32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5619600" y="2066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5628960" y="2066760"/>
            <a:ext cx="905400" cy="9720"/>
          </a:xfrm>
          <a:custGeom>
            <a:avLst/>
            <a:gdLst/>
            <a:ahLst/>
            <a:rect l="0" t="0" r="r" b="b"/>
            <a:pathLst>
              <a:path w="2515" h="27">
                <a:moveTo>
                  <a:pt x="0" y="0"/>
                </a:moveTo>
                <a:lnTo>
                  <a:pt x="2515" y="0"/>
                </a:lnTo>
                <a:lnTo>
                  <a:pt x="25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6524280" y="20667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571320" y="2438280"/>
            <a:ext cx="2438640" cy="9720"/>
          </a:xfrm>
          <a:custGeom>
            <a:avLst/>
            <a:gdLst/>
            <a:ahLst/>
            <a:rect l="0" t="0" r="r" b="b"/>
            <a:pathLst>
              <a:path w="6774" h="27">
                <a:moveTo>
                  <a:pt x="0" y="0"/>
                </a:moveTo>
                <a:lnTo>
                  <a:pt x="6774" y="0"/>
                </a:lnTo>
                <a:lnTo>
                  <a:pt x="67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3009600" y="2438280"/>
            <a:ext cx="1448280" cy="9720"/>
          </a:xfrm>
          <a:custGeom>
            <a:avLst/>
            <a:gdLst/>
            <a:ahLst/>
            <a:rect l="0" t="0" r="r" b="b"/>
            <a:pathLst>
              <a:path w="4023" h="27">
                <a:moveTo>
                  <a:pt x="0" y="0"/>
                </a:moveTo>
                <a:lnTo>
                  <a:pt x="4023" y="0"/>
                </a:lnTo>
                <a:lnTo>
                  <a:pt x="40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4457520" y="2438280"/>
            <a:ext cx="1171800" cy="9720"/>
          </a:xfrm>
          <a:custGeom>
            <a:avLst/>
            <a:gdLst/>
            <a:ahLst/>
            <a:rect l="0" t="0" r="r" b="b"/>
            <a:pathLst>
              <a:path w="3255" h="27">
                <a:moveTo>
                  <a:pt x="0" y="0"/>
                </a:moveTo>
                <a:lnTo>
                  <a:pt x="3255" y="0"/>
                </a:lnTo>
                <a:lnTo>
                  <a:pt x="32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5628960" y="2438280"/>
            <a:ext cx="905400" cy="9720"/>
          </a:xfrm>
          <a:custGeom>
            <a:avLst/>
            <a:gdLst/>
            <a:ahLst/>
            <a:rect l="0" t="0" r="r" b="b"/>
            <a:pathLst>
              <a:path w="2515" h="27">
                <a:moveTo>
                  <a:pt x="0" y="0"/>
                </a:moveTo>
                <a:lnTo>
                  <a:pt x="2515" y="0"/>
                </a:lnTo>
                <a:lnTo>
                  <a:pt x="25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57132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300024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444816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561960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6524280" y="24476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5713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571320" y="2819160"/>
            <a:ext cx="2438640" cy="10080"/>
          </a:xfrm>
          <a:custGeom>
            <a:avLst/>
            <a:gdLst/>
            <a:ahLst/>
            <a:rect l="0" t="0" r="r" b="b"/>
            <a:pathLst>
              <a:path w="6774" h="28">
                <a:moveTo>
                  <a:pt x="0" y="0"/>
                </a:moveTo>
                <a:lnTo>
                  <a:pt x="6774" y="0"/>
                </a:lnTo>
                <a:lnTo>
                  <a:pt x="677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300024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3009600" y="2819160"/>
            <a:ext cx="1448280" cy="10080"/>
          </a:xfrm>
          <a:custGeom>
            <a:avLst/>
            <a:gdLst/>
            <a:ahLst/>
            <a:rect l="0" t="0" r="r" b="b"/>
            <a:pathLst>
              <a:path w="4023" h="28">
                <a:moveTo>
                  <a:pt x="0" y="0"/>
                </a:moveTo>
                <a:lnTo>
                  <a:pt x="4023" y="0"/>
                </a:lnTo>
                <a:lnTo>
                  <a:pt x="40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444816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4457520" y="2819160"/>
            <a:ext cx="1171800" cy="10080"/>
          </a:xfrm>
          <a:custGeom>
            <a:avLst/>
            <a:gdLst/>
            <a:ahLst/>
            <a:rect l="0" t="0" r="r" b="b"/>
            <a:pathLst>
              <a:path w="3255" h="28">
                <a:moveTo>
                  <a:pt x="0" y="0"/>
                </a:moveTo>
                <a:lnTo>
                  <a:pt x="3255" y="0"/>
                </a:lnTo>
                <a:lnTo>
                  <a:pt x="32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561960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5628960" y="2819160"/>
            <a:ext cx="905400" cy="10080"/>
          </a:xfrm>
          <a:custGeom>
            <a:avLst/>
            <a:gdLst/>
            <a:ahLst/>
            <a:rect l="0" t="0" r="r" b="b"/>
            <a:pathLst>
              <a:path w="2515" h="28">
                <a:moveTo>
                  <a:pt x="0" y="0"/>
                </a:moveTo>
                <a:lnTo>
                  <a:pt x="2515" y="0"/>
                </a:lnTo>
                <a:lnTo>
                  <a:pt x="25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652428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5713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571320" y="3190680"/>
            <a:ext cx="2438640" cy="9720"/>
          </a:xfrm>
          <a:custGeom>
            <a:avLst/>
            <a:gdLst/>
            <a:ahLst/>
            <a:rect l="0" t="0" r="r" b="b"/>
            <a:pathLst>
              <a:path w="6774" h="27">
                <a:moveTo>
                  <a:pt x="0" y="0"/>
                </a:moveTo>
                <a:lnTo>
                  <a:pt x="6774" y="0"/>
                </a:lnTo>
                <a:lnTo>
                  <a:pt x="67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300024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3009600" y="3190680"/>
            <a:ext cx="1448280" cy="9720"/>
          </a:xfrm>
          <a:custGeom>
            <a:avLst/>
            <a:gdLst/>
            <a:ahLst/>
            <a:rect l="0" t="0" r="r" b="b"/>
            <a:pathLst>
              <a:path w="4023" h="27">
                <a:moveTo>
                  <a:pt x="0" y="0"/>
                </a:moveTo>
                <a:lnTo>
                  <a:pt x="4023" y="0"/>
                </a:lnTo>
                <a:lnTo>
                  <a:pt x="40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444816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4457520" y="3190680"/>
            <a:ext cx="1171800" cy="9720"/>
          </a:xfrm>
          <a:custGeom>
            <a:avLst/>
            <a:gdLst/>
            <a:ahLst/>
            <a:rect l="0" t="0" r="r" b="b"/>
            <a:pathLst>
              <a:path w="3255" h="27">
                <a:moveTo>
                  <a:pt x="0" y="0"/>
                </a:moveTo>
                <a:lnTo>
                  <a:pt x="3255" y="0"/>
                </a:lnTo>
                <a:lnTo>
                  <a:pt x="32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561960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5628960" y="3190680"/>
            <a:ext cx="905400" cy="9720"/>
          </a:xfrm>
          <a:custGeom>
            <a:avLst/>
            <a:gdLst/>
            <a:ahLst/>
            <a:rect l="0" t="0" r="r" b="b"/>
            <a:pathLst>
              <a:path w="2515" h="27">
                <a:moveTo>
                  <a:pt x="0" y="0"/>
                </a:moveTo>
                <a:lnTo>
                  <a:pt x="2515" y="0"/>
                </a:lnTo>
                <a:lnTo>
                  <a:pt x="25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652428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5713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571320" y="3562200"/>
            <a:ext cx="2438640" cy="9720"/>
          </a:xfrm>
          <a:custGeom>
            <a:avLst/>
            <a:gdLst/>
            <a:ahLst/>
            <a:rect l="0" t="0" r="r" b="b"/>
            <a:pathLst>
              <a:path w="6774" h="27">
                <a:moveTo>
                  <a:pt x="0" y="0"/>
                </a:moveTo>
                <a:lnTo>
                  <a:pt x="6774" y="0"/>
                </a:lnTo>
                <a:lnTo>
                  <a:pt x="67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300024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3009600" y="3562200"/>
            <a:ext cx="1448280" cy="9720"/>
          </a:xfrm>
          <a:custGeom>
            <a:avLst/>
            <a:gdLst/>
            <a:ahLst/>
            <a:rect l="0" t="0" r="r" b="b"/>
            <a:pathLst>
              <a:path w="4023" h="27">
                <a:moveTo>
                  <a:pt x="0" y="0"/>
                </a:moveTo>
                <a:lnTo>
                  <a:pt x="4023" y="0"/>
                </a:lnTo>
                <a:lnTo>
                  <a:pt x="40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444816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4457520" y="3562200"/>
            <a:ext cx="1171800" cy="9720"/>
          </a:xfrm>
          <a:custGeom>
            <a:avLst/>
            <a:gdLst/>
            <a:ahLst/>
            <a:rect l="0" t="0" r="r" b="b"/>
            <a:pathLst>
              <a:path w="3255" h="27">
                <a:moveTo>
                  <a:pt x="0" y="0"/>
                </a:moveTo>
                <a:lnTo>
                  <a:pt x="3255" y="0"/>
                </a:lnTo>
                <a:lnTo>
                  <a:pt x="32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561960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5628960" y="3562200"/>
            <a:ext cx="905400" cy="9720"/>
          </a:xfrm>
          <a:custGeom>
            <a:avLst/>
            <a:gdLst/>
            <a:ahLst/>
            <a:rect l="0" t="0" r="r" b="b"/>
            <a:pathLst>
              <a:path w="2515" h="27">
                <a:moveTo>
                  <a:pt x="0" y="0"/>
                </a:moveTo>
                <a:lnTo>
                  <a:pt x="2515" y="0"/>
                </a:lnTo>
                <a:lnTo>
                  <a:pt x="25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652428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5713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571320" y="3933720"/>
            <a:ext cx="2438640" cy="9720"/>
          </a:xfrm>
          <a:custGeom>
            <a:avLst/>
            <a:gdLst/>
            <a:ahLst/>
            <a:rect l="0" t="0" r="r" b="b"/>
            <a:pathLst>
              <a:path w="6774" h="27">
                <a:moveTo>
                  <a:pt x="0" y="0"/>
                </a:moveTo>
                <a:lnTo>
                  <a:pt x="6774" y="0"/>
                </a:lnTo>
                <a:lnTo>
                  <a:pt x="67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300024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3009600" y="3933720"/>
            <a:ext cx="1448280" cy="9720"/>
          </a:xfrm>
          <a:custGeom>
            <a:avLst/>
            <a:gdLst/>
            <a:ahLst/>
            <a:rect l="0" t="0" r="r" b="b"/>
            <a:pathLst>
              <a:path w="4023" h="27">
                <a:moveTo>
                  <a:pt x="0" y="0"/>
                </a:moveTo>
                <a:lnTo>
                  <a:pt x="4023" y="0"/>
                </a:lnTo>
                <a:lnTo>
                  <a:pt x="40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444816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4457520" y="3933720"/>
            <a:ext cx="1171800" cy="9720"/>
          </a:xfrm>
          <a:custGeom>
            <a:avLst/>
            <a:gdLst/>
            <a:ahLst/>
            <a:rect l="0" t="0" r="r" b="b"/>
            <a:pathLst>
              <a:path w="3255" h="27">
                <a:moveTo>
                  <a:pt x="0" y="0"/>
                </a:moveTo>
                <a:lnTo>
                  <a:pt x="3255" y="0"/>
                </a:lnTo>
                <a:lnTo>
                  <a:pt x="32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561960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5628960" y="3933720"/>
            <a:ext cx="905400" cy="9720"/>
          </a:xfrm>
          <a:custGeom>
            <a:avLst/>
            <a:gdLst/>
            <a:ahLst/>
            <a:rect l="0" t="0" r="r" b="b"/>
            <a:pathLst>
              <a:path w="2515" h="27">
                <a:moveTo>
                  <a:pt x="0" y="0"/>
                </a:moveTo>
                <a:lnTo>
                  <a:pt x="2515" y="0"/>
                </a:lnTo>
                <a:lnTo>
                  <a:pt x="25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652428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571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571320" y="4305240"/>
            <a:ext cx="2438640" cy="9720"/>
          </a:xfrm>
          <a:custGeom>
            <a:avLst/>
            <a:gdLst/>
            <a:ahLst/>
            <a:rect l="0" t="0" r="r" b="b"/>
            <a:pathLst>
              <a:path w="6774" h="27">
                <a:moveTo>
                  <a:pt x="0" y="0"/>
                </a:moveTo>
                <a:lnTo>
                  <a:pt x="6774" y="0"/>
                </a:lnTo>
                <a:lnTo>
                  <a:pt x="67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300024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3009600" y="4305240"/>
            <a:ext cx="1448280" cy="9720"/>
          </a:xfrm>
          <a:custGeom>
            <a:avLst/>
            <a:gdLst/>
            <a:ahLst/>
            <a:rect l="0" t="0" r="r" b="b"/>
            <a:pathLst>
              <a:path w="4023" h="27">
                <a:moveTo>
                  <a:pt x="0" y="0"/>
                </a:moveTo>
                <a:lnTo>
                  <a:pt x="4023" y="0"/>
                </a:lnTo>
                <a:lnTo>
                  <a:pt x="40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444816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4457520" y="4305240"/>
            <a:ext cx="1171800" cy="9720"/>
          </a:xfrm>
          <a:custGeom>
            <a:avLst/>
            <a:gdLst/>
            <a:ahLst/>
            <a:rect l="0" t="0" r="r" b="b"/>
            <a:pathLst>
              <a:path w="3255" h="27">
                <a:moveTo>
                  <a:pt x="0" y="0"/>
                </a:moveTo>
                <a:lnTo>
                  <a:pt x="3255" y="0"/>
                </a:lnTo>
                <a:lnTo>
                  <a:pt x="32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561960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5628960" y="4305240"/>
            <a:ext cx="905400" cy="9720"/>
          </a:xfrm>
          <a:custGeom>
            <a:avLst/>
            <a:gdLst/>
            <a:ahLst/>
            <a:rect l="0" t="0" r="r" b="b"/>
            <a:pathLst>
              <a:path w="2515" h="27">
                <a:moveTo>
                  <a:pt x="0" y="0"/>
                </a:moveTo>
                <a:lnTo>
                  <a:pt x="2515" y="0"/>
                </a:lnTo>
                <a:lnTo>
                  <a:pt x="25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652428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57132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571320" y="4676760"/>
            <a:ext cx="2438640" cy="9720"/>
          </a:xfrm>
          <a:custGeom>
            <a:avLst/>
            <a:gdLst/>
            <a:ahLst/>
            <a:rect l="0" t="0" r="r" b="b"/>
            <a:pathLst>
              <a:path w="6774" h="27">
                <a:moveTo>
                  <a:pt x="0" y="0"/>
                </a:moveTo>
                <a:lnTo>
                  <a:pt x="6774" y="0"/>
                </a:lnTo>
                <a:lnTo>
                  <a:pt x="67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300024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3009600" y="4676760"/>
            <a:ext cx="1448280" cy="9720"/>
          </a:xfrm>
          <a:custGeom>
            <a:avLst/>
            <a:gdLst/>
            <a:ahLst/>
            <a:rect l="0" t="0" r="r" b="b"/>
            <a:pathLst>
              <a:path w="4023" h="27">
                <a:moveTo>
                  <a:pt x="0" y="0"/>
                </a:moveTo>
                <a:lnTo>
                  <a:pt x="4023" y="0"/>
                </a:lnTo>
                <a:lnTo>
                  <a:pt x="40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444816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4457520" y="4676760"/>
            <a:ext cx="1171800" cy="9720"/>
          </a:xfrm>
          <a:custGeom>
            <a:avLst/>
            <a:gdLst/>
            <a:ahLst/>
            <a:rect l="0" t="0" r="r" b="b"/>
            <a:pathLst>
              <a:path w="3255" h="27">
                <a:moveTo>
                  <a:pt x="0" y="0"/>
                </a:moveTo>
                <a:lnTo>
                  <a:pt x="3255" y="0"/>
                </a:lnTo>
                <a:lnTo>
                  <a:pt x="32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561960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5628960" y="4676760"/>
            <a:ext cx="905400" cy="9720"/>
          </a:xfrm>
          <a:custGeom>
            <a:avLst/>
            <a:gdLst/>
            <a:ahLst/>
            <a:rect l="0" t="0" r="r" b="b"/>
            <a:pathLst>
              <a:path w="2515" h="27">
                <a:moveTo>
                  <a:pt x="0" y="0"/>
                </a:moveTo>
                <a:lnTo>
                  <a:pt x="2515" y="0"/>
                </a:lnTo>
                <a:lnTo>
                  <a:pt x="25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6524280" y="4686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571320" y="5047920"/>
            <a:ext cx="2438640" cy="10080"/>
          </a:xfrm>
          <a:custGeom>
            <a:avLst/>
            <a:gdLst/>
            <a:ahLst/>
            <a:rect l="0" t="0" r="r" b="b"/>
            <a:pathLst>
              <a:path w="6774" h="28">
                <a:moveTo>
                  <a:pt x="0" y="0"/>
                </a:moveTo>
                <a:lnTo>
                  <a:pt x="6774" y="0"/>
                </a:lnTo>
                <a:lnTo>
                  <a:pt x="677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3009600" y="5047920"/>
            <a:ext cx="1448280" cy="10080"/>
          </a:xfrm>
          <a:custGeom>
            <a:avLst/>
            <a:gdLst/>
            <a:ahLst/>
            <a:rect l="0" t="0" r="r" b="b"/>
            <a:pathLst>
              <a:path w="4023" h="28">
                <a:moveTo>
                  <a:pt x="0" y="0"/>
                </a:moveTo>
                <a:lnTo>
                  <a:pt x="4023" y="0"/>
                </a:lnTo>
                <a:lnTo>
                  <a:pt x="40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4457520" y="5047920"/>
            <a:ext cx="1171800" cy="10080"/>
          </a:xfrm>
          <a:custGeom>
            <a:avLst/>
            <a:gdLst/>
            <a:ahLst/>
            <a:rect l="0" t="0" r="r" b="b"/>
            <a:pathLst>
              <a:path w="3255" h="28">
                <a:moveTo>
                  <a:pt x="0" y="0"/>
                </a:moveTo>
                <a:lnTo>
                  <a:pt x="3255" y="0"/>
                </a:lnTo>
                <a:lnTo>
                  <a:pt x="32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5628960" y="5047920"/>
            <a:ext cx="905400" cy="10080"/>
          </a:xfrm>
          <a:custGeom>
            <a:avLst/>
            <a:gdLst/>
            <a:ahLst/>
            <a:rect l="0" t="0" r="r" b="b"/>
            <a:pathLst>
              <a:path w="2515" h="28">
                <a:moveTo>
                  <a:pt x="0" y="0"/>
                </a:moveTo>
                <a:lnTo>
                  <a:pt x="2515" y="0"/>
                </a:lnTo>
                <a:lnTo>
                  <a:pt x="25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571320" y="1487880"/>
            <a:ext cx="22928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能耗预估（⽉度）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704880" y="213300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3129480" y="2133000"/>
            <a:ext cx="864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功率</a:t>
            </a:r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⽤量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4585320" y="2133000"/>
            <a:ext cx="631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⽉ </a:t>
            </a:r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kWh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5753880" y="213300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704880" y="2504160"/>
            <a:ext cx="2349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照明（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2700K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吊灯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灯带）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3129480" y="2504160"/>
            <a:ext cx="1091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~200 W × 14h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4585320" y="2504160"/>
            <a:ext cx="20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5753880" y="2504160"/>
            <a:ext cx="20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704880" y="2885400"/>
            <a:ext cx="1499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空调（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VRV 5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匹）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3129480" y="2885400"/>
            <a:ext cx="1194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~3500 W × 10h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4585320" y="2885400"/>
            <a:ext cx="376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1050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5753880" y="2885400"/>
            <a:ext cx="421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704880" y="3256920"/>
            <a:ext cx="1648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咖啡机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La Marzocco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3129480" y="3256920"/>
            <a:ext cx="977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~3 kW × 14h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4585320" y="3256920"/>
            <a:ext cx="376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1260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5753880" y="3256920"/>
            <a:ext cx="421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1,200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704880" y="3628440"/>
            <a:ext cx="709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冷柜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×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3129480" y="3628440"/>
            <a:ext cx="1125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~500 W × 24h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4585320" y="3628440"/>
            <a:ext cx="307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360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5753880" y="3628440"/>
            <a:ext cx="307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340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704880" y="3999600"/>
            <a:ext cx="1337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后厨设备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电热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3129480" y="3999600"/>
            <a:ext cx="874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~1 kW × 8h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4585320" y="3999600"/>
            <a:ext cx="307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240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5753880" y="3999600"/>
            <a:ext cx="307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230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704880" y="4371120"/>
            <a:ext cx="2011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其他（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POS/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⾳响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/wiﬁ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3129480" y="437112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4585320" y="4371120"/>
            <a:ext cx="20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5753880" y="4371120"/>
            <a:ext cx="20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704880" y="47426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合计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4585320" y="4742640"/>
            <a:ext cx="907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~3040 kWh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5753880" y="4742640"/>
            <a:ext cx="645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~¥2,900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285840" y="6409440"/>
            <a:ext cx="371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店⻓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运营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580680" y="2076120"/>
            <a:ext cx="2229480" cy="371880"/>
          </a:xfrm>
          <a:custGeom>
            <a:avLst/>
            <a:gdLst/>
            <a:ahLst/>
            <a:rect l="0" t="0" r="r" b="b"/>
            <a:pathLst>
              <a:path w="6193" h="1033">
                <a:moveTo>
                  <a:pt x="0" y="0"/>
                </a:moveTo>
                <a:lnTo>
                  <a:pt x="6193" y="0"/>
                </a:lnTo>
                <a:lnTo>
                  <a:pt x="619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2809800" y="2076120"/>
            <a:ext cx="2534040" cy="371880"/>
          </a:xfrm>
          <a:custGeom>
            <a:avLst/>
            <a:gdLst/>
            <a:ahLst/>
            <a:rect l="0" t="0" r="r" b="b"/>
            <a:pathLst>
              <a:path w="7039" h="1033">
                <a:moveTo>
                  <a:pt x="0" y="0"/>
                </a:moveTo>
                <a:lnTo>
                  <a:pt x="7039" y="0"/>
                </a:lnTo>
                <a:lnTo>
                  <a:pt x="703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5343480" y="2076120"/>
            <a:ext cx="1657440" cy="371880"/>
          </a:xfrm>
          <a:custGeom>
            <a:avLst/>
            <a:gdLst/>
            <a:ahLst/>
            <a:rect l="0" t="0" r="r" b="b"/>
            <a:pathLst>
              <a:path w="4604" h="1033">
                <a:moveTo>
                  <a:pt x="0" y="0"/>
                </a:moveTo>
                <a:lnTo>
                  <a:pt x="4604" y="0"/>
                </a:lnTo>
                <a:lnTo>
                  <a:pt x="460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580680" y="2076120"/>
            <a:ext cx="2229480" cy="371880"/>
          </a:xfrm>
          <a:custGeom>
            <a:avLst/>
            <a:gdLst/>
            <a:ahLst/>
            <a:rect l="0" t="0" r="r" b="b"/>
            <a:pathLst>
              <a:path w="6193" h="1033">
                <a:moveTo>
                  <a:pt x="0" y="0"/>
                </a:moveTo>
                <a:lnTo>
                  <a:pt x="6193" y="0"/>
                </a:lnTo>
                <a:lnTo>
                  <a:pt x="619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2809800" y="2076120"/>
            <a:ext cx="2534040" cy="371880"/>
          </a:xfrm>
          <a:custGeom>
            <a:avLst/>
            <a:gdLst/>
            <a:ahLst/>
            <a:rect l="0" t="0" r="r" b="b"/>
            <a:pathLst>
              <a:path w="7039" h="1033">
                <a:moveTo>
                  <a:pt x="0" y="0"/>
                </a:moveTo>
                <a:lnTo>
                  <a:pt x="7039" y="0"/>
                </a:lnTo>
                <a:lnTo>
                  <a:pt x="703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5343480" y="2076120"/>
            <a:ext cx="1657440" cy="371880"/>
          </a:xfrm>
          <a:custGeom>
            <a:avLst/>
            <a:gdLst/>
            <a:ahLst/>
            <a:rect l="0" t="0" r="r" b="b"/>
            <a:pathLst>
              <a:path w="4604" h="1033">
                <a:moveTo>
                  <a:pt x="0" y="0"/>
                </a:moveTo>
                <a:lnTo>
                  <a:pt x="4604" y="0"/>
                </a:lnTo>
                <a:lnTo>
                  <a:pt x="460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580680" y="2447640"/>
            <a:ext cx="2229480" cy="371880"/>
          </a:xfrm>
          <a:custGeom>
            <a:avLst/>
            <a:gdLst/>
            <a:ahLst/>
            <a:rect l="0" t="0" r="r" b="b"/>
            <a:pathLst>
              <a:path w="6193" h="1033">
                <a:moveTo>
                  <a:pt x="0" y="0"/>
                </a:moveTo>
                <a:lnTo>
                  <a:pt x="6193" y="0"/>
                </a:lnTo>
                <a:lnTo>
                  <a:pt x="619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2809800" y="2447640"/>
            <a:ext cx="2534040" cy="371880"/>
          </a:xfrm>
          <a:custGeom>
            <a:avLst/>
            <a:gdLst/>
            <a:ahLst/>
            <a:rect l="0" t="0" r="r" b="b"/>
            <a:pathLst>
              <a:path w="7039" h="1033">
                <a:moveTo>
                  <a:pt x="0" y="0"/>
                </a:moveTo>
                <a:lnTo>
                  <a:pt x="7039" y="0"/>
                </a:lnTo>
                <a:lnTo>
                  <a:pt x="703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5343480" y="2447640"/>
            <a:ext cx="1657440" cy="371880"/>
          </a:xfrm>
          <a:custGeom>
            <a:avLst/>
            <a:gdLst/>
            <a:ahLst/>
            <a:rect l="0" t="0" r="r" b="b"/>
            <a:pathLst>
              <a:path w="4604" h="1033">
                <a:moveTo>
                  <a:pt x="0" y="0"/>
                </a:moveTo>
                <a:lnTo>
                  <a:pt x="4604" y="0"/>
                </a:lnTo>
                <a:lnTo>
                  <a:pt x="460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580680" y="2819160"/>
            <a:ext cx="2229480" cy="371880"/>
          </a:xfrm>
          <a:custGeom>
            <a:avLst/>
            <a:gdLst/>
            <a:ahLst/>
            <a:rect l="0" t="0" r="r" b="b"/>
            <a:pathLst>
              <a:path w="6193" h="1033">
                <a:moveTo>
                  <a:pt x="0" y="0"/>
                </a:moveTo>
                <a:lnTo>
                  <a:pt x="6193" y="0"/>
                </a:lnTo>
                <a:lnTo>
                  <a:pt x="619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2809800" y="2819160"/>
            <a:ext cx="2534040" cy="371880"/>
          </a:xfrm>
          <a:custGeom>
            <a:avLst/>
            <a:gdLst/>
            <a:ahLst/>
            <a:rect l="0" t="0" r="r" b="b"/>
            <a:pathLst>
              <a:path w="7039" h="1033">
                <a:moveTo>
                  <a:pt x="0" y="0"/>
                </a:moveTo>
                <a:lnTo>
                  <a:pt x="7039" y="0"/>
                </a:lnTo>
                <a:lnTo>
                  <a:pt x="703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5343480" y="2819160"/>
            <a:ext cx="1657440" cy="371880"/>
          </a:xfrm>
          <a:custGeom>
            <a:avLst/>
            <a:gdLst/>
            <a:ahLst/>
            <a:rect l="0" t="0" r="r" b="b"/>
            <a:pathLst>
              <a:path w="4604" h="1033">
                <a:moveTo>
                  <a:pt x="0" y="0"/>
                </a:moveTo>
                <a:lnTo>
                  <a:pt x="4604" y="0"/>
                </a:lnTo>
                <a:lnTo>
                  <a:pt x="460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580680" y="3190680"/>
            <a:ext cx="2229480" cy="371880"/>
          </a:xfrm>
          <a:custGeom>
            <a:avLst/>
            <a:gdLst/>
            <a:ahLst/>
            <a:rect l="0" t="0" r="r" b="b"/>
            <a:pathLst>
              <a:path w="6193" h="1033">
                <a:moveTo>
                  <a:pt x="0" y="0"/>
                </a:moveTo>
                <a:lnTo>
                  <a:pt x="6193" y="0"/>
                </a:lnTo>
                <a:lnTo>
                  <a:pt x="619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2809800" y="3190680"/>
            <a:ext cx="2534040" cy="371880"/>
          </a:xfrm>
          <a:custGeom>
            <a:avLst/>
            <a:gdLst/>
            <a:ahLst/>
            <a:rect l="0" t="0" r="r" b="b"/>
            <a:pathLst>
              <a:path w="7039" h="1033">
                <a:moveTo>
                  <a:pt x="0" y="0"/>
                </a:moveTo>
                <a:lnTo>
                  <a:pt x="7039" y="0"/>
                </a:lnTo>
                <a:lnTo>
                  <a:pt x="703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5343480" y="3190680"/>
            <a:ext cx="1657440" cy="371880"/>
          </a:xfrm>
          <a:custGeom>
            <a:avLst/>
            <a:gdLst/>
            <a:ahLst/>
            <a:rect l="0" t="0" r="r" b="b"/>
            <a:pathLst>
              <a:path w="4604" h="1033">
                <a:moveTo>
                  <a:pt x="0" y="0"/>
                </a:moveTo>
                <a:lnTo>
                  <a:pt x="4604" y="0"/>
                </a:lnTo>
                <a:lnTo>
                  <a:pt x="460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580680" y="3562200"/>
            <a:ext cx="2229480" cy="371880"/>
          </a:xfrm>
          <a:custGeom>
            <a:avLst/>
            <a:gdLst/>
            <a:ahLst/>
            <a:rect l="0" t="0" r="r" b="b"/>
            <a:pathLst>
              <a:path w="6193" h="1033">
                <a:moveTo>
                  <a:pt x="0" y="0"/>
                </a:moveTo>
                <a:lnTo>
                  <a:pt x="6193" y="0"/>
                </a:lnTo>
                <a:lnTo>
                  <a:pt x="619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2809800" y="3562200"/>
            <a:ext cx="2534040" cy="371880"/>
          </a:xfrm>
          <a:custGeom>
            <a:avLst/>
            <a:gdLst/>
            <a:ahLst/>
            <a:rect l="0" t="0" r="r" b="b"/>
            <a:pathLst>
              <a:path w="7039" h="1033">
                <a:moveTo>
                  <a:pt x="0" y="0"/>
                </a:moveTo>
                <a:lnTo>
                  <a:pt x="7039" y="0"/>
                </a:lnTo>
                <a:lnTo>
                  <a:pt x="703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/>
          <p:nvPr/>
        </p:nvSpPr>
        <p:spPr>
          <a:xfrm>
            <a:off x="5343480" y="3562200"/>
            <a:ext cx="1657440" cy="371880"/>
          </a:xfrm>
          <a:custGeom>
            <a:avLst/>
            <a:gdLst/>
            <a:ahLst/>
            <a:rect l="0" t="0" r="r" b="b"/>
            <a:pathLst>
              <a:path w="4604" h="1033">
                <a:moveTo>
                  <a:pt x="0" y="0"/>
                </a:moveTo>
                <a:lnTo>
                  <a:pt x="4604" y="0"/>
                </a:lnTo>
                <a:lnTo>
                  <a:pt x="460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580680" y="3933720"/>
            <a:ext cx="2229480" cy="371880"/>
          </a:xfrm>
          <a:custGeom>
            <a:avLst/>
            <a:gdLst/>
            <a:ahLst/>
            <a:rect l="0" t="0" r="r" b="b"/>
            <a:pathLst>
              <a:path w="6193" h="1033">
                <a:moveTo>
                  <a:pt x="0" y="0"/>
                </a:moveTo>
                <a:lnTo>
                  <a:pt x="6193" y="0"/>
                </a:lnTo>
                <a:lnTo>
                  <a:pt x="619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2809800" y="3933720"/>
            <a:ext cx="2534040" cy="371880"/>
          </a:xfrm>
          <a:custGeom>
            <a:avLst/>
            <a:gdLst/>
            <a:ahLst/>
            <a:rect l="0" t="0" r="r" b="b"/>
            <a:pathLst>
              <a:path w="7039" h="1033">
                <a:moveTo>
                  <a:pt x="0" y="0"/>
                </a:moveTo>
                <a:lnTo>
                  <a:pt x="7039" y="0"/>
                </a:lnTo>
                <a:lnTo>
                  <a:pt x="703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5343480" y="3933720"/>
            <a:ext cx="1657440" cy="371880"/>
          </a:xfrm>
          <a:custGeom>
            <a:avLst/>
            <a:gdLst/>
            <a:ahLst/>
            <a:rect l="0" t="0" r="r" b="b"/>
            <a:pathLst>
              <a:path w="4604" h="1033">
                <a:moveTo>
                  <a:pt x="0" y="0"/>
                </a:moveTo>
                <a:lnTo>
                  <a:pt x="4604" y="0"/>
                </a:lnTo>
                <a:lnTo>
                  <a:pt x="460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580680" y="4305240"/>
            <a:ext cx="2229480" cy="381240"/>
          </a:xfrm>
          <a:custGeom>
            <a:avLst/>
            <a:gdLst/>
            <a:ahLst/>
            <a:rect l="0" t="0" r="r" b="b"/>
            <a:pathLst>
              <a:path w="6193" h="1059">
                <a:moveTo>
                  <a:pt x="0" y="0"/>
                </a:moveTo>
                <a:lnTo>
                  <a:pt x="6193" y="0"/>
                </a:lnTo>
                <a:lnTo>
                  <a:pt x="619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2809800" y="4305240"/>
            <a:ext cx="2534040" cy="381240"/>
          </a:xfrm>
          <a:custGeom>
            <a:avLst/>
            <a:gdLst/>
            <a:ahLst/>
            <a:rect l="0" t="0" r="r" b="b"/>
            <a:pathLst>
              <a:path w="7039" h="1059">
                <a:moveTo>
                  <a:pt x="0" y="0"/>
                </a:moveTo>
                <a:lnTo>
                  <a:pt x="7039" y="0"/>
                </a:lnTo>
                <a:lnTo>
                  <a:pt x="703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5343480" y="4305240"/>
            <a:ext cx="1657440" cy="381240"/>
          </a:xfrm>
          <a:custGeom>
            <a:avLst/>
            <a:gdLst/>
            <a:ahLst/>
            <a:rect l="0" t="0" r="r" b="b"/>
            <a:pathLst>
              <a:path w="4604" h="1059">
                <a:moveTo>
                  <a:pt x="0" y="0"/>
                </a:moveTo>
                <a:lnTo>
                  <a:pt x="4604" y="0"/>
                </a:lnTo>
                <a:lnTo>
                  <a:pt x="460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580680" y="4686120"/>
            <a:ext cx="2229480" cy="371880"/>
          </a:xfrm>
          <a:custGeom>
            <a:avLst/>
            <a:gdLst/>
            <a:ahLst/>
            <a:rect l="0" t="0" r="r" b="b"/>
            <a:pathLst>
              <a:path w="6193" h="1033">
                <a:moveTo>
                  <a:pt x="0" y="0"/>
                </a:moveTo>
                <a:lnTo>
                  <a:pt x="6193" y="0"/>
                </a:lnTo>
                <a:lnTo>
                  <a:pt x="619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2809800" y="4686120"/>
            <a:ext cx="2534040" cy="371880"/>
          </a:xfrm>
          <a:custGeom>
            <a:avLst/>
            <a:gdLst/>
            <a:ahLst/>
            <a:rect l="0" t="0" r="r" b="b"/>
            <a:pathLst>
              <a:path w="7039" h="1033">
                <a:moveTo>
                  <a:pt x="0" y="0"/>
                </a:moveTo>
                <a:lnTo>
                  <a:pt x="7039" y="0"/>
                </a:lnTo>
                <a:lnTo>
                  <a:pt x="703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5343480" y="4686120"/>
            <a:ext cx="1657440" cy="371880"/>
          </a:xfrm>
          <a:custGeom>
            <a:avLst/>
            <a:gdLst/>
            <a:ahLst/>
            <a:rect l="0" t="0" r="r" b="b"/>
            <a:pathLst>
              <a:path w="4604" h="1033">
                <a:moveTo>
                  <a:pt x="0" y="0"/>
                </a:moveTo>
                <a:lnTo>
                  <a:pt x="4604" y="0"/>
                </a:lnTo>
                <a:lnTo>
                  <a:pt x="460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571320" y="2066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571320" y="2066760"/>
            <a:ext cx="2238840" cy="9720"/>
          </a:xfrm>
          <a:custGeom>
            <a:avLst/>
            <a:gdLst/>
            <a:ahLst/>
            <a:rect l="0" t="0" r="r" b="b"/>
            <a:pathLst>
              <a:path w="6219" h="27">
                <a:moveTo>
                  <a:pt x="0" y="0"/>
                </a:moveTo>
                <a:lnTo>
                  <a:pt x="6219" y="0"/>
                </a:lnTo>
                <a:lnTo>
                  <a:pt x="62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2800080" y="20667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2809800" y="2066760"/>
            <a:ext cx="2534040" cy="9720"/>
          </a:xfrm>
          <a:custGeom>
            <a:avLst/>
            <a:gdLst/>
            <a:ahLst/>
            <a:rect l="0" t="0" r="r" b="b"/>
            <a:pathLst>
              <a:path w="7039" h="27">
                <a:moveTo>
                  <a:pt x="0" y="0"/>
                </a:moveTo>
                <a:lnTo>
                  <a:pt x="7039" y="0"/>
                </a:lnTo>
                <a:lnTo>
                  <a:pt x="7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5333760" y="20667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5343480" y="2066760"/>
            <a:ext cx="1657440" cy="9720"/>
          </a:xfrm>
          <a:custGeom>
            <a:avLst/>
            <a:gdLst/>
            <a:ahLst/>
            <a:rect l="0" t="0" r="r" b="b"/>
            <a:pathLst>
              <a:path w="4604" h="27">
                <a:moveTo>
                  <a:pt x="0" y="0"/>
                </a:moveTo>
                <a:lnTo>
                  <a:pt x="4604" y="0"/>
                </a:lnTo>
                <a:lnTo>
                  <a:pt x="46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6991200" y="2066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571320" y="2438280"/>
            <a:ext cx="2238840" cy="9720"/>
          </a:xfrm>
          <a:custGeom>
            <a:avLst/>
            <a:gdLst/>
            <a:ahLst/>
            <a:rect l="0" t="0" r="r" b="b"/>
            <a:pathLst>
              <a:path w="6219" h="27">
                <a:moveTo>
                  <a:pt x="0" y="0"/>
                </a:moveTo>
                <a:lnTo>
                  <a:pt x="6219" y="0"/>
                </a:lnTo>
                <a:lnTo>
                  <a:pt x="62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2809800" y="2438280"/>
            <a:ext cx="2534040" cy="9720"/>
          </a:xfrm>
          <a:custGeom>
            <a:avLst/>
            <a:gdLst/>
            <a:ahLst/>
            <a:rect l="0" t="0" r="r" b="b"/>
            <a:pathLst>
              <a:path w="7039" h="27">
                <a:moveTo>
                  <a:pt x="0" y="0"/>
                </a:moveTo>
                <a:lnTo>
                  <a:pt x="7039" y="0"/>
                </a:lnTo>
                <a:lnTo>
                  <a:pt x="7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5343480" y="2438280"/>
            <a:ext cx="1657440" cy="9720"/>
          </a:xfrm>
          <a:custGeom>
            <a:avLst/>
            <a:gdLst/>
            <a:ahLst/>
            <a:rect l="0" t="0" r="r" b="b"/>
            <a:pathLst>
              <a:path w="4604" h="27">
                <a:moveTo>
                  <a:pt x="0" y="0"/>
                </a:moveTo>
                <a:lnTo>
                  <a:pt x="4604" y="0"/>
                </a:lnTo>
                <a:lnTo>
                  <a:pt x="46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57132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2800080" y="24476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5333760" y="24476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699120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5713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571320" y="2819160"/>
            <a:ext cx="2238840" cy="10080"/>
          </a:xfrm>
          <a:custGeom>
            <a:avLst/>
            <a:gdLst/>
            <a:ahLst/>
            <a:rect l="0" t="0" r="r" b="b"/>
            <a:pathLst>
              <a:path w="6219" h="28">
                <a:moveTo>
                  <a:pt x="0" y="0"/>
                </a:moveTo>
                <a:lnTo>
                  <a:pt x="6219" y="0"/>
                </a:lnTo>
                <a:lnTo>
                  <a:pt x="62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280008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2809800" y="2819160"/>
            <a:ext cx="2534040" cy="10080"/>
          </a:xfrm>
          <a:custGeom>
            <a:avLst/>
            <a:gdLst/>
            <a:ahLst/>
            <a:rect l="0" t="0" r="r" b="b"/>
            <a:pathLst>
              <a:path w="7039" h="28">
                <a:moveTo>
                  <a:pt x="0" y="0"/>
                </a:moveTo>
                <a:lnTo>
                  <a:pt x="7039" y="0"/>
                </a:lnTo>
                <a:lnTo>
                  <a:pt x="70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533376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5343480" y="2819160"/>
            <a:ext cx="1657440" cy="10080"/>
          </a:xfrm>
          <a:custGeom>
            <a:avLst/>
            <a:gdLst/>
            <a:ahLst/>
            <a:rect l="0" t="0" r="r" b="b"/>
            <a:pathLst>
              <a:path w="4604" h="28">
                <a:moveTo>
                  <a:pt x="0" y="0"/>
                </a:moveTo>
                <a:lnTo>
                  <a:pt x="4604" y="0"/>
                </a:lnTo>
                <a:lnTo>
                  <a:pt x="46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699120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5713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571320" y="3190680"/>
            <a:ext cx="2238840" cy="9720"/>
          </a:xfrm>
          <a:custGeom>
            <a:avLst/>
            <a:gdLst/>
            <a:ahLst/>
            <a:rect l="0" t="0" r="r" b="b"/>
            <a:pathLst>
              <a:path w="6219" h="27">
                <a:moveTo>
                  <a:pt x="0" y="0"/>
                </a:moveTo>
                <a:lnTo>
                  <a:pt x="6219" y="0"/>
                </a:lnTo>
                <a:lnTo>
                  <a:pt x="62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/>
          <p:nvPr/>
        </p:nvSpPr>
        <p:spPr>
          <a:xfrm>
            <a:off x="280008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2809800" y="3190680"/>
            <a:ext cx="2534040" cy="9720"/>
          </a:xfrm>
          <a:custGeom>
            <a:avLst/>
            <a:gdLst/>
            <a:ahLst/>
            <a:rect l="0" t="0" r="r" b="b"/>
            <a:pathLst>
              <a:path w="7039" h="27">
                <a:moveTo>
                  <a:pt x="0" y="0"/>
                </a:moveTo>
                <a:lnTo>
                  <a:pt x="7039" y="0"/>
                </a:lnTo>
                <a:lnTo>
                  <a:pt x="7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533376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/>
          <p:nvPr/>
        </p:nvSpPr>
        <p:spPr>
          <a:xfrm>
            <a:off x="5343480" y="3190680"/>
            <a:ext cx="1657440" cy="9720"/>
          </a:xfrm>
          <a:custGeom>
            <a:avLst/>
            <a:gdLst/>
            <a:ahLst/>
            <a:rect l="0" t="0" r="r" b="b"/>
            <a:pathLst>
              <a:path w="4604" h="27">
                <a:moveTo>
                  <a:pt x="0" y="0"/>
                </a:moveTo>
                <a:lnTo>
                  <a:pt x="4604" y="0"/>
                </a:lnTo>
                <a:lnTo>
                  <a:pt x="46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699120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5713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571320" y="3562200"/>
            <a:ext cx="2238840" cy="9720"/>
          </a:xfrm>
          <a:custGeom>
            <a:avLst/>
            <a:gdLst/>
            <a:ahLst/>
            <a:rect l="0" t="0" r="r" b="b"/>
            <a:pathLst>
              <a:path w="6219" h="27">
                <a:moveTo>
                  <a:pt x="0" y="0"/>
                </a:moveTo>
                <a:lnTo>
                  <a:pt x="6219" y="0"/>
                </a:lnTo>
                <a:lnTo>
                  <a:pt x="62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>
            <a:off x="280008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2809800" y="3562200"/>
            <a:ext cx="2534040" cy="9720"/>
          </a:xfrm>
          <a:custGeom>
            <a:avLst/>
            <a:gdLst/>
            <a:ahLst/>
            <a:rect l="0" t="0" r="r" b="b"/>
            <a:pathLst>
              <a:path w="7039" h="27">
                <a:moveTo>
                  <a:pt x="0" y="0"/>
                </a:moveTo>
                <a:lnTo>
                  <a:pt x="7039" y="0"/>
                </a:lnTo>
                <a:lnTo>
                  <a:pt x="7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533376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5343480" y="3562200"/>
            <a:ext cx="1657440" cy="9720"/>
          </a:xfrm>
          <a:custGeom>
            <a:avLst/>
            <a:gdLst/>
            <a:ahLst/>
            <a:rect l="0" t="0" r="r" b="b"/>
            <a:pathLst>
              <a:path w="4604" h="27">
                <a:moveTo>
                  <a:pt x="0" y="0"/>
                </a:moveTo>
                <a:lnTo>
                  <a:pt x="4604" y="0"/>
                </a:lnTo>
                <a:lnTo>
                  <a:pt x="46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699120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5713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571320" y="3933720"/>
            <a:ext cx="2238840" cy="9720"/>
          </a:xfrm>
          <a:custGeom>
            <a:avLst/>
            <a:gdLst/>
            <a:ahLst/>
            <a:rect l="0" t="0" r="r" b="b"/>
            <a:pathLst>
              <a:path w="6219" h="27">
                <a:moveTo>
                  <a:pt x="0" y="0"/>
                </a:moveTo>
                <a:lnTo>
                  <a:pt x="6219" y="0"/>
                </a:lnTo>
                <a:lnTo>
                  <a:pt x="62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280008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/>
          <p:nvPr/>
        </p:nvSpPr>
        <p:spPr>
          <a:xfrm>
            <a:off x="2809800" y="3933720"/>
            <a:ext cx="2534040" cy="9720"/>
          </a:xfrm>
          <a:custGeom>
            <a:avLst/>
            <a:gdLst/>
            <a:ahLst/>
            <a:rect l="0" t="0" r="r" b="b"/>
            <a:pathLst>
              <a:path w="7039" h="27">
                <a:moveTo>
                  <a:pt x="0" y="0"/>
                </a:moveTo>
                <a:lnTo>
                  <a:pt x="7039" y="0"/>
                </a:lnTo>
                <a:lnTo>
                  <a:pt x="7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533376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5343480" y="3933720"/>
            <a:ext cx="1657440" cy="9720"/>
          </a:xfrm>
          <a:custGeom>
            <a:avLst/>
            <a:gdLst/>
            <a:ahLst/>
            <a:rect l="0" t="0" r="r" b="b"/>
            <a:pathLst>
              <a:path w="4604" h="27">
                <a:moveTo>
                  <a:pt x="0" y="0"/>
                </a:moveTo>
                <a:lnTo>
                  <a:pt x="4604" y="0"/>
                </a:lnTo>
                <a:lnTo>
                  <a:pt x="46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/>
          <p:nvPr/>
        </p:nvSpPr>
        <p:spPr>
          <a:xfrm>
            <a:off x="699120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571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571320" y="4305240"/>
            <a:ext cx="2238840" cy="9720"/>
          </a:xfrm>
          <a:custGeom>
            <a:avLst/>
            <a:gdLst/>
            <a:ahLst/>
            <a:rect l="0" t="0" r="r" b="b"/>
            <a:pathLst>
              <a:path w="6219" h="27">
                <a:moveTo>
                  <a:pt x="0" y="0"/>
                </a:moveTo>
                <a:lnTo>
                  <a:pt x="6219" y="0"/>
                </a:lnTo>
                <a:lnTo>
                  <a:pt x="62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/>
          <p:nvPr/>
        </p:nvSpPr>
        <p:spPr>
          <a:xfrm>
            <a:off x="280008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2809800" y="4305240"/>
            <a:ext cx="2534040" cy="9720"/>
          </a:xfrm>
          <a:custGeom>
            <a:avLst/>
            <a:gdLst/>
            <a:ahLst/>
            <a:rect l="0" t="0" r="r" b="b"/>
            <a:pathLst>
              <a:path w="7039" h="27">
                <a:moveTo>
                  <a:pt x="0" y="0"/>
                </a:moveTo>
                <a:lnTo>
                  <a:pt x="7039" y="0"/>
                </a:lnTo>
                <a:lnTo>
                  <a:pt x="7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533376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5343480" y="4305240"/>
            <a:ext cx="1657440" cy="9720"/>
          </a:xfrm>
          <a:custGeom>
            <a:avLst/>
            <a:gdLst/>
            <a:ahLst/>
            <a:rect l="0" t="0" r="r" b="b"/>
            <a:pathLst>
              <a:path w="4604" h="27">
                <a:moveTo>
                  <a:pt x="0" y="0"/>
                </a:moveTo>
                <a:lnTo>
                  <a:pt x="4604" y="0"/>
                </a:lnTo>
                <a:lnTo>
                  <a:pt x="46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699120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57132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571320" y="4676760"/>
            <a:ext cx="2238840" cy="9720"/>
          </a:xfrm>
          <a:custGeom>
            <a:avLst/>
            <a:gdLst/>
            <a:ahLst/>
            <a:rect l="0" t="0" r="r" b="b"/>
            <a:pathLst>
              <a:path w="6219" h="27">
                <a:moveTo>
                  <a:pt x="0" y="0"/>
                </a:moveTo>
                <a:lnTo>
                  <a:pt x="6219" y="0"/>
                </a:lnTo>
                <a:lnTo>
                  <a:pt x="62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2800080" y="4686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2809800" y="4676760"/>
            <a:ext cx="2534040" cy="9720"/>
          </a:xfrm>
          <a:custGeom>
            <a:avLst/>
            <a:gdLst/>
            <a:ahLst/>
            <a:rect l="0" t="0" r="r" b="b"/>
            <a:pathLst>
              <a:path w="7039" h="27">
                <a:moveTo>
                  <a:pt x="0" y="0"/>
                </a:moveTo>
                <a:lnTo>
                  <a:pt x="7039" y="0"/>
                </a:lnTo>
                <a:lnTo>
                  <a:pt x="7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5333760" y="4686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5343480" y="4676760"/>
            <a:ext cx="1657440" cy="9720"/>
          </a:xfrm>
          <a:custGeom>
            <a:avLst/>
            <a:gdLst/>
            <a:ahLst/>
            <a:rect l="0" t="0" r="r" b="b"/>
            <a:pathLst>
              <a:path w="4604" h="27">
                <a:moveTo>
                  <a:pt x="0" y="0"/>
                </a:moveTo>
                <a:lnTo>
                  <a:pt x="4604" y="0"/>
                </a:lnTo>
                <a:lnTo>
                  <a:pt x="46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699120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571320" y="5047920"/>
            <a:ext cx="2238840" cy="10080"/>
          </a:xfrm>
          <a:custGeom>
            <a:avLst/>
            <a:gdLst/>
            <a:ahLst/>
            <a:rect l="0" t="0" r="r" b="b"/>
            <a:pathLst>
              <a:path w="6219" h="28">
                <a:moveTo>
                  <a:pt x="0" y="0"/>
                </a:moveTo>
                <a:lnTo>
                  <a:pt x="6219" y="0"/>
                </a:lnTo>
                <a:lnTo>
                  <a:pt x="62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2809800" y="5047920"/>
            <a:ext cx="2534040" cy="10080"/>
          </a:xfrm>
          <a:custGeom>
            <a:avLst/>
            <a:gdLst/>
            <a:ahLst/>
            <a:rect l="0" t="0" r="r" b="b"/>
            <a:pathLst>
              <a:path w="7039" h="28">
                <a:moveTo>
                  <a:pt x="0" y="0"/>
                </a:moveTo>
                <a:lnTo>
                  <a:pt x="7039" y="0"/>
                </a:lnTo>
                <a:lnTo>
                  <a:pt x="70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5343480" y="5047920"/>
            <a:ext cx="1657440" cy="10080"/>
          </a:xfrm>
          <a:custGeom>
            <a:avLst/>
            <a:gdLst/>
            <a:ahLst/>
            <a:rect l="0" t="0" r="r" b="b"/>
            <a:pathLst>
              <a:path w="4604" h="28">
                <a:moveTo>
                  <a:pt x="0" y="0"/>
                </a:moveTo>
                <a:lnTo>
                  <a:pt x="4604" y="0"/>
                </a:lnTo>
                <a:lnTo>
                  <a:pt x="46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571320" y="1487880"/>
            <a:ext cx="31035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耗材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供应链（⽉度）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704880" y="21330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类⽬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2933640" y="213300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⽉⽤量估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5470920" y="213300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供应商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704880" y="250416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咖啡⾖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 txBox="1"/>
          <p:nvPr/>
        </p:nvSpPr>
        <p:spPr>
          <a:xfrm>
            <a:off x="2933640" y="2504160"/>
            <a:ext cx="2413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60 kg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120 × 4 × 30/1000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5470920" y="2504160"/>
            <a:ext cx="1294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主⾖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备⾖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704880" y="2885400"/>
            <a:ext cx="1679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奶（鲜奶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燕⻨奶）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2933640" y="2885400"/>
            <a:ext cx="431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150 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5470920" y="288540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本地⽇配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704880" y="3256920"/>
            <a:ext cx="121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糖浆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糖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配料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2933640" y="3256920"/>
            <a:ext cx="344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5470920" y="325692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⽉补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704880" y="3628440"/>
            <a:ext cx="138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纸杯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吸管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餐盒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 txBox="1"/>
          <p:nvPr/>
        </p:nvSpPr>
        <p:spPr>
          <a:xfrm>
            <a:off x="2933640" y="3628440"/>
            <a:ext cx="685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4000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个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5470920" y="3628440"/>
            <a:ext cx="1490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⽉补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可降解优先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704880" y="3999600"/>
            <a:ext cx="864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烘焙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轻⻝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 txBox="1"/>
          <p:nvPr/>
        </p:nvSpPr>
        <p:spPr>
          <a:xfrm>
            <a:off x="2933640" y="39996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⽇配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5470920" y="3999600"/>
            <a:ext cx="119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本地合作烘焙坊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704880" y="4371120"/>
            <a:ext cx="1148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清洁剂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纸⼱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2933640" y="4371120"/>
            <a:ext cx="344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 txBox="1"/>
          <p:nvPr/>
        </p:nvSpPr>
        <p:spPr>
          <a:xfrm>
            <a:off x="5470920" y="437112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⽉补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704880" y="4742640"/>
            <a:ext cx="2059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咖啡机耗材（净⽔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滤芯）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2933640" y="474264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季度换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5470920" y="474264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供应商合约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285840" y="6409440"/>
            <a:ext cx="371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店⻓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运营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580680" y="207612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2038320" y="2076120"/>
            <a:ext cx="2924280" cy="371880"/>
          </a:xfrm>
          <a:custGeom>
            <a:avLst/>
            <a:gdLst/>
            <a:ahLst/>
            <a:rect l="0" t="0" r="r" b="b"/>
            <a:pathLst>
              <a:path w="8123" h="1033">
                <a:moveTo>
                  <a:pt x="0" y="0"/>
                </a:moveTo>
                <a:lnTo>
                  <a:pt x="8123" y="0"/>
                </a:lnTo>
                <a:lnTo>
                  <a:pt x="812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580680" y="207612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2038320" y="2076120"/>
            <a:ext cx="2924280" cy="371880"/>
          </a:xfrm>
          <a:custGeom>
            <a:avLst/>
            <a:gdLst/>
            <a:ahLst/>
            <a:rect l="0" t="0" r="r" b="b"/>
            <a:pathLst>
              <a:path w="8123" h="1033">
                <a:moveTo>
                  <a:pt x="0" y="0"/>
                </a:moveTo>
                <a:lnTo>
                  <a:pt x="8123" y="0"/>
                </a:lnTo>
                <a:lnTo>
                  <a:pt x="812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580680" y="244764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2038320" y="2447640"/>
            <a:ext cx="2924280" cy="371880"/>
          </a:xfrm>
          <a:custGeom>
            <a:avLst/>
            <a:gdLst/>
            <a:ahLst/>
            <a:rect l="0" t="0" r="r" b="b"/>
            <a:pathLst>
              <a:path w="8123" h="1033">
                <a:moveTo>
                  <a:pt x="0" y="0"/>
                </a:moveTo>
                <a:lnTo>
                  <a:pt x="8123" y="0"/>
                </a:lnTo>
                <a:lnTo>
                  <a:pt x="812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580680" y="281916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2038320" y="2819160"/>
            <a:ext cx="2924280" cy="371880"/>
          </a:xfrm>
          <a:custGeom>
            <a:avLst/>
            <a:gdLst/>
            <a:ahLst/>
            <a:rect l="0" t="0" r="r" b="b"/>
            <a:pathLst>
              <a:path w="8123" h="1033">
                <a:moveTo>
                  <a:pt x="0" y="0"/>
                </a:moveTo>
                <a:lnTo>
                  <a:pt x="8123" y="0"/>
                </a:lnTo>
                <a:lnTo>
                  <a:pt x="812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580680" y="319068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/>
          <p:nvPr/>
        </p:nvSpPr>
        <p:spPr>
          <a:xfrm>
            <a:off x="2038320" y="3190680"/>
            <a:ext cx="2924280" cy="371880"/>
          </a:xfrm>
          <a:custGeom>
            <a:avLst/>
            <a:gdLst/>
            <a:ahLst/>
            <a:rect l="0" t="0" r="r" b="b"/>
            <a:pathLst>
              <a:path w="8123" h="1033">
                <a:moveTo>
                  <a:pt x="0" y="0"/>
                </a:moveTo>
                <a:lnTo>
                  <a:pt x="8123" y="0"/>
                </a:lnTo>
                <a:lnTo>
                  <a:pt x="812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580680" y="356220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2038320" y="3562200"/>
            <a:ext cx="2924280" cy="371880"/>
          </a:xfrm>
          <a:custGeom>
            <a:avLst/>
            <a:gdLst/>
            <a:ahLst/>
            <a:rect l="0" t="0" r="r" b="b"/>
            <a:pathLst>
              <a:path w="8123" h="1033">
                <a:moveTo>
                  <a:pt x="0" y="0"/>
                </a:moveTo>
                <a:lnTo>
                  <a:pt x="8123" y="0"/>
                </a:lnTo>
                <a:lnTo>
                  <a:pt x="812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/>
          <p:nvPr/>
        </p:nvSpPr>
        <p:spPr>
          <a:xfrm>
            <a:off x="580680" y="393372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2038320" y="3933720"/>
            <a:ext cx="2924280" cy="371880"/>
          </a:xfrm>
          <a:custGeom>
            <a:avLst/>
            <a:gdLst/>
            <a:ahLst/>
            <a:rect l="0" t="0" r="r" b="b"/>
            <a:pathLst>
              <a:path w="8123" h="1033">
                <a:moveTo>
                  <a:pt x="0" y="0"/>
                </a:moveTo>
                <a:lnTo>
                  <a:pt x="8123" y="0"/>
                </a:lnTo>
                <a:lnTo>
                  <a:pt x="812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580680" y="4305240"/>
            <a:ext cx="1458000" cy="381240"/>
          </a:xfrm>
          <a:custGeom>
            <a:avLst/>
            <a:gdLst/>
            <a:ahLst/>
            <a:rect l="0" t="0" r="r" b="b"/>
            <a:pathLst>
              <a:path w="4050" h="1059">
                <a:moveTo>
                  <a:pt x="0" y="0"/>
                </a:moveTo>
                <a:lnTo>
                  <a:pt x="4050" y="0"/>
                </a:lnTo>
                <a:lnTo>
                  <a:pt x="405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2038320" y="4305240"/>
            <a:ext cx="2924280" cy="381240"/>
          </a:xfrm>
          <a:custGeom>
            <a:avLst/>
            <a:gdLst/>
            <a:ahLst/>
            <a:rect l="0" t="0" r="r" b="b"/>
            <a:pathLst>
              <a:path w="8123" h="1059">
                <a:moveTo>
                  <a:pt x="0" y="0"/>
                </a:moveTo>
                <a:lnTo>
                  <a:pt x="8123" y="0"/>
                </a:lnTo>
                <a:lnTo>
                  <a:pt x="812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580680" y="468612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2038320" y="4686120"/>
            <a:ext cx="2924280" cy="371880"/>
          </a:xfrm>
          <a:custGeom>
            <a:avLst/>
            <a:gdLst/>
            <a:ahLst/>
            <a:rect l="0" t="0" r="r" b="b"/>
            <a:pathLst>
              <a:path w="8123" h="1033">
                <a:moveTo>
                  <a:pt x="0" y="0"/>
                </a:moveTo>
                <a:lnTo>
                  <a:pt x="8123" y="0"/>
                </a:lnTo>
                <a:lnTo>
                  <a:pt x="812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571320" y="2066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571320" y="2066760"/>
            <a:ext cx="1467360" cy="9720"/>
          </a:xfrm>
          <a:custGeom>
            <a:avLst/>
            <a:gdLst/>
            <a:ahLst/>
            <a:rect l="0" t="0" r="r" b="b"/>
            <a:pathLst>
              <a:path w="4076" h="27">
                <a:moveTo>
                  <a:pt x="0" y="0"/>
                </a:moveTo>
                <a:lnTo>
                  <a:pt x="4076" y="0"/>
                </a:lnTo>
                <a:lnTo>
                  <a:pt x="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2028600" y="20667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/>
          <p:nvPr/>
        </p:nvSpPr>
        <p:spPr>
          <a:xfrm>
            <a:off x="2038320" y="2066760"/>
            <a:ext cx="2934000" cy="9720"/>
          </a:xfrm>
          <a:custGeom>
            <a:avLst/>
            <a:gdLst/>
            <a:ahLst/>
            <a:rect l="0" t="0" r="r" b="b"/>
            <a:pathLst>
              <a:path w="8150" h="27">
                <a:moveTo>
                  <a:pt x="0" y="0"/>
                </a:moveTo>
                <a:lnTo>
                  <a:pt x="8150" y="0"/>
                </a:lnTo>
                <a:lnTo>
                  <a:pt x="81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4962240" y="20667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571320" y="2438280"/>
            <a:ext cx="1467360" cy="9720"/>
          </a:xfrm>
          <a:custGeom>
            <a:avLst/>
            <a:gdLst/>
            <a:ahLst/>
            <a:rect l="0" t="0" r="r" b="b"/>
            <a:pathLst>
              <a:path w="4076" h="27">
                <a:moveTo>
                  <a:pt x="0" y="0"/>
                </a:moveTo>
                <a:lnTo>
                  <a:pt x="4076" y="0"/>
                </a:lnTo>
                <a:lnTo>
                  <a:pt x="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/>
          <p:nvPr/>
        </p:nvSpPr>
        <p:spPr>
          <a:xfrm>
            <a:off x="2038320" y="2438280"/>
            <a:ext cx="2934000" cy="9720"/>
          </a:xfrm>
          <a:custGeom>
            <a:avLst/>
            <a:gdLst/>
            <a:ahLst/>
            <a:rect l="0" t="0" r="r" b="b"/>
            <a:pathLst>
              <a:path w="8150" h="27">
                <a:moveTo>
                  <a:pt x="0" y="0"/>
                </a:moveTo>
                <a:lnTo>
                  <a:pt x="8150" y="0"/>
                </a:lnTo>
                <a:lnTo>
                  <a:pt x="81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57132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/>
          <p:nvPr/>
        </p:nvSpPr>
        <p:spPr>
          <a:xfrm>
            <a:off x="2028600" y="24476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/>
          <p:nvPr/>
        </p:nvSpPr>
        <p:spPr>
          <a:xfrm>
            <a:off x="4962240" y="24476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/>
          <p:nvPr/>
        </p:nvSpPr>
        <p:spPr>
          <a:xfrm>
            <a:off x="5713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/>
          <p:nvPr/>
        </p:nvSpPr>
        <p:spPr>
          <a:xfrm>
            <a:off x="571320" y="2819160"/>
            <a:ext cx="1467360" cy="10080"/>
          </a:xfrm>
          <a:custGeom>
            <a:avLst/>
            <a:gdLst/>
            <a:ahLst/>
            <a:rect l="0" t="0" r="r" b="b"/>
            <a:pathLst>
              <a:path w="4076" h="28">
                <a:moveTo>
                  <a:pt x="0" y="0"/>
                </a:moveTo>
                <a:lnTo>
                  <a:pt x="4076" y="0"/>
                </a:lnTo>
                <a:lnTo>
                  <a:pt x="40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/>
          <p:nvPr/>
        </p:nvSpPr>
        <p:spPr>
          <a:xfrm>
            <a:off x="202860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/>
          <p:nvPr/>
        </p:nvSpPr>
        <p:spPr>
          <a:xfrm>
            <a:off x="2038320" y="2819160"/>
            <a:ext cx="2934000" cy="10080"/>
          </a:xfrm>
          <a:custGeom>
            <a:avLst/>
            <a:gdLst/>
            <a:ahLst/>
            <a:rect l="0" t="0" r="r" b="b"/>
            <a:pathLst>
              <a:path w="8150" h="28">
                <a:moveTo>
                  <a:pt x="0" y="0"/>
                </a:moveTo>
                <a:lnTo>
                  <a:pt x="8150" y="0"/>
                </a:lnTo>
                <a:lnTo>
                  <a:pt x="81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/>
          <p:nvPr/>
        </p:nvSpPr>
        <p:spPr>
          <a:xfrm>
            <a:off x="496224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/>
          <p:nvPr/>
        </p:nvSpPr>
        <p:spPr>
          <a:xfrm>
            <a:off x="5713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/>
          <p:nvPr/>
        </p:nvSpPr>
        <p:spPr>
          <a:xfrm>
            <a:off x="571320" y="3190680"/>
            <a:ext cx="1467360" cy="9720"/>
          </a:xfrm>
          <a:custGeom>
            <a:avLst/>
            <a:gdLst/>
            <a:ahLst/>
            <a:rect l="0" t="0" r="r" b="b"/>
            <a:pathLst>
              <a:path w="4076" h="27">
                <a:moveTo>
                  <a:pt x="0" y="0"/>
                </a:moveTo>
                <a:lnTo>
                  <a:pt x="4076" y="0"/>
                </a:lnTo>
                <a:lnTo>
                  <a:pt x="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/>
          <p:nvPr/>
        </p:nvSpPr>
        <p:spPr>
          <a:xfrm>
            <a:off x="202860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/>
          <p:nvPr/>
        </p:nvSpPr>
        <p:spPr>
          <a:xfrm>
            <a:off x="2038320" y="3190680"/>
            <a:ext cx="2934000" cy="9720"/>
          </a:xfrm>
          <a:custGeom>
            <a:avLst/>
            <a:gdLst/>
            <a:ahLst/>
            <a:rect l="0" t="0" r="r" b="b"/>
            <a:pathLst>
              <a:path w="8150" h="27">
                <a:moveTo>
                  <a:pt x="0" y="0"/>
                </a:moveTo>
                <a:lnTo>
                  <a:pt x="8150" y="0"/>
                </a:lnTo>
                <a:lnTo>
                  <a:pt x="81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496224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/>
          <p:nvPr/>
        </p:nvSpPr>
        <p:spPr>
          <a:xfrm>
            <a:off x="5713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571320" y="3562200"/>
            <a:ext cx="1467360" cy="9720"/>
          </a:xfrm>
          <a:custGeom>
            <a:avLst/>
            <a:gdLst/>
            <a:ahLst/>
            <a:rect l="0" t="0" r="r" b="b"/>
            <a:pathLst>
              <a:path w="4076" h="27">
                <a:moveTo>
                  <a:pt x="0" y="0"/>
                </a:moveTo>
                <a:lnTo>
                  <a:pt x="4076" y="0"/>
                </a:lnTo>
                <a:lnTo>
                  <a:pt x="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202860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2038320" y="3562200"/>
            <a:ext cx="2934000" cy="9720"/>
          </a:xfrm>
          <a:custGeom>
            <a:avLst/>
            <a:gdLst/>
            <a:ahLst/>
            <a:rect l="0" t="0" r="r" b="b"/>
            <a:pathLst>
              <a:path w="8150" h="27">
                <a:moveTo>
                  <a:pt x="0" y="0"/>
                </a:moveTo>
                <a:lnTo>
                  <a:pt x="8150" y="0"/>
                </a:lnTo>
                <a:lnTo>
                  <a:pt x="81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496224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5713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/>
          <p:nvPr/>
        </p:nvSpPr>
        <p:spPr>
          <a:xfrm>
            <a:off x="571320" y="3933720"/>
            <a:ext cx="1467360" cy="9720"/>
          </a:xfrm>
          <a:custGeom>
            <a:avLst/>
            <a:gdLst/>
            <a:ahLst/>
            <a:rect l="0" t="0" r="r" b="b"/>
            <a:pathLst>
              <a:path w="4076" h="27">
                <a:moveTo>
                  <a:pt x="0" y="0"/>
                </a:moveTo>
                <a:lnTo>
                  <a:pt x="4076" y="0"/>
                </a:lnTo>
                <a:lnTo>
                  <a:pt x="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202860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2038320" y="3933720"/>
            <a:ext cx="2934000" cy="9720"/>
          </a:xfrm>
          <a:custGeom>
            <a:avLst/>
            <a:gdLst/>
            <a:ahLst/>
            <a:rect l="0" t="0" r="r" b="b"/>
            <a:pathLst>
              <a:path w="8150" h="27">
                <a:moveTo>
                  <a:pt x="0" y="0"/>
                </a:moveTo>
                <a:lnTo>
                  <a:pt x="8150" y="0"/>
                </a:lnTo>
                <a:lnTo>
                  <a:pt x="81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496224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571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571320" y="4305240"/>
            <a:ext cx="1467360" cy="9720"/>
          </a:xfrm>
          <a:custGeom>
            <a:avLst/>
            <a:gdLst/>
            <a:ahLst/>
            <a:rect l="0" t="0" r="r" b="b"/>
            <a:pathLst>
              <a:path w="4076" h="27">
                <a:moveTo>
                  <a:pt x="0" y="0"/>
                </a:moveTo>
                <a:lnTo>
                  <a:pt x="4076" y="0"/>
                </a:lnTo>
                <a:lnTo>
                  <a:pt x="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/>
          <p:nvPr/>
        </p:nvSpPr>
        <p:spPr>
          <a:xfrm>
            <a:off x="202860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2038320" y="4305240"/>
            <a:ext cx="2934000" cy="9720"/>
          </a:xfrm>
          <a:custGeom>
            <a:avLst/>
            <a:gdLst/>
            <a:ahLst/>
            <a:rect l="0" t="0" r="r" b="b"/>
            <a:pathLst>
              <a:path w="8150" h="27">
                <a:moveTo>
                  <a:pt x="0" y="0"/>
                </a:moveTo>
                <a:lnTo>
                  <a:pt x="8150" y="0"/>
                </a:lnTo>
                <a:lnTo>
                  <a:pt x="81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496224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57132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571320" y="4676760"/>
            <a:ext cx="1467360" cy="9720"/>
          </a:xfrm>
          <a:custGeom>
            <a:avLst/>
            <a:gdLst/>
            <a:ahLst/>
            <a:rect l="0" t="0" r="r" b="b"/>
            <a:pathLst>
              <a:path w="4076" h="27">
                <a:moveTo>
                  <a:pt x="0" y="0"/>
                </a:moveTo>
                <a:lnTo>
                  <a:pt x="4076" y="0"/>
                </a:lnTo>
                <a:lnTo>
                  <a:pt x="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2028600" y="4686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/>
          <p:nvPr/>
        </p:nvSpPr>
        <p:spPr>
          <a:xfrm>
            <a:off x="2038320" y="4676760"/>
            <a:ext cx="2934000" cy="9720"/>
          </a:xfrm>
          <a:custGeom>
            <a:avLst/>
            <a:gdLst/>
            <a:ahLst/>
            <a:rect l="0" t="0" r="r" b="b"/>
            <a:pathLst>
              <a:path w="8150" h="27">
                <a:moveTo>
                  <a:pt x="0" y="0"/>
                </a:moveTo>
                <a:lnTo>
                  <a:pt x="8150" y="0"/>
                </a:lnTo>
                <a:lnTo>
                  <a:pt x="81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4962240" y="4686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571320" y="5047920"/>
            <a:ext cx="1467360" cy="10080"/>
          </a:xfrm>
          <a:custGeom>
            <a:avLst/>
            <a:gdLst/>
            <a:ahLst/>
            <a:rect l="0" t="0" r="r" b="b"/>
            <a:pathLst>
              <a:path w="4076" h="28">
                <a:moveTo>
                  <a:pt x="0" y="0"/>
                </a:moveTo>
                <a:lnTo>
                  <a:pt x="4076" y="0"/>
                </a:lnTo>
                <a:lnTo>
                  <a:pt x="40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/>
          <p:nvPr/>
        </p:nvSpPr>
        <p:spPr>
          <a:xfrm>
            <a:off x="2038320" y="5047920"/>
            <a:ext cx="2934000" cy="10080"/>
          </a:xfrm>
          <a:custGeom>
            <a:avLst/>
            <a:gdLst/>
            <a:ahLst/>
            <a:rect l="0" t="0" r="r" b="b"/>
            <a:pathLst>
              <a:path w="8150" h="28">
                <a:moveTo>
                  <a:pt x="0" y="0"/>
                </a:moveTo>
                <a:lnTo>
                  <a:pt x="8150" y="0"/>
                </a:lnTo>
                <a:lnTo>
                  <a:pt x="81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 txBox="1"/>
          <p:nvPr/>
        </p:nvSpPr>
        <p:spPr>
          <a:xfrm>
            <a:off x="571320" y="1487880"/>
            <a:ext cx="27079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安全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消防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保险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704880" y="213300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 txBox="1"/>
          <p:nvPr/>
        </p:nvSpPr>
        <p:spPr>
          <a:xfrm>
            <a:off x="2162160" y="21330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要求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704880" y="25041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消防通道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 txBox="1"/>
          <p:nvPr/>
        </p:nvSpPr>
        <p:spPr>
          <a:xfrm>
            <a:off x="2162160" y="2504160"/>
            <a:ext cx="1849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前⻔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后厨应急⻔不堵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 txBox="1"/>
          <p:nvPr/>
        </p:nvSpPr>
        <p:spPr>
          <a:xfrm>
            <a:off x="704880" y="288540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灭⽕器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2162160" y="2885400"/>
            <a:ext cx="299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ABC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类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× 3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（吧台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后厨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座位区）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 txBox="1"/>
          <p:nvPr/>
        </p:nvSpPr>
        <p:spPr>
          <a:xfrm>
            <a:off x="704880" y="32569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应急照明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 txBox="1"/>
          <p:nvPr/>
        </p:nvSpPr>
        <p:spPr>
          <a:xfrm>
            <a:off x="2162160" y="3256920"/>
            <a:ext cx="2049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断电⾃动点亮，每季度测试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 txBox="1"/>
          <p:nvPr/>
        </p:nvSpPr>
        <p:spPr>
          <a:xfrm>
            <a:off x="704880" y="3628440"/>
            <a:ext cx="119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天然⽓（如⽤）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 txBox="1"/>
          <p:nvPr/>
        </p:nvSpPr>
        <p:spPr>
          <a:xfrm>
            <a:off x="2162160" y="3628440"/>
            <a:ext cx="2172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⽉度检漏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探测器联动切断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 txBox="1"/>
          <p:nvPr/>
        </p:nvSpPr>
        <p:spPr>
          <a:xfrm>
            <a:off x="704880" y="3999600"/>
            <a:ext cx="119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⻝品安全责任险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2162160" y="3999600"/>
            <a:ext cx="162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¥100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万保额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必买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 txBox="1"/>
          <p:nvPr/>
        </p:nvSpPr>
        <p:spPr>
          <a:xfrm>
            <a:off x="704880" y="437112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公众责任险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 txBox="1"/>
          <p:nvPr/>
        </p:nvSpPr>
        <p:spPr>
          <a:xfrm>
            <a:off x="2162160" y="4371120"/>
            <a:ext cx="1663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¥200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万保额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必买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704880" y="474264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财物险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2162160" y="4742640"/>
            <a:ext cx="1508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按装修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设备投保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 txBox="1"/>
          <p:nvPr/>
        </p:nvSpPr>
        <p:spPr>
          <a:xfrm>
            <a:off x="285840" y="6409440"/>
            <a:ext cx="371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店⻓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运营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 txBox="1"/>
          <p:nvPr/>
        </p:nvSpPr>
        <p:spPr>
          <a:xfrm>
            <a:off x="11753640" y="6439320"/>
            <a:ext cx="15336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580680" y="207612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2038320" y="2076120"/>
            <a:ext cx="600120" cy="371880"/>
          </a:xfrm>
          <a:custGeom>
            <a:avLst/>
            <a:gdLst/>
            <a:ahLst/>
            <a:rect l="0" t="0" r="r" b="b"/>
            <a:pathLst>
              <a:path w="1667" h="1033">
                <a:moveTo>
                  <a:pt x="0" y="0"/>
                </a:moveTo>
                <a:lnTo>
                  <a:pt x="1667" y="0"/>
                </a:lnTo>
                <a:lnTo>
                  <a:pt x="166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2638080" y="2076120"/>
            <a:ext cx="1838880" cy="371880"/>
          </a:xfrm>
          <a:custGeom>
            <a:avLst/>
            <a:gdLst/>
            <a:ahLst/>
            <a:rect l="0" t="0" r="r" b="b"/>
            <a:pathLst>
              <a:path w="5108" h="1033">
                <a:moveTo>
                  <a:pt x="0" y="0"/>
                </a:moveTo>
                <a:lnTo>
                  <a:pt x="5108" y="0"/>
                </a:lnTo>
                <a:lnTo>
                  <a:pt x="510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/>
          <p:nvPr/>
        </p:nvSpPr>
        <p:spPr>
          <a:xfrm>
            <a:off x="580680" y="207612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/>
          <p:nvPr/>
        </p:nvSpPr>
        <p:spPr>
          <a:xfrm>
            <a:off x="2038320" y="2076120"/>
            <a:ext cx="600120" cy="371880"/>
          </a:xfrm>
          <a:custGeom>
            <a:avLst/>
            <a:gdLst/>
            <a:ahLst/>
            <a:rect l="0" t="0" r="r" b="b"/>
            <a:pathLst>
              <a:path w="1667" h="1033">
                <a:moveTo>
                  <a:pt x="0" y="0"/>
                </a:moveTo>
                <a:lnTo>
                  <a:pt x="1667" y="0"/>
                </a:lnTo>
                <a:lnTo>
                  <a:pt x="166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/>
          <p:nvPr/>
        </p:nvSpPr>
        <p:spPr>
          <a:xfrm>
            <a:off x="2638080" y="2076120"/>
            <a:ext cx="1838880" cy="371880"/>
          </a:xfrm>
          <a:custGeom>
            <a:avLst/>
            <a:gdLst/>
            <a:ahLst/>
            <a:rect l="0" t="0" r="r" b="b"/>
            <a:pathLst>
              <a:path w="5108" h="1033">
                <a:moveTo>
                  <a:pt x="0" y="0"/>
                </a:moveTo>
                <a:lnTo>
                  <a:pt x="5108" y="0"/>
                </a:lnTo>
                <a:lnTo>
                  <a:pt x="510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580680" y="244764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2038320" y="2447640"/>
            <a:ext cx="600120" cy="371880"/>
          </a:xfrm>
          <a:custGeom>
            <a:avLst/>
            <a:gdLst/>
            <a:ahLst/>
            <a:rect l="0" t="0" r="r" b="b"/>
            <a:pathLst>
              <a:path w="1667" h="1033">
                <a:moveTo>
                  <a:pt x="0" y="0"/>
                </a:moveTo>
                <a:lnTo>
                  <a:pt x="1667" y="0"/>
                </a:lnTo>
                <a:lnTo>
                  <a:pt x="166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2638080" y="2447640"/>
            <a:ext cx="1838880" cy="371880"/>
          </a:xfrm>
          <a:custGeom>
            <a:avLst/>
            <a:gdLst/>
            <a:ahLst/>
            <a:rect l="0" t="0" r="r" b="b"/>
            <a:pathLst>
              <a:path w="5108" h="1033">
                <a:moveTo>
                  <a:pt x="0" y="0"/>
                </a:moveTo>
                <a:lnTo>
                  <a:pt x="5108" y="0"/>
                </a:lnTo>
                <a:lnTo>
                  <a:pt x="510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580680" y="281916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2038320" y="2819160"/>
            <a:ext cx="600120" cy="371880"/>
          </a:xfrm>
          <a:custGeom>
            <a:avLst/>
            <a:gdLst/>
            <a:ahLst/>
            <a:rect l="0" t="0" r="r" b="b"/>
            <a:pathLst>
              <a:path w="1667" h="1033">
                <a:moveTo>
                  <a:pt x="0" y="0"/>
                </a:moveTo>
                <a:lnTo>
                  <a:pt x="1667" y="0"/>
                </a:lnTo>
                <a:lnTo>
                  <a:pt x="166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2638080" y="2819160"/>
            <a:ext cx="1838880" cy="371880"/>
          </a:xfrm>
          <a:custGeom>
            <a:avLst/>
            <a:gdLst/>
            <a:ahLst/>
            <a:rect l="0" t="0" r="r" b="b"/>
            <a:pathLst>
              <a:path w="5108" h="1033">
                <a:moveTo>
                  <a:pt x="0" y="0"/>
                </a:moveTo>
                <a:lnTo>
                  <a:pt x="5108" y="0"/>
                </a:lnTo>
                <a:lnTo>
                  <a:pt x="510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580680" y="319068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2038320" y="3190680"/>
            <a:ext cx="600120" cy="371880"/>
          </a:xfrm>
          <a:custGeom>
            <a:avLst/>
            <a:gdLst/>
            <a:ahLst/>
            <a:rect l="0" t="0" r="r" b="b"/>
            <a:pathLst>
              <a:path w="1667" h="1033">
                <a:moveTo>
                  <a:pt x="0" y="0"/>
                </a:moveTo>
                <a:lnTo>
                  <a:pt x="1667" y="0"/>
                </a:lnTo>
                <a:lnTo>
                  <a:pt x="166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2638080" y="3190680"/>
            <a:ext cx="1838880" cy="371880"/>
          </a:xfrm>
          <a:custGeom>
            <a:avLst/>
            <a:gdLst/>
            <a:ahLst/>
            <a:rect l="0" t="0" r="r" b="b"/>
            <a:pathLst>
              <a:path w="5108" h="1033">
                <a:moveTo>
                  <a:pt x="0" y="0"/>
                </a:moveTo>
                <a:lnTo>
                  <a:pt x="5108" y="0"/>
                </a:lnTo>
                <a:lnTo>
                  <a:pt x="510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580680" y="356220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2038320" y="3562200"/>
            <a:ext cx="600120" cy="371880"/>
          </a:xfrm>
          <a:custGeom>
            <a:avLst/>
            <a:gdLst/>
            <a:ahLst/>
            <a:rect l="0" t="0" r="r" b="b"/>
            <a:pathLst>
              <a:path w="1667" h="1033">
                <a:moveTo>
                  <a:pt x="0" y="0"/>
                </a:moveTo>
                <a:lnTo>
                  <a:pt x="1667" y="0"/>
                </a:lnTo>
                <a:lnTo>
                  <a:pt x="166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2638080" y="3562200"/>
            <a:ext cx="1838880" cy="371880"/>
          </a:xfrm>
          <a:custGeom>
            <a:avLst/>
            <a:gdLst/>
            <a:ahLst/>
            <a:rect l="0" t="0" r="r" b="b"/>
            <a:pathLst>
              <a:path w="5108" h="1033">
                <a:moveTo>
                  <a:pt x="0" y="0"/>
                </a:moveTo>
                <a:lnTo>
                  <a:pt x="5108" y="0"/>
                </a:lnTo>
                <a:lnTo>
                  <a:pt x="510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580680" y="393372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2038320" y="3933720"/>
            <a:ext cx="600120" cy="371880"/>
          </a:xfrm>
          <a:custGeom>
            <a:avLst/>
            <a:gdLst/>
            <a:ahLst/>
            <a:rect l="0" t="0" r="r" b="b"/>
            <a:pathLst>
              <a:path w="1667" h="1033">
                <a:moveTo>
                  <a:pt x="0" y="0"/>
                </a:moveTo>
                <a:lnTo>
                  <a:pt x="1667" y="0"/>
                </a:lnTo>
                <a:lnTo>
                  <a:pt x="166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2638080" y="3933720"/>
            <a:ext cx="1838880" cy="371880"/>
          </a:xfrm>
          <a:custGeom>
            <a:avLst/>
            <a:gdLst/>
            <a:ahLst/>
            <a:rect l="0" t="0" r="r" b="b"/>
            <a:pathLst>
              <a:path w="5108" h="1033">
                <a:moveTo>
                  <a:pt x="0" y="0"/>
                </a:moveTo>
                <a:lnTo>
                  <a:pt x="5108" y="0"/>
                </a:lnTo>
                <a:lnTo>
                  <a:pt x="510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580680" y="4305240"/>
            <a:ext cx="1458000" cy="381240"/>
          </a:xfrm>
          <a:custGeom>
            <a:avLst/>
            <a:gdLst/>
            <a:ahLst/>
            <a:rect l="0" t="0" r="r" b="b"/>
            <a:pathLst>
              <a:path w="4050" h="1059">
                <a:moveTo>
                  <a:pt x="0" y="0"/>
                </a:moveTo>
                <a:lnTo>
                  <a:pt x="4050" y="0"/>
                </a:lnTo>
                <a:lnTo>
                  <a:pt x="405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2038320" y="4305240"/>
            <a:ext cx="600120" cy="381240"/>
          </a:xfrm>
          <a:custGeom>
            <a:avLst/>
            <a:gdLst/>
            <a:ahLst/>
            <a:rect l="0" t="0" r="r" b="b"/>
            <a:pathLst>
              <a:path w="1667" h="1059">
                <a:moveTo>
                  <a:pt x="0" y="0"/>
                </a:moveTo>
                <a:lnTo>
                  <a:pt x="1667" y="0"/>
                </a:lnTo>
                <a:lnTo>
                  <a:pt x="166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/>
          <p:nvPr/>
        </p:nvSpPr>
        <p:spPr>
          <a:xfrm>
            <a:off x="2638080" y="4305240"/>
            <a:ext cx="1838880" cy="381240"/>
          </a:xfrm>
          <a:custGeom>
            <a:avLst/>
            <a:gdLst/>
            <a:ahLst/>
            <a:rect l="0" t="0" r="r" b="b"/>
            <a:pathLst>
              <a:path w="5108" h="1059">
                <a:moveTo>
                  <a:pt x="0" y="0"/>
                </a:moveTo>
                <a:lnTo>
                  <a:pt x="5108" y="0"/>
                </a:lnTo>
                <a:lnTo>
                  <a:pt x="510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580680" y="468612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/>
          <p:nvPr/>
        </p:nvSpPr>
        <p:spPr>
          <a:xfrm>
            <a:off x="2038320" y="4686120"/>
            <a:ext cx="600120" cy="371880"/>
          </a:xfrm>
          <a:custGeom>
            <a:avLst/>
            <a:gdLst/>
            <a:ahLst/>
            <a:rect l="0" t="0" r="r" b="b"/>
            <a:pathLst>
              <a:path w="1667" h="1033">
                <a:moveTo>
                  <a:pt x="0" y="0"/>
                </a:moveTo>
                <a:lnTo>
                  <a:pt x="1667" y="0"/>
                </a:lnTo>
                <a:lnTo>
                  <a:pt x="166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/>
          <p:nvPr/>
        </p:nvSpPr>
        <p:spPr>
          <a:xfrm>
            <a:off x="2638080" y="4686120"/>
            <a:ext cx="1838880" cy="371880"/>
          </a:xfrm>
          <a:custGeom>
            <a:avLst/>
            <a:gdLst/>
            <a:ahLst/>
            <a:rect l="0" t="0" r="r" b="b"/>
            <a:pathLst>
              <a:path w="5108" h="1033">
                <a:moveTo>
                  <a:pt x="0" y="0"/>
                </a:moveTo>
                <a:lnTo>
                  <a:pt x="5108" y="0"/>
                </a:lnTo>
                <a:lnTo>
                  <a:pt x="510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/>
          <p:nvPr/>
        </p:nvSpPr>
        <p:spPr>
          <a:xfrm>
            <a:off x="571320" y="2066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/>
          <p:nvPr/>
        </p:nvSpPr>
        <p:spPr>
          <a:xfrm>
            <a:off x="571320" y="2066760"/>
            <a:ext cx="1467360" cy="9720"/>
          </a:xfrm>
          <a:custGeom>
            <a:avLst/>
            <a:gdLst/>
            <a:ahLst/>
            <a:rect l="0" t="0" r="r" b="b"/>
            <a:pathLst>
              <a:path w="4076" h="27">
                <a:moveTo>
                  <a:pt x="0" y="0"/>
                </a:moveTo>
                <a:lnTo>
                  <a:pt x="4076" y="0"/>
                </a:lnTo>
                <a:lnTo>
                  <a:pt x="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2028600" y="20667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/>
          <p:nvPr/>
        </p:nvSpPr>
        <p:spPr>
          <a:xfrm>
            <a:off x="2038320" y="2066760"/>
            <a:ext cx="600120" cy="9720"/>
          </a:xfrm>
          <a:custGeom>
            <a:avLst/>
            <a:gdLst/>
            <a:ahLst/>
            <a:rect l="0" t="0" r="r" b="b"/>
            <a:pathLst>
              <a:path w="1667" h="27">
                <a:moveTo>
                  <a:pt x="0" y="0"/>
                </a:moveTo>
                <a:lnTo>
                  <a:pt x="1667" y="0"/>
                </a:lnTo>
                <a:lnTo>
                  <a:pt x="16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2628720" y="2066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/>
          <p:nvPr/>
        </p:nvSpPr>
        <p:spPr>
          <a:xfrm>
            <a:off x="2638080" y="2066760"/>
            <a:ext cx="1848240" cy="9720"/>
          </a:xfrm>
          <a:custGeom>
            <a:avLst/>
            <a:gdLst/>
            <a:ahLst/>
            <a:rect l="0" t="0" r="r" b="b"/>
            <a:pathLst>
              <a:path w="5134" h="27">
                <a:moveTo>
                  <a:pt x="0" y="0"/>
                </a:moveTo>
                <a:lnTo>
                  <a:pt x="5134" y="0"/>
                </a:lnTo>
                <a:lnTo>
                  <a:pt x="51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4476600" y="2066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571320" y="2438280"/>
            <a:ext cx="1467360" cy="9720"/>
          </a:xfrm>
          <a:custGeom>
            <a:avLst/>
            <a:gdLst/>
            <a:ahLst/>
            <a:rect l="0" t="0" r="r" b="b"/>
            <a:pathLst>
              <a:path w="4076" h="27">
                <a:moveTo>
                  <a:pt x="0" y="0"/>
                </a:moveTo>
                <a:lnTo>
                  <a:pt x="4076" y="0"/>
                </a:lnTo>
                <a:lnTo>
                  <a:pt x="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2038320" y="2438280"/>
            <a:ext cx="600120" cy="9720"/>
          </a:xfrm>
          <a:custGeom>
            <a:avLst/>
            <a:gdLst/>
            <a:ahLst/>
            <a:rect l="0" t="0" r="r" b="b"/>
            <a:pathLst>
              <a:path w="1667" h="27">
                <a:moveTo>
                  <a:pt x="0" y="0"/>
                </a:moveTo>
                <a:lnTo>
                  <a:pt x="1667" y="0"/>
                </a:lnTo>
                <a:lnTo>
                  <a:pt x="16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2638080" y="2438280"/>
            <a:ext cx="1848240" cy="9720"/>
          </a:xfrm>
          <a:custGeom>
            <a:avLst/>
            <a:gdLst/>
            <a:ahLst/>
            <a:rect l="0" t="0" r="r" b="b"/>
            <a:pathLst>
              <a:path w="5134" h="27">
                <a:moveTo>
                  <a:pt x="0" y="0"/>
                </a:moveTo>
                <a:lnTo>
                  <a:pt x="5134" y="0"/>
                </a:lnTo>
                <a:lnTo>
                  <a:pt x="51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57132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2028600" y="24476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262872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447660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5713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571320" y="2819160"/>
            <a:ext cx="1467360" cy="10080"/>
          </a:xfrm>
          <a:custGeom>
            <a:avLst/>
            <a:gdLst/>
            <a:ahLst/>
            <a:rect l="0" t="0" r="r" b="b"/>
            <a:pathLst>
              <a:path w="4076" h="28">
                <a:moveTo>
                  <a:pt x="0" y="0"/>
                </a:moveTo>
                <a:lnTo>
                  <a:pt x="4076" y="0"/>
                </a:lnTo>
                <a:lnTo>
                  <a:pt x="40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/>
          <p:nvPr/>
        </p:nvSpPr>
        <p:spPr>
          <a:xfrm>
            <a:off x="202860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>
            <a:off x="2038320" y="2819160"/>
            <a:ext cx="600120" cy="10080"/>
          </a:xfrm>
          <a:custGeom>
            <a:avLst/>
            <a:gdLst/>
            <a:ahLst/>
            <a:rect l="0" t="0" r="r" b="b"/>
            <a:pathLst>
              <a:path w="1667" h="28">
                <a:moveTo>
                  <a:pt x="0" y="0"/>
                </a:moveTo>
                <a:lnTo>
                  <a:pt x="1667" y="0"/>
                </a:lnTo>
                <a:lnTo>
                  <a:pt x="16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/>
          <p:nvPr/>
        </p:nvSpPr>
        <p:spPr>
          <a:xfrm>
            <a:off x="26287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2638080" y="2819160"/>
            <a:ext cx="1848240" cy="10080"/>
          </a:xfrm>
          <a:custGeom>
            <a:avLst/>
            <a:gdLst/>
            <a:ahLst/>
            <a:rect l="0" t="0" r="r" b="b"/>
            <a:pathLst>
              <a:path w="5134" h="28">
                <a:moveTo>
                  <a:pt x="0" y="0"/>
                </a:moveTo>
                <a:lnTo>
                  <a:pt x="5134" y="0"/>
                </a:lnTo>
                <a:lnTo>
                  <a:pt x="51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447660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>
            <a:off x="5713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571320" y="3190680"/>
            <a:ext cx="1467360" cy="9720"/>
          </a:xfrm>
          <a:custGeom>
            <a:avLst/>
            <a:gdLst/>
            <a:ahLst/>
            <a:rect l="0" t="0" r="r" b="b"/>
            <a:pathLst>
              <a:path w="4076" h="27">
                <a:moveTo>
                  <a:pt x="0" y="0"/>
                </a:moveTo>
                <a:lnTo>
                  <a:pt x="4076" y="0"/>
                </a:lnTo>
                <a:lnTo>
                  <a:pt x="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202860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2038320" y="3190680"/>
            <a:ext cx="600120" cy="9720"/>
          </a:xfrm>
          <a:custGeom>
            <a:avLst/>
            <a:gdLst/>
            <a:ahLst/>
            <a:rect l="0" t="0" r="r" b="b"/>
            <a:pathLst>
              <a:path w="1667" h="27">
                <a:moveTo>
                  <a:pt x="0" y="0"/>
                </a:moveTo>
                <a:lnTo>
                  <a:pt x="1667" y="0"/>
                </a:lnTo>
                <a:lnTo>
                  <a:pt x="16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/>
          <p:nvPr/>
        </p:nvSpPr>
        <p:spPr>
          <a:xfrm>
            <a:off x="26287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/>
          <p:nvPr/>
        </p:nvSpPr>
        <p:spPr>
          <a:xfrm>
            <a:off x="2638080" y="3190680"/>
            <a:ext cx="1848240" cy="9720"/>
          </a:xfrm>
          <a:custGeom>
            <a:avLst/>
            <a:gdLst/>
            <a:ahLst/>
            <a:rect l="0" t="0" r="r" b="b"/>
            <a:pathLst>
              <a:path w="5134" h="27">
                <a:moveTo>
                  <a:pt x="0" y="0"/>
                </a:moveTo>
                <a:lnTo>
                  <a:pt x="5134" y="0"/>
                </a:lnTo>
                <a:lnTo>
                  <a:pt x="51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447660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5713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571320" y="3562200"/>
            <a:ext cx="1467360" cy="9720"/>
          </a:xfrm>
          <a:custGeom>
            <a:avLst/>
            <a:gdLst/>
            <a:ahLst/>
            <a:rect l="0" t="0" r="r" b="b"/>
            <a:pathLst>
              <a:path w="4076" h="27">
                <a:moveTo>
                  <a:pt x="0" y="0"/>
                </a:moveTo>
                <a:lnTo>
                  <a:pt x="4076" y="0"/>
                </a:lnTo>
                <a:lnTo>
                  <a:pt x="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/>
          <p:nvPr/>
        </p:nvSpPr>
        <p:spPr>
          <a:xfrm>
            <a:off x="202860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>
            <a:off x="2038320" y="3562200"/>
            <a:ext cx="600120" cy="9720"/>
          </a:xfrm>
          <a:custGeom>
            <a:avLst/>
            <a:gdLst/>
            <a:ahLst/>
            <a:rect l="0" t="0" r="r" b="b"/>
            <a:pathLst>
              <a:path w="1667" h="27">
                <a:moveTo>
                  <a:pt x="0" y="0"/>
                </a:moveTo>
                <a:lnTo>
                  <a:pt x="1667" y="0"/>
                </a:lnTo>
                <a:lnTo>
                  <a:pt x="16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/>
          <p:nvPr/>
        </p:nvSpPr>
        <p:spPr>
          <a:xfrm>
            <a:off x="26287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/>
          <p:nvPr/>
        </p:nvSpPr>
        <p:spPr>
          <a:xfrm>
            <a:off x="2638080" y="3562200"/>
            <a:ext cx="1848240" cy="9720"/>
          </a:xfrm>
          <a:custGeom>
            <a:avLst/>
            <a:gdLst/>
            <a:ahLst/>
            <a:rect l="0" t="0" r="r" b="b"/>
            <a:pathLst>
              <a:path w="5134" h="27">
                <a:moveTo>
                  <a:pt x="0" y="0"/>
                </a:moveTo>
                <a:lnTo>
                  <a:pt x="5134" y="0"/>
                </a:lnTo>
                <a:lnTo>
                  <a:pt x="51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/>
          <p:nvPr/>
        </p:nvSpPr>
        <p:spPr>
          <a:xfrm>
            <a:off x="447660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/>
          <p:nvPr/>
        </p:nvSpPr>
        <p:spPr>
          <a:xfrm>
            <a:off x="5713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571320" y="3933720"/>
            <a:ext cx="1467360" cy="9720"/>
          </a:xfrm>
          <a:custGeom>
            <a:avLst/>
            <a:gdLst/>
            <a:ahLst/>
            <a:rect l="0" t="0" r="r" b="b"/>
            <a:pathLst>
              <a:path w="4076" h="27">
                <a:moveTo>
                  <a:pt x="0" y="0"/>
                </a:moveTo>
                <a:lnTo>
                  <a:pt x="4076" y="0"/>
                </a:lnTo>
                <a:lnTo>
                  <a:pt x="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202860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/>
          <p:nvPr/>
        </p:nvSpPr>
        <p:spPr>
          <a:xfrm>
            <a:off x="2038320" y="3933720"/>
            <a:ext cx="600120" cy="9720"/>
          </a:xfrm>
          <a:custGeom>
            <a:avLst/>
            <a:gdLst/>
            <a:ahLst/>
            <a:rect l="0" t="0" r="r" b="b"/>
            <a:pathLst>
              <a:path w="1667" h="27">
                <a:moveTo>
                  <a:pt x="0" y="0"/>
                </a:moveTo>
                <a:lnTo>
                  <a:pt x="1667" y="0"/>
                </a:lnTo>
                <a:lnTo>
                  <a:pt x="16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26287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2638080" y="3933720"/>
            <a:ext cx="1848240" cy="9720"/>
          </a:xfrm>
          <a:custGeom>
            <a:avLst/>
            <a:gdLst/>
            <a:ahLst/>
            <a:rect l="0" t="0" r="r" b="b"/>
            <a:pathLst>
              <a:path w="5134" h="27">
                <a:moveTo>
                  <a:pt x="0" y="0"/>
                </a:moveTo>
                <a:lnTo>
                  <a:pt x="5134" y="0"/>
                </a:lnTo>
                <a:lnTo>
                  <a:pt x="51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/>
          <p:nvPr/>
        </p:nvSpPr>
        <p:spPr>
          <a:xfrm>
            <a:off x="447660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/>
          <p:nvPr/>
        </p:nvSpPr>
        <p:spPr>
          <a:xfrm>
            <a:off x="571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/>
          <p:nvPr/>
        </p:nvSpPr>
        <p:spPr>
          <a:xfrm>
            <a:off x="571320" y="4305240"/>
            <a:ext cx="1467360" cy="9720"/>
          </a:xfrm>
          <a:custGeom>
            <a:avLst/>
            <a:gdLst/>
            <a:ahLst/>
            <a:rect l="0" t="0" r="r" b="b"/>
            <a:pathLst>
              <a:path w="4076" h="27">
                <a:moveTo>
                  <a:pt x="0" y="0"/>
                </a:moveTo>
                <a:lnTo>
                  <a:pt x="4076" y="0"/>
                </a:lnTo>
                <a:lnTo>
                  <a:pt x="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/>
          <p:nvPr/>
        </p:nvSpPr>
        <p:spPr>
          <a:xfrm>
            <a:off x="202860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/>
          <p:nvPr/>
        </p:nvSpPr>
        <p:spPr>
          <a:xfrm>
            <a:off x="2038320" y="4305240"/>
            <a:ext cx="600120" cy="9720"/>
          </a:xfrm>
          <a:custGeom>
            <a:avLst/>
            <a:gdLst/>
            <a:ahLst/>
            <a:rect l="0" t="0" r="r" b="b"/>
            <a:pathLst>
              <a:path w="1667" h="27">
                <a:moveTo>
                  <a:pt x="0" y="0"/>
                </a:moveTo>
                <a:lnTo>
                  <a:pt x="1667" y="0"/>
                </a:lnTo>
                <a:lnTo>
                  <a:pt x="16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/>
          <p:nvPr/>
        </p:nvSpPr>
        <p:spPr>
          <a:xfrm>
            <a:off x="26287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/>
          <p:nvPr/>
        </p:nvSpPr>
        <p:spPr>
          <a:xfrm>
            <a:off x="2638080" y="4305240"/>
            <a:ext cx="1848240" cy="9720"/>
          </a:xfrm>
          <a:custGeom>
            <a:avLst/>
            <a:gdLst/>
            <a:ahLst/>
            <a:rect l="0" t="0" r="r" b="b"/>
            <a:pathLst>
              <a:path w="5134" h="27">
                <a:moveTo>
                  <a:pt x="0" y="0"/>
                </a:moveTo>
                <a:lnTo>
                  <a:pt x="5134" y="0"/>
                </a:lnTo>
                <a:lnTo>
                  <a:pt x="51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/>
          <p:nvPr/>
        </p:nvSpPr>
        <p:spPr>
          <a:xfrm>
            <a:off x="447660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/>
          <p:nvPr/>
        </p:nvSpPr>
        <p:spPr>
          <a:xfrm>
            <a:off x="57132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/>
          <p:nvPr/>
        </p:nvSpPr>
        <p:spPr>
          <a:xfrm>
            <a:off x="571320" y="4676760"/>
            <a:ext cx="1467360" cy="9720"/>
          </a:xfrm>
          <a:custGeom>
            <a:avLst/>
            <a:gdLst/>
            <a:ahLst/>
            <a:rect l="0" t="0" r="r" b="b"/>
            <a:pathLst>
              <a:path w="4076" h="27">
                <a:moveTo>
                  <a:pt x="0" y="0"/>
                </a:moveTo>
                <a:lnTo>
                  <a:pt x="4076" y="0"/>
                </a:lnTo>
                <a:lnTo>
                  <a:pt x="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"/>
          <p:cNvSpPr/>
          <p:nvPr/>
        </p:nvSpPr>
        <p:spPr>
          <a:xfrm>
            <a:off x="2028600" y="4686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/>
          <p:nvPr/>
        </p:nvSpPr>
        <p:spPr>
          <a:xfrm>
            <a:off x="2038320" y="4676760"/>
            <a:ext cx="600120" cy="9720"/>
          </a:xfrm>
          <a:custGeom>
            <a:avLst/>
            <a:gdLst/>
            <a:ahLst/>
            <a:rect l="0" t="0" r="r" b="b"/>
            <a:pathLst>
              <a:path w="1667" h="27">
                <a:moveTo>
                  <a:pt x="0" y="0"/>
                </a:moveTo>
                <a:lnTo>
                  <a:pt x="1667" y="0"/>
                </a:lnTo>
                <a:lnTo>
                  <a:pt x="16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/>
          <p:nvPr/>
        </p:nvSpPr>
        <p:spPr>
          <a:xfrm>
            <a:off x="262872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/>
          <p:nvPr/>
        </p:nvSpPr>
        <p:spPr>
          <a:xfrm>
            <a:off x="2638080" y="4676760"/>
            <a:ext cx="1848240" cy="9720"/>
          </a:xfrm>
          <a:custGeom>
            <a:avLst/>
            <a:gdLst/>
            <a:ahLst/>
            <a:rect l="0" t="0" r="r" b="b"/>
            <a:pathLst>
              <a:path w="5134" h="27">
                <a:moveTo>
                  <a:pt x="0" y="0"/>
                </a:moveTo>
                <a:lnTo>
                  <a:pt x="5134" y="0"/>
                </a:lnTo>
                <a:lnTo>
                  <a:pt x="51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/>
          <p:nvPr/>
        </p:nvSpPr>
        <p:spPr>
          <a:xfrm>
            <a:off x="447660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/>
          <p:nvPr/>
        </p:nvSpPr>
        <p:spPr>
          <a:xfrm>
            <a:off x="571320" y="5047920"/>
            <a:ext cx="1467360" cy="10080"/>
          </a:xfrm>
          <a:custGeom>
            <a:avLst/>
            <a:gdLst/>
            <a:ahLst/>
            <a:rect l="0" t="0" r="r" b="b"/>
            <a:pathLst>
              <a:path w="4076" h="28">
                <a:moveTo>
                  <a:pt x="0" y="0"/>
                </a:moveTo>
                <a:lnTo>
                  <a:pt x="4076" y="0"/>
                </a:lnTo>
                <a:lnTo>
                  <a:pt x="40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/>
          <p:nvPr/>
        </p:nvSpPr>
        <p:spPr>
          <a:xfrm>
            <a:off x="2038320" y="5047920"/>
            <a:ext cx="600120" cy="10080"/>
          </a:xfrm>
          <a:custGeom>
            <a:avLst/>
            <a:gdLst/>
            <a:ahLst/>
            <a:rect l="0" t="0" r="r" b="b"/>
            <a:pathLst>
              <a:path w="1667" h="28">
                <a:moveTo>
                  <a:pt x="0" y="0"/>
                </a:moveTo>
                <a:lnTo>
                  <a:pt x="1667" y="0"/>
                </a:lnTo>
                <a:lnTo>
                  <a:pt x="16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"/>
          <p:cNvSpPr/>
          <p:nvPr/>
        </p:nvSpPr>
        <p:spPr>
          <a:xfrm>
            <a:off x="2638080" y="5047920"/>
            <a:ext cx="1848240" cy="10080"/>
          </a:xfrm>
          <a:custGeom>
            <a:avLst/>
            <a:gdLst/>
            <a:ahLst/>
            <a:rect l="0" t="0" r="r" b="b"/>
            <a:pathLst>
              <a:path w="5134" h="28">
                <a:moveTo>
                  <a:pt x="0" y="0"/>
                </a:moveTo>
                <a:lnTo>
                  <a:pt x="5134" y="0"/>
                </a:lnTo>
                <a:lnTo>
                  <a:pt x="51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 txBox="1"/>
          <p:nvPr/>
        </p:nvSpPr>
        <p:spPr>
          <a:xfrm>
            <a:off x="571320" y="148788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维保计划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"/>
          <p:cNvSpPr txBox="1"/>
          <p:nvPr/>
        </p:nvSpPr>
        <p:spPr>
          <a:xfrm>
            <a:off x="704880" y="213300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2162160" y="21330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周期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"/>
          <p:cNvSpPr txBox="1"/>
          <p:nvPr/>
        </p:nvSpPr>
        <p:spPr>
          <a:xfrm>
            <a:off x="2762280" y="21330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备注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 txBox="1"/>
          <p:nvPr/>
        </p:nvSpPr>
        <p:spPr>
          <a:xfrm>
            <a:off x="704880" y="2504160"/>
            <a:ext cx="119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咖啡机深度保养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 txBox="1"/>
          <p:nvPr/>
        </p:nvSpPr>
        <p:spPr>
          <a:xfrm>
            <a:off x="2162160" y="250416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"/>
          <p:cNvSpPr txBox="1"/>
          <p:nvPr/>
        </p:nvSpPr>
        <p:spPr>
          <a:xfrm>
            <a:off x="2762280" y="250416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第三⽅⼯程师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"/>
          <p:cNvSpPr txBox="1"/>
          <p:nvPr/>
        </p:nvSpPr>
        <p:spPr>
          <a:xfrm>
            <a:off x="704880" y="288540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磨⾖机⼑盘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"/>
          <p:cNvSpPr txBox="1"/>
          <p:nvPr/>
        </p:nvSpPr>
        <p:spPr>
          <a:xfrm>
            <a:off x="2162160" y="2885400"/>
            <a:ext cx="37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 txBox="1"/>
          <p:nvPr/>
        </p:nvSpPr>
        <p:spPr>
          <a:xfrm>
            <a:off x="2762280" y="2885400"/>
            <a:ext cx="1516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或每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1000 kg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更换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"/>
          <p:cNvSpPr txBox="1"/>
          <p:nvPr/>
        </p:nvSpPr>
        <p:spPr>
          <a:xfrm>
            <a:off x="704880" y="325692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油烟净化器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2162160" y="325692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 txBox="1"/>
          <p:nvPr/>
        </p:nvSpPr>
        <p:spPr>
          <a:xfrm>
            <a:off x="2762280" y="3256920"/>
            <a:ext cx="1508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清洗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年度更换芯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"/>
          <p:cNvSpPr txBox="1"/>
          <p:nvPr/>
        </p:nvSpPr>
        <p:spPr>
          <a:xfrm>
            <a:off x="704880" y="362844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隔油池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"/>
          <p:cNvSpPr txBox="1"/>
          <p:nvPr/>
        </p:nvSpPr>
        <p:spPr>
          <a:xfrm>
            <a:off x="2162160" y="3628440"/>
            <a:ext cx="37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 txBox="1"/>
          <p:nvPr/>
        </p:nvSpPr>
        <p:spPr>
          <a:xfrm>
            <a:off x="2762280" y="3628440"/>
            <a:ext cx="1679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⼈⼯清捞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⽉度专业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"/>
          <p:cNvSpPr txBox="1"/>
          <p:nvPr/>
        </p:nvSpPr>
        <p:spPr>
          <a:xfrm>
            <a:off x="704880" y="399960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空调滤⽹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"/>
          <p:cNvSpPr txBox="1"/>
          <p:nvPr/>
        </p:nvSpPr>
        <p:spPr>
          <a:xfrm>
            <a:off x="2162160" y="399960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季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 txBox="1"/>
          <p:nvPr/>
        </p:nvSpPr>
        <p:spPr>
          <a:xfrm>
            <a:off x="2762280" y="39996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清洗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 txBox="1"/>
          <p:nvPr/>
        </p:nvSpPr>
        <p:spPr>
          <a:xfrm>
            <a:off x="704880" y="437112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绿植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"/>
          <p:cNvSpPr txBox="1"/>
          <p:nvPr/>
        </p:nvSpPr>
        <p:spPr>
          <a:xfrm>
            <a:off x="2162160" y="437112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"/>
          <p:cNvSpPr txBox="1"/>
          <p:nvPr/>
        </p:nvSpPr>
        <p:spPr>
          <a:xfrm>
            <a:off x="2762280" y="4371120"/>
            <a:ext cx="1337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浇⽔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⽉度施肥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"/>
          <p:cNvSpPr txBox="1"/>
          <p:nvPr/>
        </p:nvSpPr>
        <p:spPr>
          <a:xfrm>
            <a:off x="704880" y="47426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灯具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"/>
          <p:cNvSpPr txBox="1"/>
          <p:nvPr/>
        </p:nvSpPr>
        <p:spPr>
          <a:xfrm>
            <a:off x="2162160" y="474264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年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"/>
          <p:cNvSpPr txBox="1"/>
          <p:nvPr/>
        </p:nvSpPr>
        <p:spPr>
          <a:xfrm>
            <a:off x="2762280" y="47426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整体检修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"/>
          <p:cNvSpPr txBox="1"/>
          <p:nvPr/>
        </p:nvSpPr>
        <p:spPr>
          <a:xfrm>
            <a:off x="285840" y="6409440"/>
            <a:ext cx="371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店⻓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运营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"/>
          <p:cNvSpPr txBox="1"/>
          <p:nvPr/>
        </p:nvSpPr>
        <p:spPr>
          <a:xfrm>
            <a:off x="117838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1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2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8" name=""/>
          <p:cNvSpPr/>
          <p:nvPr/>
        </p:nvSpPr>
        <p:spPr>
          <a:xfrm>
            <a:off x="571320" y="2695320"/>
            <a:ext cx="11049480" cy="57600"/>
          </a:xfrm>
          <a:custGeom>
            <a:avLst/>
            <a:gdLst/>
            <a:ahLst/>
            <a:rect l="0" t="0" r="r" b="b"/>
            <a:pathLst>
              <a:path w="30693" h="160">
                <a:moveTo>
                  <a:pt x="0" y="0"/>
                </a:moveTo>
                <a:lnTo>
                  <a:pt x="30693" y="0"/>
                </a:lnTo>
                <a:lnTo>
                  <a:pt x="30693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4A8B6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9" name=""/>
          <p:cNvSpPr/>
          <p:nvPr/>
        </p:nvSpPr>
        <p:spPr>
          <a:xfrm>
            <a:off x="628560" y="309528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0" name=""/>
          <p:cNvSpPr txBox="1"/>
          <p:nvPr/>
        </p:nvSpPr>
        <p:spPr>
          <a:xfrm>
            <a:off x="571320" y="1735200"/>
            <a:ext cx="426780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运营仪表盘建议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1" name=""/>
          <p:cNvSpPr/>
          <p:nvPr/>
        </p:nvSpPr>
        <p:spPr>
          <a:xfrm>
            <a:off x="628560" y="34574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1"/>
                  <a:pt x="181" y="181"/>
                </a:cubicBezTo>
                <a:cubicBezTo>
                  <a:pt x="171" y="190"/>
                  <a:pt x="160" y="198"/>
                  <a:pt x="147" y="203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3"/>
                </a:cubicBezTo>
                <a:cubicBezTo>
                  <a:pt x="53" y="198"/>
                  <a:pt x="41" y="190"/>
                  <a:pt x="31" y="181"/>
                </a:cubicBezTo>
                <a:cubicBezTo>
                  <a:pt x="21" y="171"/>
                  <a:pt x="13" y="159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2" name=""/>
          <p:cNvSpPr txBox="1"/>
          <p:nvPr/>
        </p:nvSpPr>
        <p:spPr>
          <a:xfrm>
            <a:off x="838080" y="2978280"/>
            <a:ext cx="4212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⽇报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：客流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营业额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客单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出品差错率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"/>
          <p:cNvSpPr/>
          <p:nvPr/>
        </p:nvSpPr>
        <p:spPr>
          <a:xfrm>
            <a:off x="628560" y="38192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"/>
          <p:cNvSpPr txBox="1"/>
          <p:nvPr/>
        </p:nvSpPr>
        <p:spPr>
          <a:xfrm>
            <a:off x="838080" y="3340080"/>
            <a:ext cx="36356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周报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：翻台率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复购率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TOP5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产品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"/>
          <p:cNvSpPr/>
          <p:nvPr/>
        </p:nvSpPr>
        <p:spPr>
          <a:xfrm>
            <a:off x="628560" y="41814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"/>
          <p:cNvSpPr txBox="1"/>
          <p:nvPr/>
        </p:nvSpPr>
        <p:spPr>
          <a:xfrm>
            <a:off x="838080" y="3702240"/>
            <a:ext cx="3795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⽉报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：⽑利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净利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⻝材损耗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客诉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7" name=""/>
          <p:cNvSpPr txBox="1"/>
          <p:nvPr/>
        </p:nvSpPr>
        <p:spPr>
          <a:xfrm>
            <a:off x="838080" y="4064040"/>
            <a:ext cx="3852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季报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：菜单迭代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员⼯晋升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设备检修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8" name=""/>
          <p:cNvSpPr txBox="1"/>
          <p:nvPr/>
        </p:nvSpPr>
        <p:spPr>
          <a:xfrm>
            <a:off x="571320" y="4483080"/>
            <a:ext cx="33130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⼩程序接⼝由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Studio Copilot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开放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9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0" name=""/>
          <p:cNvSpPr txBox="1"/>
          <p:nvPr/>
        </p:nvSpPr>
        <p:spPr>
          <a:xfrm>
            <a:off x="285840" y="6409440"/>
            <a:ext cx="371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店⻓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运营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"/>
          <p:cNvSpPr txBox="1"/>
          <p:nvPr/>
        </p:nvSpPr>
        <p:spPr>
          <a:xfrm>
            <a:off x="11753640" y="6439320"/>
            <a:ext cx="15336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LibreOffice/26.2.2.2$MacOSX_X86_64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