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442260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驱动的精品咖啡店标准化模型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3792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分钟出⽅案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8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周开业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可复制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7312320" y="0"/>
            <a:ext cx="48826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628560" y="2952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71320" y="225936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市场机会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28560" y="3314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38080" y="2835360"/>
            <a:ext cx="5013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中国精品咖啡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2024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市场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¥1,300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亿，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CAGR ~25%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28560" y="36763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38080" y="3197520"/>
            <a:ext cx="3926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⼀线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新⼀线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独⽴咖啡店数量年增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30%+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28560" y="40384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38080" y="3559320"/>
            <a:ext cx="5927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痛点：设计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-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2-4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平均单店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¥80–100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3921120"/>
            <a:ext cx="3896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机会：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标准化模板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独⽴品牌灵活度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2990520" y="1400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2" y="32"/>
                </a:cubicBezTo>
                <a:cubicBezTo>
                  <a:pt x="42" y="22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571320" y="2983320"/>
            <a:ext cx="573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产品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200400" y="1282680"/>
            <a:ext cx="1572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80 m²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临街标准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200400" y="1587600"/>
            <a:ext cx="1577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模块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：吧台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14 +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200400" y="1882800"/>
            <a:ext cx="187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32 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990520" y="2666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200400" y="2187720"/>
            <a:ext cx="1312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书架墙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200400" y="2549520"/>
            <a:ext cx="1572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30+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稳定座位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200400" y="2854440"/>
            <a:ext cx="151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平均客单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 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990520" y="36385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200400" y="3159360"/>
            <a:ext cx="1169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翻台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4×/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200400" y="3521160"/>
            <a:ext cx="1715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段式动线：点单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200400" y="3826080"/>
            <a:ext cx="1670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座位 → 离开，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990520" y="4609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200400" y="413064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不交叉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00400" y="4492800"/>
            <a:ext cx="1549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78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个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00400" y="4797720"/>
            <a:ext cx="1666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物体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200400" y="5092920"/>
            <a:ext cx="962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PBR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材质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80680" y="26287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809800" y="262872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80680" y="262872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809800" y="262872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80680" y="300024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809800" y="300024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80680" y="3371760"/>
            <a:ext cx="2229480" cy="381240"/>
          </a:xfrm>
          <a:custGeom>
            <a:avLst/>
            <a:gdLst/>
            <a:ahLst/>
            <a:rect l="0" t="0" r="r" b="b"/>
            <a:pathLst>
              <a:path w="6193" h="1059">
                <a:moveTo>
                  <a:pt x="0" y="0"/>
                </a:moveTo>
                <a:lnTo>
                  <a:pt x="6193" y="0"/>
                </a:lnTo>
                <a:lnTo>
                  <a:pt x="619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809800" y="3371760"/>
            <a:ext cx="2914920" cy="381240"/>
          </a:xfrm>
          <a:custGeom>
            <a:avLst/>
            <a:gdLst/>
            <a:ahLst/>
            <a:rect l="0" t="0" r="r" b="b"/>
            <a:pathLst>
              <a:path w="8097" h="1059">
                <a:moveTo>
                  <a:pt x="0" y="0"/>
                </a:moveTo>
                <a:lnTo>
                  <a:pt x="8097" y="0"/>
                </a:lnTo>
                <a:lnTo>
                  <a:pt x="809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80680" y="375264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809800" y="375264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80680" y="412416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809800" y="412416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580680" y="449568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809800" y="449568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80680" y="486720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809800" y="486720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580680" y="5238720"/>
            <a:ext cx="2229480" cy="371520"/>
          </a:xfrm>
          <a:custGeom>
            <a:avLst/>
            <a:gdLst/>
            <a:ahLst/>
            <a:rect l="0" t="0" r="r" b="b"/>
            <a:pathLst>
              <a:path w="6193" h="1032">
                <a:moveTo>
                  <a:pt x="0" y="0"/>
                </a:moveTo>
                <a:lnTo>
                  <a:pt x="6193" y="0"/>
                </a:lnTo>
                <a:lnTo>
                  <a:pt x="619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809800" y="5238720"/>
            <a:ext cx="2914920" cy="371520"/>
          </a:xfrm>
          <a:custGeom>
            <a:avLst/>
            <a:gdLst/>
            <a:ahLst/>
            <a:rect l="0" t="0" r="r" b="b"/>
            <a:pathLst>
              <a:path w="8097" h="1032">
                <a:moveTo>
                  <a:pt x="0" y="0"/>
                </a:moveTo>
                <a:lnTo>
                  <a:pt x="8097" y="0"/>
                </a:lnTo>
                <a:lnTo>
                  <a:pt x="809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80680" y="5609880"/>
            <a:ext cx="2229480" cy="371880"/>
          </a:xfrm>
          <a:custGeom>
            <a:avLst/>
            <a:gdLst/>
            <a:ahLst/>
            <a:rect l="0" t="0" r="r" b="b"/>
            <a:pathLst>
              <a:path w="6193" h="1033">
                <a:moveTo>
                  <a:pt x="0" y="0"/>
                </a:moveTo>
                <a:lnTo>
                  <a:pt x="6193" y="0"/>
                </a:lnTo>
                <a:lnTo>
                  <a:pt x="6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09800" y="5609880"/>
            <a:ext cx="2914920" cy="371880"/>
          </a:xfrm>
          <a:custGeom>
            <a:avLst/>
            <a:gdLst/>
            <a:ahLst/>
            <a:rect l="0" t="0" r="r" b="b"/>
            <a:pathLst>
              <a:path w="8097" h="1033">
                <a:moveTo>
                  <a:pt x="0" y="0"/>
                </a:moveTo>
                <a:lnTo>
                  <a:pt x="8097" y="0"/>
                </a:lnTo>
                <a:lnTo>
                  <a:pt x="809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7132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71320" y="262872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809800" y="262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819160" y="2628720"/>
            <a:ext cx="2905560" cy="9720"/>
          </a:xfrm>
          <a:custGeom>
            <a:avLst/>
            <a:gdLst/>
            <a:ah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714640" y="262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71320" y="300024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819160" y="3000240"/>
            <a:ext cx="2905560" cy="9720"/>
          </a:xfrm>
          <a:custGeom>
            <a:avLst/>
            <a:gdLst/>
            <a:ah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80980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7146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71320" y="337176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80980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819160" y="3371760"/>
            <a:ext cx="2905560" cy="9720"/>
          </a:xfrm>
          <a:custGeom>
            <a:avLst/>
            <a:gdLst/>
            <a:ah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7146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71320" y="3743280"/>
            <a:ext cx="2248200" cy="9720"/>
          </a:xfrm>
          <a:custGeom>
            <a:avLst/>
            <a:gdLst/>
            <a:ahLst/>
            <a:rect l="0" t="0" r="r" b="b"/>
            <a:pathLst>
              <a:path w="6245" h="27">
                <a:moveTo>
                  <a:pt x="0" y="0"/>
                </a:moveTo>
                <a:lnTo>
                  <a:pt x="6245" y="0"/>
                </a:lnTo>
                <a:lnTo>
                  <a:pt x="62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80980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819160" y="3743280"/>
            <a:ext cx="2905560" cy="9720"/>
          </a:xfrm>
          <a:custGeom>
            <a:avLst/>
            <a:gdLst/>
            <a:ahLst/>
            <a:rect l="0" t="0" r="r" b="b"/>
            <a:pathLst>
              <a:path w="8071" h="27">
                <a:moveTo>
                  <a:pt x="0" y="0"/>
                </a:moveTo>
                <a:lnTo>
                  <a:pt x="8071" y="0"/>
                </a:lnTo>
                <a:lnTo>
                  <a:pt x="80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7146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71320" y="411444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80980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819160" y="411444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146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1320" y="4495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71320" y="448596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809800" y="4495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819160" y="448596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714640" y="4495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71320" y="4867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71320" y="485748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809800" y="48672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819160" y="485748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14640" y="48672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71320" y="523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71320" y="522900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809800" y="52387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819160" y="522900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714640" y="52387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71320" y="561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71320" y="560988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809800" y="561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819160" y="560988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714640" y="561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71320" y="5981400"/>
            <a:ext cx="2248200" cy="10080"/>
          </a:xfrm>
          <a:custGeom>
            <a:avLst/>
            <a:gdLst/>
            <a:ahLst/>
            <a:rect l="0" t="0" r="r" b="b"/>
            <a:pathLst>
              <a:path w="6245" h="28">
                <a:moveTo>
                  <a:pt x="0" y="0"/>
                </a:moveTo>
                <a:lnTo>
                  <a:pt x="6245" y="0"/>
                </a:lnTo>
                <a:lnTo>
                  <a:pt x="62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819160" y="5981400"/>
            <a:ext cx="2905560" cy="10080"/>
          </a:xfrm>
          <a:custGeom>
            <a:avLst/>
            <a:gdLst/>
            <a:ahLst/>
            <a:rect l="0" t="0" r="r" b="b"/>
            <a:pathLst>
              <a:path w="8071" h="28">
                <a:moveTo>
                  <a:pt x="0" y="0"/>
                </a:moveTo>
                <a:lnTo>
                  <a:pt x="8071" y="0"/>
                </a:lnTo>
                <a:lnTo>
                  <a:pt x="80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71320" y="554400"/>
            <a:ext cx="3939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单位经济模型（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F&amp;B 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⽉度）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71320" y="1145160"/>
            <a:ext cx="16466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¥45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71320" y="224496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平均客单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330440" y="1145160"/>
            <a:ext cx="147276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330440" y="224496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⽇均客流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8089920" y="1145160"/>
            <a:ext cx="26744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¥162K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8089920" y="224496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⽉流⽔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04880" y="26949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94300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平均客单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2943000" y="3066120"/>
            <a:ext cx="288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（咖啡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¥35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轻⻝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加购）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⽇均客流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943000" y="3437640"/>
            <a:ext cx="279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单（⼯作⽇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 /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0488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⽉流⽔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943000" y="3809160"/>
            <a:ext cx="732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¥162,000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704880" y="4180680"/>
            <a:ext cx="1491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⻝材成本（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35%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943000" y="4180680"/>
            <a:ext cx="65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¥56,700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04880" y="4552200"/>
            <a:ext cx="2104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⼈⼯（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兼职）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943000" y="455220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¥32,000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704880" y="4923720"/>
            <a:ext cx="206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房租（临街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m²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⼀线）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943000" y="4923720"/>
            <a:ext cx="66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04880" y="52952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⽔电杂项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943000" y="52952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¥8,000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04880" y="5676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净利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943000" y="5676120"/>
            <a:ext cx="172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~¥25,000 /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⽉ </a:t>
            </a:r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(15%)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80680" y="225720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400040" y="225720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076560" y="225720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4181400" y="2257200"/>
            <a:ext cx="1057680" cy="371880"/>
          </a:xfrm>
          <a:custGeom>
            <a:avLst/>
            <a:gdLst/>
            <a:ahLst/>
            <a:rect l="0" t="0" r="r" b="b"/>
            <a:pathLst>
              <a:path w="2938" h="1033">
                <a:moveTo>
                  <a:pt x="0" y="0"/>
                </a:moveTo>
                <a:lnTo>
                  <a:pt x="2938" y="0"/>
                </a:lnTo>
                <a:lnTo>
                  <a:pt x="29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238720" y="225720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80680" y="225720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400040" y="225720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076560" y="225720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4181400" y="2257200"/>
            <a:ext cx="1057680" cy="371880"/>
          </a:xfrm>
          <a:custGeom>
            <a:avLst/>
            <a:gdLst/>
            <a:ahLst/>
            <a:rect l="0" t="0" r="r" b="b"/>
            <a:pathLst>
              <a:path w="2938" h="1033">
                <a:moveTo>
                  <a:pt x="0" y="0"/>
                </a:moveTo>
                <a:lnTo>
                  <a:pt x="2938" y="0"/>
                </a:lnTo>
                <a:lnTo>
                  <a:pt x="29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238720" y="225720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80680" y="262872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400040" y="262872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076560" y="262872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4181400" y="2628720"/>
            <a:ext cx="1057680" cy="371880"/>
          </a:xfrm>
          <a:custGeom>
            <a:avLst/>
            <a:gdLst/>
            <a:ahLst/>
            <a:rect l="0" t="0" r="r" b="b"/>
            <a:pathLst>
              <a:path w="2938" h="1033">
                <a:moveTo>
                  <a:pt x="0" y="0"/>
                </a:moveTo>
                <a:lnTo>
                  <a:pt x="2938" y="0"/>
                </a:lnTo>
                <a:lnTo>
                  <a:pt x="29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238720" y="262872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80680" y="300024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400040" y="30002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076560" y="300024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181400" y="3000240"/>
            <a:ext cx="1057680" cy="371880"/>
          </a:xfrm>
          <a:custGeom>
            <a:avLst/>
            <a:gdLst/>
            <a:ahLst/>
            <a:rect l="0" t="0" r="r" b="b"/>
            <a:pathLst>
              <a:path w="2938" h="1033">
                <a:moveTo>
                  <a:pt x="0" y="0"/>
                </a:moveTo>
                <a:lnTo>
                  <a:pt x="2938" y="0"/>
                </a:lnTo>
                <a:lnTo>
                  <a:pt x="29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238720" y="300024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80680" y="3371760"/>
            <a:ext cx="819720" cy="371880"/>
          </a:xfrm>
          <a:custGeom>
            <a:avLst/>
            <a:gdLst/>
            <a:ahLst/>
            <a:rect l="0" t="0" r="r" b="b"/>
            <a:pathLst>
              <a:path w="2277" h="1033">
                <a:moveTo>
                  <a:pt x="0" y="0"/>
                </a:moveTo>
                <a:lnTo>
                  <a:pt x="2277" y="0"/>
                </a:lnTo>
                <a:lnTo>
                  <a:pt x="227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400040" y="337176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076560" y="3371760"/>
            <a:ext cx="1105200" cy="371880"/>
          </a:xfrm>
          <a:custGeom>
            <a:avLst/>
            <a:gdLst/>
            <a:ahLst/>
            <a:rect l="0" t="0" r="r" b="b"/>
            <a:pathLst>
              <a:path w="3070" h="1033">
                <a:moveTo>
                  <a:pt x="0" y="0"/>
                </a:moveTo>
                <a:lnTo>
                  <a:pt x="3070" y="0"/>
                </a:lnTo>
                <a:lnTo>
                  <a:pt x="3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181400" y="3371760"/>
            <a:ext cx="1057680" cy="371880"/>
          </a:xfrm>
          <a:custGeom>
            <a:avLst/>
            <a:gdLst/>
            <a:ahLst/>
            <a:rect l="0" t="0" r="r" b="b"/>
            <a:pathLst>
              <a:path w="2938" h="1033">
                <a:moveTo>
                  <a:pt x="0" y="0"/>
                </a:moveTo>
                <a:lnTo>
                  <a:pt x="2938" y="0"/>
                </a:lnTo>
                <a:lnTo>
                  <a:pt x="29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238720" y="3371760"/>
            <a:ext cx="1067040" cy="371880"/>
          </a:xfrm>
          <a:custGeom>
            <a:avLst/>
            <a:gdLst/>
            <a:ahLst/>
            <a:rect l="0" t="0" r="r" b="b"/>
            <a:pathLst>
              <a:path w="2964" h="1033">
                <a:moveTo>
                  <a:pt x="0" y="0"/>
                </a:moveTo>
                <a:lnTo>
                  <a:pt x="2964" y="0"/>
                </a:lnTo>
                <a:lnTo>
                  <a:pt x="296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0680" y="3743280"/>
            <a:ext cx="819720" cy="371520"/>
          </a:xfrm>
          <a:custGeom>
            <a:avLst/>
            <a:gdLst/>
            <a:ahLst/>
            <a:rect l="0" t="0" r="r" b="b"/>
            <a:pathLst>
              <a:path w="2277" h="1032">
                <a:moveTo>
                  <a:pt x="0" y="0"/>
                </a:moveTo>
                <a:lnTo>
                  <a:pt x="2277" y="0"/>
                </a:lnTo>
                <a:lnTo>
                  <a:pt x="227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400040" y="3743280"/>
            <a:ext cx="1676880" cy="371520"/>
          </a:xfrm>
          <a:custGeom>
            <a:avLst/>
            <a:gdLst/>
            <a:ahLst/>
            <a:rect l="0" t="0" r="r" b="b"/>
            <a:pathLst>
              <a:path w="4658" h="1032">
                <a:moveTo>
                  <a:pt x="0" y="0"/>
                </a:moveTo>
                <a:lnTo>
                  <a:pt x="4658" y="0"/>
                </a:lnTo>
                <a:lnTo>
                  <a:pt x="465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076560" y="3743280"/>
            <a:ext cx="1105200" cy="371520"/>
          </a:xfrm>
          <a:custGeom>
            <a:avLst/>
            <a:gdLst/>
            <a:ahLst/>
            <a:rect l="0" t="0" r="r" b="b"/>
            <a:pathLst>
              <a:path w="3070" h="1032">
                <a:moveTo>
                  <a:pt x="0" y="0"/>
                </a:moveTo>
                <a:lnTo>
                  <a:pt x="3070" y="0"/>
                </a:lnTo>
                <a:lnTo>
                  <a:pt x="307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181400" y="3743280"/>
            <a:ext cx="1057680" cy="371520"/>
          </a:xfrm>
          <a:custGeom>
            <a:avLst/>
            <a:gdLst/>
            <a:ahLst/>
            <a:rect l="0" t="0" r="r" b="b"/>
            <a:pathLst>
              <a:path w="2938" h="1032">
                <a:moveTo>
                  <a:pt x="0" y="0"/>
                </a:moveTo>
                <a:lnTo>
                  <a:pt x="2938" y="0"/>
                </a:lnTo>
                <a:lnTo>
                  <a:pt x="293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238720" y="3743280"/>
            <a:ext cx="1067040" cy="371520"/>
          </a:xfrm>
          <a:custGeom>
            <a:avLst/>
            <a:gdLst/>
            <a:ahLst/>
            <a:rect l="0" t="0" r="r" b="b"/>
            <a:pathLst>
              <a:path w="2964" h="1032">
                <a:moveTo>
                  <a:pt x="0" y="0"/>
                </a:moveTo>
                <a:lnTo>
                  <a:pt x="2964" y="0"/>
                </a:lnTo>
                <a:lnTo>
                  <a:pt x="2964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80680" y="4114440"/>
            <a:ext cx="819720" cy="381600"/>
          </a:xfrm>
          <a:custGeom>
            <a:avLst/>
            <a:gdLst/>
            <a:ahLst/>
            <a:rect l="0" t="0" r="r" b="b"/>
            <a:pathLst>
              <a:path w="2277" h="1060">
                <a:moveTo>
                  <a:pt x="0" y="0"/>
                </a:moveTo>
                <a:lnTo>
                  <a:pt x="2277" y="0"/>
                </a:lnTo>
                <a:lnTo>
                  <a:pt x="227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400040" y="4114440"/>
            <a:ext cx="1676880" cy="381600"/>
          </a:xfrm>
          <a:custGeom>
            <a:avLst/>
            <a:gdLst/>
            <a:ahLst/>
            <a:rect l="0" t="0" r="r" b="b"/>
            <a:pathLst>
              <a:path w="4658" h="1060">
                <a:moveTo>
                  <a:pt x="0" y="0"/>
                </a:moveTo>
                <a:lnTo>
                  <a:pt x="4658" y="0"/>
                </a:lnTo>
                <a:lnTo>
                  <a:pt x="465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076560" y="4114440"/>
            <a:ext cx="1105200" cy="381600"/>
          </a:xfrm>
          <a:custGeom>
            <a:avLst/>
            <a:gdLst/>
            <a:ahLst/>
            <a:rect l="0" t="0" r="r" b="b"/>
            <a:pathLst>
              <a:path w="3070" h="1060">
                <a:moveTo>
                  <a:pt x="0" y="0"/>
                </a:moveTo>
                <a:lnTo>
                  <a:pt x="3070" y="0"/>
                </a:lnTo>
                <a:lnTo>
                  <a:pt x="307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181400" y="4114440"/>
            <a:ext cx="1057680" cy="381600"/>
          </a:xfrm>
          <a:custGeom>
            <a:avLst/>
            <a:gdLst/>
            <a:ahLst/>
            <a:rect l="0" t="0" r="r" b="b"/>
            <a:pathLst>
              <a:path w="2938" h="1060">
                <a:moveTo>
                  <a:pt x="0" y="0"/>
                </a:moveTo>
                <a:lnTo>
                  <a:pt x="2938" y="0"/>
                </a:lnTo>
                <a:lnTo>
                  <a:pt x="293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238720" y="4114440"/>
            <a:ext cx="1067040" cy="381600"/>
          </a:xfrm>
          <a:custGeom>
            <a:avLst/>
            <a:gdLst/>
            <a:ahLst/>
            <a:rect l="0" t="0" r="r" b="b"/>
            <a:pathLst>
              <a:path w="2964" h="1060">
                <a:moveTo>
                  <a:pt x="0" y="0"/>
                </a:moveTo>
                <a:lnTo>
                  <a:pt x="2964" y="0"/>
                </a:lnTo>
                <a:lnTo>
                  <a:pt x="296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71320" y="225720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39032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400040" y="225720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06684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076560" y="225720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17168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181400" y="225720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2387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248080" y="225720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29568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71320" y="262872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400040" y="262872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076560" y="262872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181400" y="262872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248080" y="2628720"/>
            <a:ext cx="1057680" cy="9720"/>
          </a:xfrm>
          <a:custGeom>
            <a:avLst/>
            <a:gdLst/>
            <a:ahLst/>
            <a:rect l="0" t="0" r="r" b="b"/>
            <a:pathLst>
              <a:path w="2938" h="27">
                <a:moveTo>
                  <a:pt x="0" y="0"/>
                </a:moveTo>
                <a:lnTo>
                  <a:pt x="2938" y="0"/>
                </a:lnTo>
                <a:lnTo>
                  <a:pt x="2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3903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0668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41716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2387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2956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71320" y="300024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3903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400040" y="300024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0668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3076560" y="300024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41716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4181400" y="300024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52387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5248080" y="3000240"/>
            <a:ext cx="1057680" cy="9720"/>
          </a:xfrm>
          <a:custGeom>
            <a:avLst/>
            <a:gdLst/>
            <a:ahLst/>
            <a:rect l="0" t="0" r="r" b="b"/>
            <a:pathLst>
              <a:path w="2938" h="27">
                <a:moveTo>
                  <a:pt x="0" y="0"/>
                </a:moveTo>
                <a:lnTo>
                  <a:pt x="2938" y="0"/>
                </a:lnTo>
                <a:lnTo>
                  <a:pt x="2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2956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571320" y="337176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3903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400040" y="33717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0668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076560" y="337176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1716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4181400" y="337176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2387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5248080" y="3371760"/>
            <a:ext cx="1057680" cy="9720"/>
          </a:xfrm>
          <a:custGeom>
            <a:avLst/>
            <a:gdLst/>
            <a:ahLst/>
            <a:rect l="0" t="0" r="r" b="b"/>
            <a:pathLst>
              <a:path w="2938" h="27">
                <a:moveTo>
                  <a:pt x="0" y="0"/>
                </a:moveTo>
                <a:lnTo>
                  <a:pt x="2938" y="0"/>
                </a:lnTo>
                <a:lnTo>
                  <a:pt x="2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62956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71320" y="374328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3903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400040" y="37432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30668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076560" y="3743280"/>
            <a:ext cx="1105200" cy="9720"/>
          </a:xfrm>
          <a:custGeom>
            <a:avLst/>
            <a:gdLst/>
            <a:ah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1716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181400" y="3743280"/>
            <a:ext cx="1067040" cy="9720"/>
          </a:xfrm>
          <a:custGeom>
            <a:avLst/>
            <a:gdLst/>
            <a:ah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2387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248080" y="3743280"/>
            <a:ext cx="1057680" cy="9720"/>
          </a:xfrm>
          <a:custGeom>
            <a:avLst/>
            <a:gdLst/>
            <a:ahLst/>
            <a:rect l="0" t="0" r="r" b="b"/>
            <a:pathLst>
              <a:path w="2938" h="27">
                <a:moveTo>
                  <a:pt x="0" y="0"/>
                </a:moveTo>
                <a:lnTo>
                  <a:pt x="2938" y="0"/>
                </a:lnTo>
                <a:lnTo>
                  <a:pt x="2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2956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71320" y="411444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3903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400040" y="411444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0668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3076560" y="411444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41716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181400" y="411444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2387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248080" y="411444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2956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71320" y="448596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400040" y="448596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3076560" y="4485960"/>
            <a:ext cx="1105200" cy="10080"/>
          </a:xfrm>
          <a:custGeom>
            <a:avLst/>
            <a:gdLst/>
            <a:ah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4181400" y="4485960"/>
            <a:ext cx="1067040" cy="10080"/>
          </a:xfrm>
          <a:custGeom>
            <a:avLst/>
            <a:gdLst/>
            <a:ahLst/>
            <a:rect l="0" t="0" r="r" b="b"/>
            <a:pathLst>
              <a:path w="2964" h="28">
                <a:moveTo>
                  <a:pt x="0" y="0"/>
                </a:moveTo>
                <a:lnTo>
                  <a:pt x="2964" y="0"/>
                </a:lnTo>
                <a:lnTo>
                  <a:pt x="29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248080" y="4485960"/>
            <a:ext cx="1057680" cy="10080"/>
          </a:xfrm>
          <a:custGeom>
            <a:avLst/>
            <a:gdLst/>
            <a:ahLst/>
            <a:rect l="0" t="0" r="r" b="b"/>
            <a:pathLst>
              <a:path w="2938" h="28">
                <a:moveTo>
                  <a:pt x="0" y="0"/>
                </a:moveTo>
                <a:lnTo>
                  <a:pt x="2938" y="0"/>
                </a:lnTo>
                <a:lnTo>
                  <a:pt x="2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71320" y="1668600"/>
            <a:ext cx="1617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vs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连锁对标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0488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527840" y="2323440"/>
            <a:ext cx="1505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Coﬀee Lab (</a:t>
            </a:r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本案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201120" y="2323440"/>
            <a:ext cx="848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% Arabica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4309200" y="2323440"/>
            <a:ext cx="61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Manner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371200" y="23234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瑞幸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04880" y="26949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527840" y="2694960"/>
            <a:ext cx="49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3201120" y="2694960"/>
            <a:ext cx="80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30-50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309200" y="2694960"/>
            <a:ext cx="80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20-40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371200" y="2694960"/>
            <a:ext cx="80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30-80 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704880" y="3066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527840" y="306612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201120" y="306612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¥55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309200" y="3066120"/>
            <a:ext cx="307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371200" y="3066120"/>
            <a:ext cx="27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¥18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04880" y="3437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527840" y="3437640"/>
            <a:ext cx="30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201120" y="3437640"/>
            <a:ext cx="61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以内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4309200" y="3437640"/>
            <a:ext cx="37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5-10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371200" y="3437640"/>
            <a:ext cx="47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10-20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04880" y="3809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定位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52784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第三空间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201120" y="3809160"/>
            <a:ext cx="88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快取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打卡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30920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街边快取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371200" y="3809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外带连锁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704880" y="4180680"/>
            <a:ext cx="56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527840" y="4180680"/>
            <a:ext cx="58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¥45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201120" y="4180680"/>
            <a:ext cx="73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¥60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309200" y="4180680"/>
            <a:ext cx="58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371200" y="4180680"/>
            <a:ext cx="58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¥25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571320" y="4569120"/>
            <a:ext cx="4105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差异化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：座位数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精品定位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标准化成本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2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"/>
          <p:cNvSpPr txBox="1"/>
          <p:nvPr/>
        </p:nvSpPr>
        <p:spPr>
          <a:xfrm>
            <a:off x="571320" y="2802240"/>
            <a:ext cx="2018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样板已成型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990520" y="15523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2" y="32"/>
                </a:cubicBezTo>
                <a:cubicBezTo>
                  <a:pt x="42" y="22"/>
                  <a:pt x="54" y="15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71320" y="316404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种格式交付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200400" y="1435320"/>
            <a:ext cx="1443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DXF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200400" y="1739880"/>
            <a:ext cx="1641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AutoCAD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直接开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990520" y="25142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200400" y="203544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3200400" y="2397240"/>
            <a:ext cx="1722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IFC4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团队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3200400" y="2702160"/>
            <a:ext cx="1523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Revit/ArchiCAD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990520" y="3485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200400" y="300672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协同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200400" y="3368880"/>
            <a:ext cx="1457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GLB/OBJ/FBX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200400" y="3673440"/>
            <a:ext cx="1514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→ 品牌营销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990520" y="445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3200400" y="397836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看板、⼩程序看店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200400" y="43405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所有⽂件已就位，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3200400" y="4645080"/>
            <a:ext cx="1634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复制到第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家店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3200400" y="4940280"/>
            <a:ext cx="129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=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换参数重跑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580680" y="2257200"/>
            <a:ext cx="724320" cy="381240"/>
          </a:xfrm>
          <a:custGeom>
            <a:avLst/>
            <a:gdLst/>
            <a:ahLst/>
            <a:rect l="0" t="0" r="r" b="b"/>
            <a:pathLst>
              <a:path w="2012" h="1059">
                <a:moveTo>
                  <a:pt x="0" y="0"/>
                </a:moveTo>
                <a:lnTo>
                  <a:pt x="2012" y="0"/>
                </a:lnTo>
                <a:lnTo>
                  <a:pt x="2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304640" y="2257200"/>
            <a:ext cx="2962800" cy="381240"/>
          </a:xfrm>
          <a:custGeom>
            <a:avLst/>
            <a:gdLst/>
            <a:ahLst/>
            <a:rect l="0" t="0" r="r" b="b"/>
            <a:pathLst>
              <a:path w="8230" h="1059">
                <a:moveTo>
                  <a:pt x="0" y="0"/>
                </a:moveTo>
                <a:lnTo>
                  <a:pt x="8230" y="0"/>
                </a:lnTo>
                <a:lnTo>
                  <a:pt x="82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580680" y="2257200"/>
            <a:ext cx="724320" cy="381240"/>
          </a:xfrm>
          <a:custGeom>
            <a:avLst/>
            <a:gdLst/>
            <a:ahLst/>
            <a:rect l="0" t="0" r="r" b="b"/>
            <a:pathLst>
              <a:path w="2012" h="1059">
                <a:moveTo>
                  <a:pt x="0" y="0"/>
                </a:moveTo>
                <a:lnTo>
                  <a:pt x="2012" y="0"/>
                </a:lnTo>
                <a:lnTo>
                  <a:pt x="201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304640" y="2257200"/>
            <a:ext cx="2962800" cy="381240"/>
          </a:xfrm>
          <a:custGeom>
            <a:avLst/>
            <a:gdLst/>
            <a:ahLst/>
            <a:rect l="0" t="0" r="r" b="b"/>
            <a:pathLst>
              <a:path w="8230" h="1059">
                <a:moveTo>
                  <a:pt x="0" y="0"/>
                </a:moveTo>
                <a:lnTo>
                  <a:pt x="8230" y="0"/>
                </a:lnTo>
                <a:lnTo>
                  <a:pt x="82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580680" y="263808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304640" y="263808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580680" y="300960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304640" y="300960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80680" y="338112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304640" y="338112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580680" y="375264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304640" y="375264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80680" y="412416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304640" y="412416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80680" y="4495680"/>
            <a:ext cx="724320" cy="371880"/>
          </a:xfrm>
          <a:custGeom>
            <a:avLst/>
            <a:gdLst/>
            <a:ahLst/>
            <a:rect l="0" t="0" r="r" b="b"/>
            <a:pathLst>
              <a:path w="2012" h="1033">
                <a:moveTo>
                  <a:pt x="0" y="0"/>
                </a:moveTo>
                <a:lnTo>
                  <a:pt x="2012" y="0"/>
                </a:lnTo>
                <a:lnTo>
                  <a:pt x="201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1304640" y="4495680"/>
            <a:ext cx="2962800" cy="371880"/>
          </a:xfrm>
          <a:custGeom>
            <a:avLst/>
            <a:gdLst/>
            <a:ahLst/>
            <a:rect l="0" t="0" r="r" b="b"/>
            <a:pathLst>
              <a:path w="8230" h="1033">
                <a:moveTo>
                  <a:pt x="0" y="0"/>
                </a:moveTo>
                <a:lnTo>
                  <a:pt x="8230" y="0"/>
                </a:lnTo>
                <a:lnTo>
                  <a:pt x="82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57132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571320" y="225720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295280" y="2257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304640" y="2257200"/>
            <a:ext cx="2962800" cy="10080"/>
          </a:xfrm>
          <a:custGeom>
            <a:avLst/>
            <a:gdLst/>
            <a:ahLst/>
            <a:rect l="0" t="0" r="r" b="b"/>
            <a:pathLst>
              <a:path w="8230" h="28">
                <a:moveTo>
                  <a:pt x="0" y="0"/>
                </a:moveTo>
                <a:lnTo>
                  <a:pt x="8230" y="0"/>
                </a:lnTo>
                <a:lnTo>
                  <a:pt x="8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257360" y="2257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571320" y="2628720"/>
            <a:ext cx="733680" cy="9720"/>
          </a:xfrm>
          <a:custGeom>
            <a:avLst/>
            <a:gdLst/>
            <a:ahLst/>
            <a:rect l="0" t="0" r="r" b="b"/>
            <a:pathLst>
              <a:path w="2038" h="27">
                <a:moveTo>
                  <a:pt x="0" y="0"/>
                </a:moveTo>
                <a:lnTo>
                  <a:pt x="2038" y="0"/>
                </a:lnTo>
                <a:lnTo>
                  <a:pt x="20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304640" y="2628720"/>
            <a:ext cx="2962800" cy="9720"/>
          </a:xfrm>
          <a:custGeom>
            <a:avLst/>
            <a:gdLst/>
            <a:ahLst/>
            <a:rect l="0" t="0" r="r" b="b"/>
            <a:pathLst>
              <a:path w="8230" h="27">
                <a:moveTo>
                  <a:pt x="0" y="0"/>
                </a:moveTo>
                <a:lnTo>
                  <a:pt x="8230" y="0"/>
                </a:lnTo>
                <a:lnTo>
                  <a:pt x="8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2952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425736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571320" y="3000240"/>
            <a:ext cx="733680" cy="9720"/>
          </a:xfrm>
          <a:custGeom>
            <a:avLst/>
            <a:gdLst/>
            <a:ahLst/>
            <a:rect l="0" t="0" r="r" b="b"/>
            <a:pathLst>
              <a:path w="2038" h="27">
                <a:moveTo>
                  <a:pt x="0" y="0"/>
                </a:moveTo>
                <a:lnTo>
                  <a:pt x="2038" y="0"/>
                </a:lnTo>
                <a:lnTo>
                  <a:pt x="20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2952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304640" y="3000240"/>
            <a:ext cx="2962800" cy="9720"/>
          </a:xfrm>
          <a:custGeom>
            <a:avLst/>
            <a:gdLst/>
            <a:ahLst/>
            <a:rect l="0" t="0" r="r" b="b"/>
            <a:pathLst>
              <a:path w="8230" h="27">
                <a:moveTo>
                  <a:pt x="0" y="0"/>
                </a:moveTo>
                <a:lnTo>
                  <a:pt x="8230" y="0"/>
                </a:lnTo>
                <a:lnTo>
                  <a:pt x="8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25736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71320" y="3371760"/>
            <a:ext cx="733680" cy="9720"/>
          </a:xfrm>
          <a:custGeom>
            <a:avLst/>
            <a:gdLst/>
            <a:ahLst/>
            <a:rect l="0" t="0" r="r" b="b"/>
            <a:pathLst>
              <a:path w="2038" h="27">
                <a:moveTo>
                  <a:pt x="0" y="0"/>
                </a:moveTo>
                <a:lnTo>
                  <a:pt x="2038" y="0"/>
                </a:lnTo>
                <a:lnTo>
                  <a:pt x="20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2952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304640" y="3371760"/>
            <a:ext cx="2962800" cy="9720"/>
          </a:xfrm>
          <a:custGeom>
            <a:avLst/>
            <a:gdLst/>
            <a:ahLst/>
            <a:rect l="0" t="0" r="r" b="b"/>
            <a:pathLst>
              <a:path w="8230" h="27">
                <a:moveTo>
                  <a:pt x="0" y="0"/>
                </a:moveTo>
                <a:lnTo>
                  <a:pt x="8230" y="0"/>
                </a:lnTo>
                <a:lnTo>
                  <a:pt x="8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25736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571320" y="3743280"/>
            <a:ext cx="733680" cy="9720"/>
          </a:xfrm>
          <a:custGeom>
            <a:avLst/>
            <a:gdLst/>
            <a:ahLst/>
            <a:rect l="0" t="0" r="r" b="b"/>
            <a:pathLst>
              <a:path w="2038" h="27">
                <a:moveTo>
                  <a:pt x="0" y="0"/>
                </a:moveTo>
                <a:lnTo>
                  <a:pt x="2038" y="0"/>
                </a:lnTo>
                <a:lnTo>
                  <a:pt x="20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2952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304640" y="3743280"/>
            <a:ext cx="2962800" cy="9720"/>
          </a:xfrm>
          <a:custGeom>
            <a:avLst/>
            <a:gdLst/>
            <a:ahLst/>
            <a:rect l="0" t="0" r="r" b="b"/>
            <a:pathLst>
              <a:path w="8230" h="27">
                <a:moveTo>
                  <a:pt x="0" y="0"/>
                </a:moveTo>
                <a:lnTo>
                  <a:pt x="8230" y="0"/>
                </a:lnTo>
                <a:lnTo>
                  <a:pt x="8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425736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71320" y="411444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2952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304640" y="4114440"/>
            <a:ext cx="2962800" cy="10080"/>
          </a:xfrm>
          <a:custGeom>
            <a:avLst/>
            <a:gdLst/>
            <a:ahLst/>
            <a:rect l="0" t="0" r="r" b="b"/>
            <a:pathLst>
              <a:path w="8230" h="28">
                <a:moveTo>
                  <a:pt x="0" y="0"/>
                </a:moveTo>
                <a:lnTo>
                  <a:pt x="8230" y="0"/>
                </a:lnTo>
                <a:lnTo>
                  <a:pt x="8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425736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71320" y="4485960"/>
            <a:ext cx="733680" cy="10080"/>
          </a:xfrm>
          <a:custGeom>
            <a:avLst/>
            <a:gdLst/>
            <a:ahLst/>
            <a:rect l="0" t="0" r="r" b="b"/>
            <a:pathLst>
              <a:path w="2038" h="28">
                <a:moveTo>
                  <a:pt x="0" y="0"/>
                </a:moveTo>
                <a:lnTo>
                  <a:pt x="2038" y="0"/>
                </a:lnTo>
                <a:lnTo>
                  <a:pt x="20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2952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304640" y="4485960"/>
            <a:ext cx="2962800" cy="10080"/>
          </a:xfrm>
          <a:custGeom>
            <a:avLst/>
            <a:gdLst/>
            <a:ahLst/>
            <a:rect l="0" t="0" r="r" b="b"/>
            <a:pathLst>
              <a:path w="8230" h="28">
                <a:moveTo>
                  <a:pt x="0" y="0"/>
                </a:moveTo>
                <a:lnTo>
                  <a:pt x="8230" y="0"/>
                </a:lnTo>
                <a:lnTo>
                  <a:pt x="82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425736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71320" y="4867200"/>
            <a:ext cx="733680" cy="9720"/>
          </a:xfrm>
          <a:custGeom>
            <a:avLst/>
            <a:gdLst/>
            <a:ahLst/>
            <a:rect l="0" t="0" r="r" b="b"/>
            <a:pathLst>
              <a:path w="2038" h="27">
                <a:moveTo>
                  <a:pt x="0" y="0"/>
                </a:moveTo>
                <a:lnTo>
                  <a:pt x="2038" y="0"/>
                </a:lnTo>
                <a:lnTo>
                  <a:pt x="20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304640" y="4867200"/>
            <a:ext cx="2962800" cy="9720"/>
          </a:xfrm>
          <a:custGeom>
            <a:avLst/>
            <a:gdLst/>
            <a:ahLst/>
            <a:rect l="0" t="0" r="r" b="b"/>
            <a:pathLst>
              <a:path w="8230" h="27">
                <a:moveTo>
                  <a:pt x="0" y="0"/>
                </a:moveTo>
                <a:lnTo>
                  <a:pt x="8230" y="0"/>
                </a:lnTo>
                <a:lnTo>
                  <a:pt x="82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571320" y="1668600"/>
            <a:ext cx="2303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周从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0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到开业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704880" y="2323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431000" y="23234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⾥程碑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04880" y="2694960"/>
            <a:ext cx="2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1431000" y="2694960"/>
            <a:ext cx="288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签约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报建（消防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⻝品卫⽣许可）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704880" y="30661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431000" y="3066120"/>
            <a:ext cx="133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⽔电粗装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04880" y="3437640"/>
            <a:ext cx="46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W3-4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431000" y="3437640"/>
            <a:ext cx="268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后厨排烟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瓷砖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04880" y="3809160"/>
            <a:ext cx="46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W5-6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1431000" y="380916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吧台定制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家具进场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04880" y="4180680"/>
            <a:ext cx="25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431000" y="4180680"/>
            <a:ext cx="2674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设备安装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咖啡师培训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试营业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704880" y="455220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431000" y="455220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正式开业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⾸发营销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80680" y="188568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3552480" y="18856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80680" y="188568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3552480" y="18856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80680" y="2257200"/>
            <a:ext cx="2972160" cy="381240"/>
          </a:xfrm>
          <a:custGeom>
            <a:avLst/>
            <a:gdLst/>
            <a:ahLst/>
            <a:rect l="0" t="0" r="r" b="b"/>
            <a:pathLst>
              <a:path w="8256" h="1059">
                <a:moveTo>
                  <a:pt x="0" y="0"/>
                </a:moveTo>
                <a:lnTo>
                  <a:pt x="8256" y="0"/>
                </a:lnTo>
                <a:lnTo>
                  <a:pt x="825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552480" y="2257200"/>
            <a:ext cx="1029240" cy="381240"/>
          </a:xfrm>
          <a:custGeom>
            <a:avLst/>
            <a:gdLst/>
            <a:ahLst/>
            <a:rect l="0" t="0" r="r" b="b"/>
            <a:pathLst>
              <a:path w="2859" h="1059">
                <a:moveTo>
                  <a:pt x="0" y="0"/>
                </a:moveTo>
                <a:lnTo>
                  <a:pt x="2859" y="0"/>
                </a:lnTo>
                <a:lnTo>
                  <a:pt x="285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80680" y="263808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552480" y="26380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80680" y="300960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3552480" y="300960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80680" y="338112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552480" y="338112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80680" y="375264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552480" y="375264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80680" y="412416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3552480" y="412416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80680" y="449568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552480" y="449568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80680" y="4867200"/>
            <a:ext cx="2972160" cy="371880"/>
          </a:xfrm>
          <a:custGeom>
            <a:avLst/>
            <a:gdLst/>
            <a:ahLst/>
            <a:rect l="0" t="0" r="r" b="b"/>
            <a:pathLst>
              <a:path w="8256" h="1033">
                <a:moveTo>
                  <a:pt x="0" y="0"/>
                </a:moveTo>
                <a:lnTo>
                  <a:pt x="8256" y="0"/>
                </a:lnTo>
                <a:lnTo>
                  <a:pt x="825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3552480" y="4867200"/>
            <a:ext cx="1029240" cy="371880"/>
          </a:xfrm>
          <a:custGeom>
            <a:avLst/>
            <a:gdLst/>
            <a:ahLst/>
            <a:rect l="0" t="0" r="r" b="b"/>
            <a:pathLst>
              <a:path w="2859" h="1033">
                <a:moveTo>
                  <a:pt x="0" y="0"/>
                </a:moveTo>
                <a:lnTo>
                  <a:pt x="2859" y="0"/>
                </a:lnTo>
                <a:lnTo>
                  <a:pt x="28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571320" y="1885680"/>
            <a:ext cx="2991240" cy="10440"/>
          </a:xfrm>
          <a:custGeom>
            <a:avLst/>
            <a:gdLst/>
            <a:ahLst/>
            <a:rect l="0" t="0" r="r" b="b"/>
            <a:pathLst>
              <a:path w="8309" h="29">
                <a:moveTo>
                  <a:pt x="0" y="0"/>
                </a:moveTo>
                <a:lnTo>
                  <a:pt x="8309" y="0"/>
                </a:lnTo>
                <a:lnTo>
                  <a:pt x="830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55248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3562200" y="1885680"/>
            <a:ext cx="1019520" cy="10440"/>
          </a:xfrm>
          <a:custGeom>
            <a:avLst/>
            <a:gdLst/>
            <a:ahLst/>
            <a:rect l="0" t="0" r="r" b="b"/>
            <a:pathLst>
              <a:path w="2832" h="29">
                <a:moveTo>
                  <a:pt x="0" y="0"/>
                </a:moveTo>
                <a:lnTo>
                  <a:pt x="2832" y="0"/>
                </a:lnTo>
                <a:lnTo>
                  <a:pt x="283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57164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1320" y="225720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3562200" y="225720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355248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457164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571320" y="262872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355248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562200" y="262872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457164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571320" y="300024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355248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3562200" y="300024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457164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71320" y="337176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355248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3562200" y="337176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45716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71320" y="374328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55248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3562200" y="374328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457164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571320" y="411444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355248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3562200" y="411444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457164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571320" y="448596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55248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3562200" y="4485960"/>
            <a:ext cx="1019520" cy="10080"/>
          </a:xfrm>
          <a:custGeom>
            <a:avLst/>
            <a:gdLst/>
            <a:ahLst/>
            <a:rect l="0" t="0" r="r" b="b"/>
            <a:pathLst>
              <a:path w="2832" h="28">
                <a:moveTo>
                  <a:pt x="0" y="0"/>
                </a:moveTo>
                <a:lnTo>
                  <a:pt x="2832" y="0"/>
                </a:lnTo>
                <a:lnTo>
                  <a:pt x="28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457164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71320" y="486720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355248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562200" y="486720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457164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71320" y="523872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3562200" y="5238720"/>
            <a:ext cx="1019520" cy="9720"/>
          </a:xfrm>
          <a:custGeom>
            <a:avLst/>
            <a:gdLst/>
            <a:ahLst/>
            <a:rect l="0" t="0" r="r" b="b"/>
            <a:pathLst>
              <a:path w="2832" h="27">
                <a:moveTo>
                  <a:pt x="0" y="0"/>
                </a:moveTo>
                <a:lnTo>
                  <a:pt x="2832" y="0"/>
                </a:lnTo>
                <a:lnTo>
                  <a:pt x="28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571320" y="1297440"/>
            <a:ext cx="2861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CAPEX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明细（单店）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683520" y="195192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04880" y="2323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装修硬装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683520" y="2323440"/>
            <a:ext cx="62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04880" y="2694960"/>
            <a:ext cx="290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后厨设备（含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683520" y="2694960"/>
            <a:ext cx="62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家具软装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3683520" y="306612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照明电器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683520" y="3437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704880" y="3809160"/>
            <a:ext cx="13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绿植陈设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683520" y="38091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硬件合计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3683520" y="4180680"/>
            <a:ext cx="66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704880" y="455220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⾸⽉营运资⾦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许可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683520" y="455220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04880" y="4933080"/>
            <a:ext cx="85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总 </a:t>
            </a:r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CAPEX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683520" y="4933080"/>
            <a:ext cx="7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¥530,000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76000" y="2566800"/>
            <a:ext cx="11039760" cy="1543320"/>
          </a:xfrm>
          <a:custGeom>
            <a:avLst/>
            <a:gdLst/>
            <a:ahLst/>
            <a:rect l="0" t="0" r="r" b="b"/>
            <a:pathLst>
              <a:path w="30666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0521" y="0"/>
                </a:lnTo>
                <a:cubicBezTo>
                  <a:pt x="30530" y="0"/>
                  <a:pt x="30540" y="1"/>
                  <a:pt x="30549" y="3"/>
                </a:cubicBezTo>
                <a:cubicBezTo>
                  <a:pt x="30559" y="5"/>
                  <a:pt x="30568" y="7"/>
                  <a:pt x="30577" y="11"/>
                </a:cubicBezTo>
                <a:cubicBezTo>
                  <a:pt x="30585" y="15"/>
                  <a:pt x="30594" y="19"/>
                  <a:pt x="30602" y="25"/>
                </a:cubicBezTo>
                <a:cubicBezTo>
                  <a:pt x="30610" y="30"/>
                  <a:pt x="30617" y="36"/>
                  <a:pt x="30624" y="43"/>
                </a:cubicBezTo>
                <a:cubicBezTo>
                  <a:pt x="30631" y="49"/>
                  <a:pt x="30637" y="57"/>
                  <a:pt x="30642" y="65"/>
                </a:cubicBezTo>
                <a:cubicBezTo>
                  <a:pt x="30647" y="73"/>
                  <a:pt x="30652" y="81"/>
                  <a:pt x="30655" y="90"/>
                </a:cubicBezTo>
                <a:cubicBezTo>
                  <a:pt x="30659" y="99"/>
                  <a:pt x="30662" y="108"/>
                  <a:pt x="30664" y="117"/>
                </a:cubicBezTo>
                <a:cubicBezTo>
                  <a:pt x="30665" y="127"/>
                  <a:pt x="30666" y="136"/>
                  <a:pt x="30666" y="146"/>
                </a:cubicBezTo>
                <a:lnTo>
                  <a:pt x="30666" y="4142"/>
                </a:lnTo>
                <a:cubicBezTo>
                  <a:pt x="30666" y="4151"/>
                  <a:pt x="30665" y="4161"/>
                  <a:pt x="30664" y="4170"/>
                </a:cubicBezTo>
                <a:cubicBezTo>
                  <a:pt x="30662" y="4180"/>
                  <a:pt x="30659" y="4189"/>
                  <a:pt x="30655" y="4197"/>
                </a:cubicBezTo>
                <a:cubicBezTo>
                  <a:pt x="30652" y="4206"/>
                  <a:pt x="30647" y="4215"/>
                  <a:pt x="30642" y="4223"/>
                </a:cubicBezTo>
                <a:cubicBezTo>
                  <a:pt x="30637" y="4231"/>
                  <a:pt x="30631" y="4238"/>
                  <a:pt x="30624" y="4245"/>
                </a:cubicBezTo>
                <a:cubicBezTo>
                  <a:pt x="30617" y="4251"/>
                  <a:pt x="30610" y="4257"/>
                  <a:pt x="30602" y="4263"/>
                </a:cubicBezTo>
                <a:cubicBezTo>
                  <a:pt x="30594" y="4268"/>
                  <a:pt x="30585" y="4273"/>
                  <a:pt x="30577" y="4276"/>
                </a:cubicBezTo>
                <a:cubicBezTo>
                  <a:pt x="30568" y="4280"/>
                  <a:pt x="30559" y="4283"/>
                  <a:pt x="30549" y="4284"/>
                </a:cubicBezTo>
                <a:cubicBezTo>
                  <a:pt x="30540" y="4286"/>
                  <a:pt x="30530" y="4287"/>
                  <a:pt x="30521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7" y="4284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19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571320" y="1973520"/>
            <a:ext cx="143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回收期模型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733320" y="269712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⽉净利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267920" y="2720880"/>
            <a:ext cx="1396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  = ¥25,000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661840" y="2697120"/>
            <a:ext cx="10706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（保守，客流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730680" y="272088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120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4266720" y="269712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4444920" y="272088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4552200" y="26971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⽇）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33320" y="290700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乐观情景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445760" y="2930400"/>
            <a:ext cx="1181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= ¥42,000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2625480" y="2907000"/>
            <a:ext cx="5356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（客流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3159720" y="2930400"/>
            <a:ext cx="537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150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3696120" y="290700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单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873960" y="293040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/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3981240" y="2907000"/>
            <a:ext cx="1789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⽇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159440" y="2930400"/>
            <a:ext cx="3229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+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481280" y="2907000"/>
            <a:ext cx="124884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轻⻝占⽐提升）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33320" y="331632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保守回收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445760" y="334008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= 530K / 25K  ≈ 21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3697920" y="331632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33320" y="3516480"/>
            <a:ext cx="7138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乐观回收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445760" y="3539880"/>
            <a:ext cx="2255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  = 530K / 42K  ≈ 13 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3697920" y="351648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个⽉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33320" y="3749400"/>
            <a:ext cx="1718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IRR (3Y) ≈ 28% (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44908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保守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805480" y="3749400"/>
            <a:ext cx="966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 / 52% (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770640" y="3726000"/>
            <a:ext cx="35748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41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乐观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126680" y="3749400"/>
            <a:ext cx="177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1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571320" y="4264200"/>
            <a:ext cx="4523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敏感因⼦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：⽇均客流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⻝材成本率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房租占⽐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80680" y="244764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952280" y="244764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80680" y="244764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952280" y="244764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80680" y="281916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1952280" y="281916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80680" y="319068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952280" y="319068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580680" y="356220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1952280" y="356220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80680" y="3933720"/>
            <a:ext cx="1371960" cy="371880"/>
          </a:xfrm>
          <a:custGeom>
            <a:avLst/>
            <a:gdLst/>
            <a:ahLst/>
            <a:rect l="0" t="0" r="r" b="b"/>
            <a:pathLst>
              <a:path w="3811" h="1033">
                <a:moveTo>
                  <a:pt x="0" y="0"/>
                </a:moveTo>
                <a:lnTo>
                  <a:pt x="3811" y="0"/>
                </a:lnTo>
                <a:lnTo>
                  <a:pt x="3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952280" y="3933720"/>
            <a:ext cx="3305520" cy="371880"/>
          </a:xfrm>
          <a:custGeom>
            <a:avLst/>
            <a:gdLst/>
            <a:ahLst/>
            <a:rect l="0" t="0" r="r" b="b"/>
            <a:pathLst>
              <a:path w="9182" h="1033">
                <a:moveTo>
                  <a:pt x="0" y="0"/>
                </a:moveTo>
                <a:lnTo>
                  <a:pt x="9182" y="0"/>
                </a:lnTo>
                <a:lnTo>
                  <a:pt x="918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80680" y="4305240"/>
            <a:ext cx="1371960" cy="381240"/>
          </a:xfrm>
          <a:custGeom>
            <a:avLst/>
            <a:gdLst/>
            <a:ahLst/>
            <a:rect l="0" t="0" r="r" b="b"/>
            <a:pathLst>
              <a:path w="3811" h="1059">
                <a:moveTo>
                  <a:pt x="0" y="0"/>
                </a:moveTo>
                <a:lnTo>
                  <a:pt x="3811" y="0"/>
                </a:lnTo>
                <a:lnTo>
                  <a:pt x="381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952280" y="4305240"/>
            <a:ext cx="3305520" cy="381240"/>
          </a:xfrm>
          <a:custGeom>
            <a:avLst/>
            <a:gdLst/>
            <a:ahLst/>
            <a:rect l="0" t="0" r="r" b="b"/>
            <a:pathLst>
              <a:path w="9182" h="1059">
                <a:moveTo>
                  <a:pt x="0" y="0"/>
                </a:moveTo>
                <a:lnTo>
                  <a:pt x="9182" y="0"/>
                </a:lnTo>
                <a:lnTo>
                  <a:pt x="918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71320" y="243828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9429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952280" y="243828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525744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71320" y="2819160"/>
            <a:ext cx="1381320" cy="10080"/>
          </a:xfrm>
          <a:custGeom>
            <a:avLst/>
            <a:gdLst/>
            <a:ahLst/>
            <a:rect l="0" t="0" r="r" b="b"/>
            <a:pathLst>
              <a:path w="3837" h="28">
                <a:moveTo>
                  <a:pt x="0" y="0"/>
                </a:moveTo>
                <a:lnTo>
                  <a:pt x="3837" y="0"/>
                </a:lnTo>
                <a:lnTo>
                  <a:pt x="38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1952280" y="2819160"/>
            <a:ext cx="3315240" cy="10080"/>
          </a:xfrm>
          <a:custGeom>
            <a:avLst/>
            <a:gdLst/>
            <a:ahLst/>
            <a:rect l="0" t="0" r="r" b="b"/>
            <a:pathLst>
              <a:path w="9209" h="28">
                <a:moveTo>
                  <a:pt x="0" y="0"/>
                </a:moveTo>
                <a:lnTo>
                  <a:pt x="9209" y="0"/>
                </a:lnTo>
                <a:lnTo>
                  <a:pt x="92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9429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25744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571320" y="319068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9429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952280" y="319068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525744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571320" y="356220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9429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952280" y="356220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5257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571320" y="393372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9429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952280" y="393372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525744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571320" y="430524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9429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952280" y="430524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525744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571320" y="4676760"/>
            <a:ext cx="1381320" cy="9720"/>
          </a:xfrm>
          <a:custGeom>
            <a:avLst/>
            <a:gdLst/>
            <a:ahLst/>
            <a:rect l="0" t="0" r="r" b="b"/>
            <a:pathLst>
              <a:path w="3837" h="27">
                <a:moveTo>
                  <a:pt x="0" y="0"/>
                </a:moveTo>
                <a:lnTo>
                  <a:pt x="3837" y="0"/>
                </a:lnTo>
                <a:lnTo>
                  <a:pt x="38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952280" y="4676760"/>
            <a:ext cx="3315240" cy="9720"/>
          </a:xfrm>
          <a:custGeom>
            <a:avLst/>
            <a:gdLst/>
            <a:ahLst/>
            <a:rect l="0" t="0" r="r" b="b"/>
            <a:pathLst>
              <a:path w="9209" h="27">
                <a:moveTo>
                  <a:pt x="0" y="0"/>
                </a:moveTo>
                <a:lnTo>
                  <a:pt x="9209" y="0"/>
                </a:lnTo>
                <a:lnTo>
                  <a:pt x="92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571320" y="1859400"/>
            <a:ext cx="167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⻛险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缓解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⻛险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20764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缓解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04880" y="288540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客流不及预期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2076480" y="2885400"/>
            <a:ext cx="328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模板快速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A/B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改陈列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周内试新品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04880" y="325692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⻝材成本通胀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2076480" y="3256920"/>
            <a:ext cx="220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家供应商赛⻢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⽉度对账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7048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咖啡师流失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2076480" y="3628440"/>
            <a:ext cx="225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标准化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SOP 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内部培训体系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704880" y="3999600"/>
            <a:ext cx="120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消防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卫⽣整改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076480" y="3999600"/>
            <a:ext cx="314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设计阶段已纳⼊ ≥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出⼊⼝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独⽴后厨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04880" y="4371120"/>
            <a:ext cx="864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疫情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突发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2076480" y="4371120"/>
            <a:ext cx="267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外卖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⼩程序预约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会员卡预充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571320" y="258120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B899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571320" y="162072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本轮募资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28560" y="35715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571320" y="2839320"/>
            <a:ext cx="55753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¥300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落地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家店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验证可复制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28560" y="393372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60"/>
                  <a:pt x="191" y="172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3" y="160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838080" y="3454560"/>
            <a:ext cx="3569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单店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CAPEX ¥53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5 = ¥265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28560" y="42955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8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838080" y="3816360"/>
            <a:ext cx="3414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中央培训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软件：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¥35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838080" y="4178520"/>
            <a:ext cx="372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个⽉验证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LTV / CAC /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单店回收期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571320" y="4597560"/>
            <a:ext cx="45842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联系：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· StartUP-Building Team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85840" y="6409440"/>
            <a:ext cx="336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投资⼈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