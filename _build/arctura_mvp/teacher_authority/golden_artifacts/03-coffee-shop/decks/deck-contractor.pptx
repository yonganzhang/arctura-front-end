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571320" y="3162240"/>
            <a:ext cx="11049480" cy="57240"/>
          </a:xfrm>
          <a:custGeom>
            <a:avLst/>
            <a:gdLst/>
            <a:ahLst/>
            <a:rect l="0" t="0" r="r" b="b"/>
            <a:pathLst>
              <a:path w="30693" h="159">
                <a:moveTo>
                  <a:pt x="0" y="0"/>
                </a:moveTo>
                <a:lnTo>
                  <a:pt x="30693" y="0"/>
                </a:lnTo>
                <a:lnTo>
                  <a:pt x="30693" y="159"/>
                </a:lnTo>
                <a:lnTo>
                  <a:pt x="0" y="159"/>
                </a:lnTo>
                <a:lnTo>
                  <a:pt x="0" y="0"/>
                </a:ln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571320" y="2201760"/>
            <a:ext cx="320616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Coﬀee Lab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1320" y="3420360"/>
            <a:ext cx="2234520" cy="426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施⼯交付包 </a:t>
            </a:r>
            <a:r>
              <a:rPr lang="en-US" sz="240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571320" y="4015440"/>
            <a:ext cx="4026960" cy="320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DXF + IFC4 +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节点详图 </a:t>
            </a:r>
            <a:r>
              <a:rPr lang="en-US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8 </a:t>
            </a:r>
            <a:r>
              <a:rPr lang="zh-CN" sz="1800" b="1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周可开业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118450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2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0477080" cy="781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"/>
          <p:cNvPicPr/>
          <p:nvPr/>
        </p:nvPicPr>
        <p:blipFill>
          <a:blip r:embed="rId1"/>
          <a:stretch/>
        </p:blipFill>
        <p:spPr>
          <a:xfrm>
            <a:off x="571320" y="476280"/>
            <a:ext cx="11048760" cy="690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580680" y="103788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3238200" y="10378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3838320" y="10378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438440" y="10378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580680" y="103788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3238200" y="10378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838320" y="10378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4438440" y="10378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580680" y="140940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3238200" y="14094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838320" y="14094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4438440" y="140940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580680" y="178092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238200" y="17809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838320" y="17809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4438440" y="178092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580680" y="215244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3238200" y="21524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3838320" y="21524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4438440" y="215244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580680" y="252396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238200" y="25239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3838320" y="25239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438440" y="252396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580680" y="2895480"/>
            <a:ext cx="2657880" cy="381240"/>
          </a:xfrm>
          <a:custGeom>
            <a:avLst/>
            <a:gdLst/>
            <a:ahLst/>
            <a:rect l="0" t="0" r="r" b="b"/>
            <a:pathLst>
              <a:path w="7383" h="1059">
                <a:moveTo>
                  <a:pt x="0" y="0"/>
                </a:moveTo>
                <a:lnTo>
                  <a:pt x="7383" y="0"/>
                </a:lnTo>
                <a:lnTo>
                  <a:pt x="738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238200" y="289548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3838320" y="2895480"/>
            <a:ext cx="600480" cy="381240"/>
          </a:xfrm>
          <a:custGeom>
            <a:avLst/>
            <a:gdLst/>
            <a:ahLst/>
            <a:rect l="0" t="0" r="r" b="b"/>
            <a:pathLst>
              <a:path w="1668" h="1059">
                <a:moveTo>
                  <a:pt x="0" y="0"/>
                </a:moveTo>
                <a:lnTo>
                  <a:pt x="1668" y="0"/>
                </a:lnTo>
                <a:lnTo>
                  <a:pt x="166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4438440" y="2895480"/>
            <a:ext cx="1019520" cy="381240"/>
          </a:xfrm>
          <a:custGeom>
            <a:avLst/>
            <a:gdLst/>
            <a:ahLst/>
            <a:rect l="0" t="0" r="r" b="b"/>
            <a:pathLst>
              <a:path w="2832" h="1059">
                <a:moveTo>
                  <a:pt x="0" y="0"/>
                </a:moveTo>
                <a:lnTo>
                  <a:pt x="2832" y="0"/>
                </a:lnTo>
                <a:lnTo>
                  <a:pt x="2832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580680" y="327636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238200" y="32763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838320" y="327636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4438440" y="327636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580680" y="364788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238200" y="36478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838320" y="364788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4438440" y="364788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580680" y="401940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238200" y="40194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838320" y="401940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4438440" y="401940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580680" y="439092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238200" y="43909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3838320" y="43909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4438440" y="439092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580680" y="476244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3238200" y="47624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3838320" y="47624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4438440" y="476244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80680" y="5133960"/>
            <a:ext cx="2657880" cy="371520"/>
          </a:xfrm>
          <a:custGeom>
            <a:avLst/>
            <a:gdLst/>
            <a:ahLst/>
            <a:rect l="0" t="0" r="r" b="b"/>
            <a:pathLst>
              <a:path w="7383" h="1032">
                <a:moveTo>
                  <a:pt x="0" y="0"/>
                </a:moveTo>
                <a:lnTo>
                  <a:pt x="7383" y="0"/>
                </a:lnTo>
                <a:lnTo>
                  <a:pt x="7383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3238200" y="5133960"/>
            <a:ext cx="600480" cy="371520"/>
          </a:xfrm>
          <a:custGeom>
            <a:avLst/>
            <a:gdLst/>
            <a:ahLst/>
            <a:rect l="0" t="0" r="r" b="b"/>
            <a:pathLst>
              <a:path w="1668" h="1032">
                <a:moveTo>
                  <a:pt x="0" y="0"/>
                </a:moveTo>
                <a:lnTo>
                  <a:pt x="1668" y="0"/>
                </a:lnTo>
                <a:lnTo>
                  <a:pt x="166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3838320" y="5133960"/>
            <a:ext cx="600480" cy="371520"/>
          </a:xfrm>
          <a:custGeom>
            <a:avLst/>
            <a:gdLst/>
            <a:ahLst/>
            <a:rect l="0" t="0" r="r" b="b"/>
            <a:pathLst>
              <a:path w="1668" h="1032">
                <a:moveTo>
                  <a:pt x="0" y="0"/>
                </a:moveTo>
                <a:lnTo>
                  <a:pt x="1668" y="0"/>
                </a:lnTo>
                <a:lnTo>
                  <a:pt x="166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438440" y="5133960"/>
            <a:ext cx="1019520" cy="371520"/>
          </a:xfrm>
          <a:custGeom>
            <a:avLst/>
            <a:gdLst/>
            <a:ahLst/>
            <a:rect l="0" t="0" r="r" b="b"/>
            <a:pathLst>
              <a:path w="2832" h="1032">
                <a:moveTo>
                  <a:pt x="0" y="0"/>
                </a:moveTo>
                <a:lnTo>
                  <a:pt x="2832" y="0"/>
                </a:lnTo>
                <a:lnTo>
                  <a:pt x="2832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580680" y="550512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238200" y="5505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3838320" y="550512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4438440" y="550512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580680" y="5876640"/>
            <a:ext cx="2657880" cy="371880"/>
          </a:xfrm>
          <a:custGeom>
            <a:avLst/>
            <a:gdLst/>
            <a:ahLst/>
            <a:rect l="0" t="0" r="r" b="b"/>
            <a:pathLst>
              <a:path w="7383" h="1033">
                <a:moveTo>
                  <a:pt x="0" y="0"/>
                </a:moveTo>
                <a:lnTo>
                  <a:pt x="7383" y="0"/>
                </a:lnTo>
                <a:lnTo>
                  <a:pt x="73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3238200" y="5876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3838320" y="5876640"/>
            <a:ext cx="600480" cy="371880"/>
          </a:xfrm>
          <a:custGeom>
            <a:avLst/>
            <a:gdLst/>
            <a:ahLst/>
            <a:rect l="0" t="0" r="r" b="b"/>
            <a:pathLst>
              <a:path w="1668" h="1033">
                <a:moveTo>
                  <a:pt x="0" y="0"/>
                </a:moveTo>
                <a:lnTo>
                  <a:pt x="1668" y="0"/>
                </a:lnTo>
                <a:lnTo>
                  <a:pt x="166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438440" y="5876640"/>
            <a:ext cx="1019520" cy="371880"/>
          </a:xfrm>
          <a:custGeom>
            <a:avLst/>
            <a:gdLst/>
            <a:ahLst/>
            <a:rect l="0" t="0" r="r" b="b"/>
            <a:pathLst>
              <a:path w="2832" h="1033">
                <a:moveTo>
                  <a:pt x="0" y="0"/>
                </a:moveTo>
                <a:lnTo>
                  <a:pt x="2832" y="0"/>
                </a:lnTo>
                <a:lnTo>
                  <a:pt x="2832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71320" y="1037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571320" y="103788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3228840" y="1037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3238200" y="103788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3828960" y="1037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3838320" y="103788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4429080" y="10378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4438440" y="103788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457600" y="10378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71320" y="140940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3238200" y="14094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3838320" y="14094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4438440" y="140940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71320" y="1419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3228840" y="1419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3828960" y="1419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4429080" y="1419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5457600" y="1419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571320" y="1790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571320" y="178092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3228840" y="1790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3238200" y="17809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3828960" y="1790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3838320" y="17809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4429080" y="1790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4438440" y="178092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5457600" y="1790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571320" y="21621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571320" y="215244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3228840" y="21621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3238200" y="2152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3828960" y="21621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838320" y="21524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4429080" y="216216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4438440" y="215244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5457600" y="216216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71320" y="253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71320" y="252396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228840" y="253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238200" y="25239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3828960" y="253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3838320" y="25239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4429080" y="253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4438440" y="252396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457600" y="25333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571320" y="290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571320" y="289548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3228840" y="290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238200" y="28954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828960" y="290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3838320" y="289548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429080" y="290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4438440" y="289548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5457600" y="29048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57132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71320" y="326700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322884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3238200" y="32670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82896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838320" y="326700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429080" y="327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438440" y="326700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5457600" y="32763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571320" y="36478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571320" y="363852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3228840" y="36478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3238200" y="36385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3828960" y="36478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838320" y="363852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4429080" y="36478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4438440" y="363852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5457600" y="36478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571320" y="4019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571320" y="400968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3228840" y="4019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3238200" y="400968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3828960" y="4019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3838320" y="400968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4429080" y="40194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4438440" y="400968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5457600" y="40194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571320" y="4390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571320" y="438120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3228840" y="4390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238200" y="43812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828960" y="4390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3838320" y="438120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4429080" y="4390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4438440" y="438120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5457600" y="4390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571320" y="4762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571320" y="475272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228840" y="4762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238200" y="47527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3828960" y="4762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3838320" y="47527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4429080" y="476244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4438440" y="475272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5457600" y="476244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571320" y="514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571320" y="5133960"/>
            <a:ext cx="2667240" cy="9720"/>
          </a:xfrm>
          <a:custGeom>
            <a:avLst/>
            <a:gdLst/>
            <a:ahLst/>
            <a:rect l="0" t="0" r="r" b="b"/>
            <a:pathLst>
              <a:path w="7409" h="27">
                <a:moveTo>
                  <a:pt x="0" y="0"/>
                </a:moveTo>
                <a:lnTo>
                  <a:pt x="7409" y="0"/>
                </a:lnTo>
                <a:lnTo>
                  <a:pt x="74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3228840" y="514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3238200" y="51339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3828960" y="514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3838320" y="5133960"/>
            <a:ext cx="600480" cy="9720"/>
          </a:xfrm>
          <a:custGeom>
            <a:avLst/>
            <a:gdLst/>
            <a:ahLst/>
            <a:rect l="0" t="0" r="r" b="b"/>
            <a:pathLst>
              <a:path w="1668" h="27">
                <a:moveTo>
                  <a:pt x="0" y="0"/>
                </a:moveTo>
                <a:lnTo>
                  <a:pt x="1668" y="0"/>
                </a:lnTo>
                <a:lnTo>
                  <a:pt x="166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4429080" y="51433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4438440" y="5133960"/>
            <a:ext cx="1029240" cy="9720"/>
          </a:xfrm>
          <a:custGeom>
            <a:avLst/>
            <a:gdLst/>
            <a:ahLst/>
            <a:rect l="0" t="0" r="r" b="b"/>
            <a:pathLst>
              <a:path w="2859" h="27">
                <a:moveTo>
                  <a:pt x="0" y="0"/>
                </a:moveTo>
                <a:lnTo>
                  <a:pt x="2859" y="0"/>
                </a:lnTo>
                <a:lnTo>
                  <a:pt x="285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5457600" y="51433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571320" y="551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571320" y="550512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3228840" y="551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3238200" y="55051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828960" y="551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838320" y="550512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429080" y="55148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4438440" y="550512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5457600" y="55148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571320" y="588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571320" y="587664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3228840" y="588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238200" y="58766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3828960" y="588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3838320" y="587664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4429080" y="58863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4438440" y="587664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5457600" y="58863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571320" y="6248160"/>
            <a:ext cx="2667240" cy="10080"/>
          </a:xfrm>
          <a:custGeom>
            <a:avLst/>
            <a:gdLst/>
            <a:ahLst/>
            <a:rect l="0" t="0" r="r" b="b"/>
            <a:pathLst>
              <a:path w="7409" h="28">
                <a:moveTo>
                  <a:pt x="0" y="0"/>
                </a:moveTo>
                <a:lnTo>
                  <a:pt x="7409" y="0"/>
                </a:lnTo>
                <a:lnTo>
                  <a:pt x="74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3238200" y="62481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3838320" y="6248160"/>
            <a:ext cx="600480" cy="10080"/>
          </a:xfrm>
          <a:custGeom>
            <a:avLst/>
            <a:gdLst/>
            <a:ahLst/>
            <a:rect l="0" t="0" r="r" b="b"/>
            <a:pathLst>
              <a:path w="1668" h="28">
                <a:moveTo>
                  <a:pt x="0" y="0"/>
                </a:moveTo>
                <a:lnTo>
                  <a:pt x="1668" y="0"/>
                </a:lnTo>
                <a:lnTo>
                  <a:pt x="166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4438440" y="6248160"/>
            <a:ext cx="1029240" cy="10080"/>
          </a:xfrm>
          <a:custGeom>
            <a:avLst/>
            <a:gdLst/>
            <a:ahLst/>
            <a:rect l="0" t="0" r="r" b="b"/>
            <a:pathLst>
              <a:path w="2859" h="28">
                <a:moveTo>
                  <a:pt x="0" y="0"/>
                </a:moveTo>
                <a:lnTo>
                  <a:pt x="2859" y="0"/>
                </a:lnTo>
                <a:lnTo>
                  <a:pt x="285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571320" y="449640"/>
            <a:ext cx="19638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BOQ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主项汇总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704880" y="1104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分项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3362400" y="1104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 txBox="1"/>
          <p:nvPr/>
        </p:nvSpPr>
        <p:spPr>
          <a:xfrm>
            <a:off x="3962520" y="11041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单位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4562640" y="1104120"/>
            <a:ext cx="549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⾦额 </a:t>
            </a:r>
            <a:r>
              <a:rPr lang="en-US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704880" y="1475640"/>
            <a:ext cx="165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砌筑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粉刷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3362400" y="147564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3962520" y="1475640"/>
            <a:ext cx="23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4562640" y="14756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704880" y="1847160"/>
            <a:ext cx="22302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⽔电粗装（强弱电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给排⽔）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3362400" y="1847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3962520" y="18471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562640" y="184716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704880" y="2218680"/>
            <a:ext cx="184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吊顶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地⾯（⽔磨⽯）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362400" y="2218680"/>
            <a:ext cx="20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3962520" y="2218680"/>
            <a:ext cx="231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m²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4562640" y="221868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704880" y="2590200"/>
            <a:ext cx="1508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后厨排烟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 txBox="1"/>
          <p:nvPr/>
        </p:nvSpPr>
        <p:spPr>
          <a:xfrm>
            <a:off x="3362400" y="25902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3962520" y="25902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4562640" y="259020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704880" y="2961360"/>
            <a:ext cx="1742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型吧台（含⾯）定制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3362400" y="29613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3962520" y="29613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562640" y="296136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704880" y="3332880"/>
            <a:ext cx="2581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后厨设备（冷柜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⽔槽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操作台）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3362400" y="333288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3962520" y="333288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4562640" y="333288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704880" y="3704400"/>
            <a:ext cx="24728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La Marzocco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咖啡机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磨⾖机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3362400" y="37044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3962520" y="37044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 txBox="1"/>
          <p:nvPr/>
        </p:nvSpPr>
        <p:spPr>
          <a:xfrm>
            <a:off x="4562640" y="370440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 txBox="1"/>
          <p:nvPr/>
        </p:nvSpPr>
        <p:spPr>
          <a:xfrm>
            <a:off x="704880" y="4075920"/>
            <a:ext cx="2240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家具（桌椅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⻓凳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⾼脚凳）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3362400" y="40759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3962520" y="4075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4562640" y="407592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704880" y="4447440"/>
            <a:ext cx="1801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4m × 5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层定制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 txBox="1"/>
          <p:nvPr/>
        </p:nvSpPr>
        <p:spPr>
          <a:xfrm>
            <a:off x="3362400" y="4447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 txBox="1"/>
          <p:nvPr/>
        </p:nvSpPr>
        <p:spPr>
          <a:xfrm>
            <a:off x="3962520" y="44474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4562640" y="444744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704880" y="4818960"/>
            <a:ext cx="2069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照明（吊灯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灯带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筒灯）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 txBox="1"/>
          <p:nvPr/>
        </p:nvSpPr>
        <p:spPr>
          <a:xfrm>
            <a:off x="3362400" y="48189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 txBox="1"/>
          <p:nvPr/>
        </p:nvSpPr>
        <p:spPr>
          <a:xfrm>
            <a:off x="3962520" y="48189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4562640" y="481896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 txBox="1"/>
          <p:nvPr/>
        </p:nvSpPr>
        <p:spPr>
          <a:xfrm>
            <a:off x="704880" y="5199840"/>
            <a:ext cx="1508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卫⽣间洁具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3362400" y="51998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3962520" y="51998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4562640" y="5199840"/>
            <a:ext cx="5238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704880" y="5571360"/>
            <a:ext cx="1650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绿植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预留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 txBox="1"/>
          <p:nvPr/>
        </p:nvSpPr>
        <p:spPr>
          <a:xfrm>
            <a:off x="3362400" y="55713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3962520" y="557136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4562640" y="5571360"/>
            <a:ext cx="55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704880" y="594288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合计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4562640" y="5942880"/>
            <a:ext cx="764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¥450,000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7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"/>
          <p:cNvSpPr txBox="1"/>
          <p:nvPr/>
        </p:nvSpPr>
        <p:spPr>
          <a:xfrm>
            <a:off x="571320" y="2802240"/>
            <a:ext cx="213984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1 ·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吧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990520" y="761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71320" y="3164040"/>
            <a:ext cx="1384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台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后厨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3200400" y="644760"/>
            <a:ext cx="1462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吧台⾯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：⽔磨⽯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3200400" y="949320"/>
            <a:ext cx="1640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厚，边缘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2990520" y="173340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0"/>
                  <a:pt x="210" y="133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3"/>
                  <a:pt x="0" y="120"/>
                  <a:pt x="0" y="106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3200400" y="1254240"/>
            <a:ext cx="812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圆⻆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3200400" y="1616040"/>
            <a:ext cx="1612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咖啡机位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220V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3200400" y="1920960"/>
            <a:ext cx="1878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16A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专线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冷热⽔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3200400" y="2216160"/>
            <a:ext cx="1226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DN15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29905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 txBox="1"/>
          <p:nvPr/>
        </p:nvSpPr>
        <p:spPr>
          <a:xfrm>
            <a:off x="3200400" y="2521080"/>
            <a:ext cx="548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DN50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 txBox="1"/>
          <p:nvPr/>
        </p:nvSpPr>
        <p:spPr>
          <a:xfrm>
            <a:off x="3200400" y="2882880"/>
            <a:ext cx="1764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后厨排烟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UMC-I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3200400" y="3187800"/>
            <a:ext cx="1635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级净化器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不锈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3200400" y="3492720"/>
            <a:ext cx="1765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钢⻛管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DN200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2990520" y="4276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3200400" y="379728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通屋顶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3200400" y="415944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：三级不锈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3200400" y="4464000"/>
            <a:ext cx="162576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钢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GB 50015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2990520" y="52387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20"/>
                  <a:pt x="210" y="134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4"/>
                  <a:pt x="0" y="120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3200400" y="476892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格，落位后厨⻔外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3200400" y="5121360"/>
            <a:ext cx="1824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地⾯防滑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R10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3200400" y="5426280"/>
            <a:ext cx="1543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⾯瓷砖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H=1.8 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3200400" y="5730840"/>
            <a:ext cx="418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以上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5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8" name=""/>
          <p:cNvPicPr/>
          <p:nvPr/>
        </p:nvPicPr>
        <p:blipFill>
          <a:blip r:embed="rId1"/>
          <a:stretch/>
        </p:blipFill>
        <p:spPr>
          <a:xfrm>
            <a:off x="5485680" y="0"/>
            <a:ext cx="67068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"/>
          <p:cNvSpPr txBox="1"/>
          <p:nvPr/>
        </p:nvSpPr>
        <p:spPr>
          <a:xfrm>
            <a:off x="571320" y="2802240"/>
            <a:ext cx="173232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关键节点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2 ·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2990520" y="76176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0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2"/>
                  <a:pt x="3" y="78"/>
                  <a:pt x="8" y="65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5"/>
                </a:cubicBezTo>
                <a:cubicBezTo>
                  <a:pt x="210" y="78"/>
                  <a:pt x="213" y="92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 txBox="1"/>
          <p:nvPr/>
        </p:nvSpPr>
        <p:spPr>
          <a:xfrm>
            <a:off x="571320" y="3164040"/>
            <a:ext cx="195768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书架墙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⻓桌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3200400" y="644760"/>
            <a:ext cx="1044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书架结构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3200400" y="949320"/>
            <a:ext cx="16430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40×40×3 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⽅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 txBox="1"/>
          <p:nvPr/>
        </p:nvSpPr>
        <p:spPr>
          <a:xfrm>
            <a:off x="3200400" y="1254240"/>
            <a:ext cx="16189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钢⻣架焊接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+ 25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990520" y="2038320"/>
            <a:ext cx="76680" cy="76320"/>
          </a:xfrm>
          <a:custGeom>
            <a:avLst/>
            <a:gdLst/>
            <a:ahLst/>
            <a:rect l="0" t="0" r="r" b="b"/>
            <a:pathLst>
              <a:path w="213" h="212">
                <a:moveTo>
                  <a:pt x="213" y="105"/>
                </a:moveTo>
                <a:cubicBezTo>
                  <a:pt x="213" y="119"/>
                  <a:pt x="210" y="133"/>
                  <a:pt x="205" y="147"/>
                </a:cubicBezTo>
                <a:cubicBezTo>
                  <a:pt x="200" y="160"/>
                  <a:pt x="192" y="171"/>
                  <a:pt x="182" y="181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2"/>
                  <a:pt x="107" y="212"/>
                </a:cubicBezTo>
                <a:cubicBezTo>
                  <a:pt x="93" y="212"/>
                  <a:pt x="80" y="210"/>
                  <a:pt x="67" y="204"/>
                </a:cubicBezTo>
                <a:cubicBezTo>
                  <a:pt x="54" y="199"/>
                  <a:pt x="42" y="191"/>
                  <a:pt x="32" y="181"/>
                </a:cubicBezTo>
                <a:cubicBezTo>
                  <a:pt x="21" y="171"/>
                  <a:pt x="14" y="160"/>
                  <a:pt x="8" y="147"/>
                </a:cubicBezTo>
                <a:cubicBezTo>
                  <a:pt x="3" y="133"/>
                  <a:pt x="0" y="119"/>
                  <a:pt x="0" y="105"/>
                </a:cubicBez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1"/>
                  <a:pt x="32" y="31"/>
                </a:cubicBezTo>
                <a:cubicBezTo>
                  <a:pt x="42" y="21"/>
                  <a:pt x="54" y="13"/>
                  <a:pt x="67" y="8"/>
                </a:cubicBezTo>
                <a:cubicBezTo>
                  <a:pt x="80" y="2"/>
                  <a:pt x="93" y="0"/>
                  <a:pt x="107" y="0"/>
                </a:cubicBezTo>
                <a:cubicBezTo>
                  <a:pt x="121" y="0"/>
                  <a:pt x="135" y="2"/>
                  <a:pt x="148" y="8"/>
                </a:cubicBezTo>
                <a:cubicBezTo>
                  <a:pt x="161" y="13"/>
                  <a:pt x="172" y="21"/>
                  <a:pt x="182" y="31"/>
                </a:cubicBezTo>
                <a:cubicBezTo>
                  <a:pt x="192" y="41"/>
                  <a:pt x="200" y="52"/>
                  <a:pt x="205" y="65"/>
                </a:cubicBezTo>
                <a:cubicBezTo>
                  <a:pt x="210" y="78"/>
                  <a:pt x="213" y="91"/>
                  <a:pt x="213" y="105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3200400" y="1559160"/>
            <a:ext cx="1320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胡桃⽊板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3200400" y="1920960"/>
            <a:ext cx="169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墙⾯预埋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M10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3200400" y="2216160"/>
            <a:ext cx="1705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胀螺栓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12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承重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2990520" y="3000240"/>
            <a:ext cx="76680" cy="77040"/>
          </a:xfrm>
          <a:custGeom>
            <a:avLst/>
            <a:gdLst/>
            <a:ahLst/>
            <a:rect l="0" t="0" r="r" b="b"/>
            <a:pathLst>
              <a:path w="213" h="214">
                <a:moveTo>
                  <a:pt x="213" y="107"/>
                </a:moveTo>
                <a:cubicBezTo>
                  <a:pt x="213" y="121"/>
                  <a:pt x="210" y="134"/>
                  <a:pt x="205" y="147"/>
                </a:cubicBezTo>
                <a:cubicBezTo>
                  <a:pt x="200" y="160"/>
                  <a:pt x="192" y="172"/>
                  <a:pt x="182" y="182"/>
                </a:cubicBezTo>
                <a:cubicBezTo>
                  <a:pt x="172" y="191"/>
                  <a:pt x="161" y="199"/>
                  <a:pt x="148" y="204"/>
                </a:cubicBezTo>
                <a:cubicBezTo>
                  <a:pt x="135" y="210"/>
                  <a:pt x="121" y="214"/>
                  <a:pt x="107" y="214"/>
                </a:cubicBezTo>
                <a:cubicBezTo>
                  <a:pt x="93" y="214"/>
                  <a:pt x="80" y="210"/>
                  <a:pt x="67" y="204"/>
                </a:cubicBezTo>
                <a:cubicBezTo>
                  <a:pt x="54" y="199"/>
                  <a:pt x="42" y="191"/>
                  <a:pt x="32" y="182"/>
                </a:cubicBezTo>
                <a:cubicBezTo>
                  <a:pt x="21" y="172"/>
                  <a:pt x="14" y="160"/>
                  <a:pt x="8" y="147"/>
                </a:cubicBezTo>
                <a:cubicBezTo>
                  <a:pt x="3" y="134"/>
                  <a:pt x="0" y="121"/>
                  <a:pt x="0" y="107"/>
                </a:cubicBezTo>
                <a:cubicBezTo>
                  <a:pt x="0" y="93"/>
                  <a:pt x="3" y="79"/>
                  <a:pt x="8" y="66"/>
                </a:cubicBezTo>
                <a:cubicBezTo>
                  <a:pt x="14" y="53"/>
                  <a:pt x="21" y="42"/>
                  <a:pt x="32" y="32"/>
                </a:cubicBezTo>
                <a:cubicBezTo>
                  <a:pt x="42" y="22"/>
                  <a:pt x="54" y="14"/>
                  <a:pt x="67" y="9"/>
                </a:cubicBezTo>
                <a:cubicBezTo>
                  <a:pt x="80" y="4"/>
                  <a:pt x="93" y="0"/>
                  <a:pt x="107" y="0"/>
                </a:cubicBezTo>
                <a:cubicBezTo>
                  <a:pt x="121" y="0"/>
                  <a:pt x="135" y="4"/>
                  <a:pt x="148" y="9"/>
                </a:cubicBezTo>
                <a:cubicBezTo>
                  <a:pt x="161" y="14"/>
                  <a:pt x="172" y="22"/>
                  <a:pt x="182" y="32"/>
                </a:cubicBezTo>
                <a:cubicBezTo>
                  <a:pt x="192" y="42"/>
                  <a:pt x="200" y="53"/>
                  <a:pt x="205" y="66"/>
                </a:cubicBezTo>
                <a:cubicBezTo>
                  <a:pt x="210" y="79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3200400" y="2521080"/>
            <a:ext cx="2095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点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3200400" y="2882880"/>
            <a:ext cx="17902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书架内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12W/m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灯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3200400" y="3187800"/>
            <a:ext cx="1244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带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2700K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 txBox="1"/>
          <p:nvPr/>
        </p:nvSpPr>
        <p:spPr>
          <a:xfrm>
            <a:off x="3200400" y="3492720"/>
            <a:ext cx="1647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DC24V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驱动隐藏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2990520" y="427644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7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200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200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7"/>
                </a:cubicBezTo>
                <a:cubicBezTo>
                  <a:pt x="0" y="93"/>
                  <a:pt x="3" y="80"/>
                  <a:pt x="8" y="67"/>
                </a:cubicBezTo>
                <a:cubicBezTo>
                  <a:pt x="14" y="54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4"/>
                  <a:pt x="205" y="67"/>
                </a:cubicBezTo>
                <a:cubicBezTo>
                  <a:pt x="210" y="80"/>
                  <a:pt x="213" y="93"/>
                  <a:pt x="213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3200400" y="3797280"/>
            <a:ext cx="627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在顶层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3200400" y="4159440"/>
            <a:ext cx="18190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⻓桌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4m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固定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3200400" y="446400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腿钢架落地，提前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3200400" y="4768920"/>
            <a:ext cx="1671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确定进场通道（最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990520" y="5543280"/>
            <a:ext cx="76680" cy="76680"/>
          </a:xfrm>
          <a:custGeom>
            <a:avLst/>
            <a:gdLst/>
            <a:ahLst/>
            <a:rect l="0" t="0" r="r" b="b"/>
            <a:pathLst>
              <a:path w="213" h="213">
                <a:moveTo>
                  <a:pt x="213" y="106"/>
                </a:moveTo>
                <a:cubicBezTo>
                  <a:pt x="213" y="121"/>
                  <a:pt x="210" y="135"/>
                  <a:pt x="205" y="148"/>
                </a:cubicBezTo>
                <a:cubicBezTo>
                  <a:pt x="200" y="161"/>
                  <a:pt x="192" y="172"/>
                  <a:pt x="182" y="182"/>
                </a:cubicBezTo>
                <a:cubicBezTo>
                  <a:pt x="172" y="192"/>
                  <a:pt x="161" y="199"/>
                  <a:pt x="148" y="205"/>
                </a:cubicBezTo>
                <a:cubicBezTo>
                  <a:pt x="135" y="210"/>
                  <a:pt x="121" y="213"/>
                  <a:pt x="107" y="213"/>
                </a:cubicBezTo>
                <a:cubicBezTo>
                  <a:pt x="93" y="213"/>
                  <a:pt x="80" y="210"/>
                  <a:pt x="67" y="205"/>
                </a:cubicBezTo>
                <a:cubicBezTo>
                  <a:pt x="54" y="199"/>
                  <a:pt x="42" y="192"/>
                  <a:pt x="32" y="182"/>
                </a:cubicBezTo>
                <a:cubicBezTo>
                  <a:pt x="21" y="172"/>
                  <a:pt x="14" y="161"/>
                  <a:pt x="8" y="148"/>
                </a:cubicBezTo>
                <a:cubicBezTo>
                  <a:pt x="3" y="135"/>
                  <a:pt x="0" y="121"/>
                  <a:pt x="0" y="106"/>
                </a:cubicBezTo>
                <a:cubicBezTo>
                  <a:pt x="0" y="92"/>
                  <a:pt x="3" y="79"/>
                  <a:pt x="8" y="66"/>
                </a:cubicBezTo>
                <a:cubicBezTo>
                  <a:pt x="14" y="53"/>
                  <a:pt x="21" y="41"/>
                  <a:pt x="32" y="31"/>
                </a:cubicBezTo>
                <a:cubicBezTo>
                  <a:pt x="42" y="21"/>
                  <a:pt x="54" y="14"/>
                  <a:pt x="67" y="8"/>
                </a:cubicBezTo>
                <a:cubicBezTo>
                  <a:pt x="80" y="3"/>
                  <a:pt x="93" y="0"/>
                  <a:pt x="107" y="0"/>
                </a:cubicBezTo>
                <a:cubicBezTo>
                  <a:pt x="121" y="0"/>
                  <a:pt x="135" y="3"/>
                  <a:pt x="148" y="8"/>
                </a:cubicBezTo>
                <a:cubicBezTo>
                  <a:pt x="161" y="14"/>
                  <a:pt x="172" y="21"/>
                  <a:pt x="182" y="31"/>
                </a:cubicBezTo>
                <a:cubicBezTo>
                  <a:pt x="192" y="41"/>
                  <a:pt x="200" y="53"/>
                  <a:pt x="205" y="66"/>
                </a:cubicBezTo>
                <a:cubicBezTo>
                  <a:pt x="210" y="79"/>
                  <a:pt x="213" y="92"/>
                  <a:pt x="213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200400" y="5064120"/>
            <a:ext cx="15343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⼩过道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1.0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 txBox="1"/>
          <p:nvPr/>
        </p:nvSpPr>
        <p:spPr>
          <a:xfrm>
            <a:off x="3200400" y="5426280"/>
            <a:ext cx="15458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⻓凳下⽅每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m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3200400" y="5730840"/>
            <a:ext cx="12434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预埋地插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× 1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580680" y="207612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3562200" y="207612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5010120" y="207612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5857560" y="20761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580680" y="207612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3562200" y="207612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5010120" y="207612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5857560" y="20761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580680" y="244764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3562200" y="244764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5010120" y="244764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5857560" y="244764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580680" y="281916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3562200" y="281916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5010120" y="281916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5857560" y="281916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580680" y="319068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3562200" y="319068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5010120" y="319068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5857560" y="319068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580680" y="356220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3562200" y="356220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5010120" y="356220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5857560" y="356220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580680" y="393372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3562200" y="393372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5010120" y="393372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5857560" y="39337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580680" y="4305240"/>
            <a:ext cx="2981880" cy="381240"/>
          </a:xfrm>
          <a:custGeom>
            <a:avLst/>
            <a:gdLst/>
            <a:ahLst/>
            <a:rect l="0" t="0" r="r" b="b"/>
            <a:pathLst>
              <a:path w="8283" h="1059">
                <a:moveTo>
                  <a:pt x="0" y="0"/>
                </a:moveTo>
                <a:lnTo>
                  <a:pt x="8283" y="0"/>
                </a:lnTo>
                <a:lnTo>
                  <a:pt x="828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3562200" y="4305240"/>
            <a:ext cx="1448280" cy="381240"/>
          </a:xfrm>
          <a:custGeom>
            <a:avLst/>
            <a:gdLst/>
            <a:ahLst/>
            <a:rect l="0" t="0" r="r" b="b"/>
            <a:pathLst>
              <a:path w="4023" h="1059">
                <a:moveTo>
                  <a:pt x="0" y="0"/>
                </a:moveTo>
                <a:lnTo>
                  <a:pt x="4023" y="0"/>
                </a:lnTo>
                <a:lnTo>
                  <a:pt x="402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5010120" y="4305240"/>
            <a:ext cx="847800" cy="381240"/>
          </a:xfrm>
          <a:custGeom>
            <a:avLst/>
            <a:gdLst/>
            <a:ahLst/>
            <a:rect l="0" t="0" r="r" b="b"/>
            <a:pathLst>
              <a:path w="2355" h="1059">
                <a:moveTo>
                  <a:pt x="0" y="0"/>
                </a:moveTo>
                <a:lnTo>
                  <a:pt x="2355" y="0"/>
                </a:lnTo>
                <a:lnTo>
                  <a:pt x="2355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5857560" y="4305240"/>
            <a:ext cx="771840" cy="381240"/>
          </a:xfrm>
          <a:custGeom>
            <a:avLst/>
            <a:gdLst/>
            <a:ahLst/>
            <a:rect l="0" t="0" r="r" b="b"/>
            <a:pathLst>
              <a:path w="2144" h="1059">
                <a:moveTo>
                  <a:pt x="0" y="0"/>
                </a:moveTo>
                <a:lnTo>
                  <a:pt x="2144" y="0"/>
                </a:lnTo>
                <a:lnTo>
                  <a:pt x="2144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580680" y="4686120"/>
            <a:ext cx="2981880" cy="371880"/>
          </a:xfrm>
          <a:custGeom>
            <a:avLst/>
            <a:gdLst/>
            <a:ahLst/>
            <a:rect l="0" t="0" r="r" b="b"/>
            <a:pathLst>
              <a:path w="8283" h="1033">
                <a:moveTo>
                  <a:pt x="0" y="0"/>
                </a:moveTo>
                <a:lnTo>
                  <a:pt x="8283" y="0"/>
                </a:lnTo>
                <a:lnTo>
                  <a:pt x="828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3562200" y="4686120"/>
            <a:ext cx="1448280" cy="371880"/>
          </a:xfrm>
          <a:custGeom>
            <a:avLst/>
            <a:gdLst/>
            <a:ahLst/>
            <a:rect l="0" t="0" r="r" b="b"/>
            <a:pathLst>
              <a:path w="4023" h="1033">
                <a:moveTo>
                  <a:pt x="0" y="0"/>
                </a:moveTo>
                <a:lnTo>
                  <a:pt x="4023" y="0"/>
                </a:lnTo>
                <a:lnTo>
                  <a:pt x="402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5010120" y="4686120"/>
            <a:ext cx="847800" cy="371880"/>
          </a:xfrm>
          <a:custGeom>
            <a:avLst/>
            <a:gdLst/>
            <a:ahLst/>
            <a:rect l="0" t="0" r="r" b="b"/>
            <a:pathLst>
              <a:path w="2355" h="1033">
                <a:moveTo>
                  <a:pt x="0" y="0"/>
                </a:moveTo>
                <a:lnTo>
                  <a:pt x="2355" y="0"/>
                </a:lnTo>
                <a:lnTo>
                  <a:pt x="235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5857560" y="4686120"/>
            <a:ext cx="771840" cy="371880"/>
          </a:xfrm>
          <a:custGeom>
            <a:avLst/>
            <a:gdLst/>
            <a:ahLst/>
            <a:rect l="0" t="0" r="r" b="b"/>
            <a:pathLst>
              <a:path w="2144" h="1033">
                <a:moveTo>
                  <a:pt x="0" y="0"/>
                </a:moveTo>
                <a:lnTo>
                  <a:pt x="2144" y="0"/>
                </a:lnTo>
                <a:lnTo>
                  <a:pt x="214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5713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571320" y="206676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3552480" y="206676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3562200" y="206676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501012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5019480" y="20667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584820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5857560" y="2066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6619680" y="206676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571320" y="243828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3562200" y="243828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5019480" y="24382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5857560" y="24382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5713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3552480" y="244764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501012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584820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6619680" y="244764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5713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571320" y="281916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3552480" y="282888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3562200" y="281916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501012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5019480" y="281916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584820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5857560" y="281916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6619680" y="282888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5713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571320" y="319068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3552480" y="32000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3562200" y="319068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501012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5019480" y="319068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584820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5857560" y="319068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6619680" y="32000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5713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571320" y="356220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55248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562200" y="356220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501012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5019480" y="356220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584820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5857560" y="356220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66196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5713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571320" y="393372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3552480" y="3943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3562200" y="393372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501012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5019480" y="393372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584820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5857560" y="393372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6619680" y="3943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5713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571320" y="430524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3552480" y="4314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3562200" y="430524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501012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5019480" y="430524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584820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5857560" y="430524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6619680" y="4314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5713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571320" y="4676760"/>
            <a:ext cx="2991240" cy="9720"/>
          </a:xfrm>
          <a:custGeom>
            <a:avLst/>
            <a:gdLst/>
            <a:ahLst/>
            <a:rect l="0" t="0" r="r" b="b"/>
            <a:pathLst>
              <a:path w="8309" h="27">
                <a:moveTo>
                  <a:pt x="0" y="0"/>
                </a:moveTo>
                <a:lnTo>
                  <a:pt x="8309" y="0"/>
                </a:lnTo>
                <a:lnTo>
                  <a:pt x="830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3552480" y="4686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3562200" y="4676760"/>
            <a:ext cx="1457640" cy="9720"/>
          </a:xfrm>
          <a:custGeom>
            <a:avLst/>
            <a:gdLst/>
            <a:ahLst/>
            <a:rect l="0" t="0" r="r" b="b"/>
            <a:pathLst>
              <a:path w="4049" h="27">
                <a:moveTo>
                  <a:pt x="0" y="0"/>
                </a:moveTo>
                <a:lnTo>
                  <a:pt x="4049" y="0"/>
                </a:lnTo>
                <a:lnTo>
                  <a:pt x="404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501012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5019480" y="4676760"/>
            <a:ext cx="838440" cy="9720"/>
          </a:xfrm>
          <a:custGeom>
            <a:avLst/>
            <a:gdLst/>
            <a:ahLst/>
            <a:rect l="0" t="0" r="r" b="b"/>
            <a:pathLst>
              <a:path w="2329" h="27">
                <a:moveTo>
                  <a:pt x="0" y="0"/>
                </a:moveTo>
                <a:lnTo>
                  <a:pt x="2329" y="0"/>
                </a:lnTo>
                <a:lnTo>
                  <a:pt x="232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584820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5857560" y="4676760"/>
            <a:ext cx="771840" cy="9720"/>
          </a:xfrm>
          <a:custGeom>
            <a:avLst/>
            <a:gdLst/>
            <a:ahLst/>
            <a:rect l="0" t="0" r="r" b="b"/>
            <a:pathLst>
              <a:path w="2144" h="27">
                <a:moveTo>
                  <a:pt x="0" y="0"/>
                </a:moveTo>
                <a:lnTo>
                  <a:pt x="2144" y="0"/>
                </a:lnTo>
                <a:lnTo>
                  <a:pt x="2144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6619680" y="4686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571320" y="5047920"/>
            <a:ext cx="2991240" cy="10080"/>
          </a:xfrm>
          <a:custGeom>
            <a:avLst/>
            <a:gdLst/>
            <a:ahLst/>
            <a:rect l="0" t="0" r="r" b="b"/>
            <a:pathLst>
              <a:path w="8309" h="28">
                <a:moveTo>
                  <a:pt x="0" y="0"/>
                </a:moveTo>
                <a:lnTo>
                  <a:pt x="8309" y="0"/>
                </a:lnTo>
                <a:lnTo>
                  <a:pt x="830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3562200" y="5047920"/>
            <a:ext cx="1457640" cy="10080"/>
          </a:xfrm>
          <a:custGeom>
            <a:avLst/>
            <a:gdLst/>
            <a:ahLst/>
            <a:rect l="0" t="0" r="r" b="b"/>
            <a:pathLst>
              <a:path w="4049" h="28">
                <a:moveTo>
                  <a:pt x="0" y="0"/>
                </a:moveTo>
                <a:lnTo>
                  <a:pt x="4049" y="0"/>
                </a:lnTo>
                <a:lnTo>
                  <a:pt x="404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5019480" y="5047920"/>
            <a:ext cx="838440" cy="10080"/>
          </a:xfrm>
          <a:custGeom>
            <a:avLst/>
            <a:gdLst/>
            <a:ahLst/>
            <a:rect l="0" t="0" r="r" b="b"/>
            <a:pathLst>
              <a:path w="2329" h="28">
                <a:moveTo>
                  <a:pt x="0" y="0"/>
                </a:moveTo>
                <a:lnTo>
                  <a:pt x="2329" y="0"/>
                </a:lnTo>
                <a:lnTo>
                  <a:pt x="232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5857560" y="5047920"/>
            <a:ext cx="771840" cy="10080"/>
          </a:xfrm>
          <a:custGeom>
            <a:avLst/>
            <a:gdLst/>
            <a:ahLst/>
            <a:rect l="0" t="0" r="r" b="b"/>
            <a:pathLst>
              <a:path w="2144" h="28">
                <a:moveTo>
                  <a:pt x="0" y="0"/>
                </a:moveTo>
                <a:lnTo>
                  <a:pt x="2144" y="0"/>
                </a:lnTo>
                <a:lnTo>
                  <a:pt x="2144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71320" y="148788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照明清单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704880" y="213300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68964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规格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513972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⾊温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 txBox="1"/>
          <p:nvPr/>
        </p:nvSpPr>
        <p:spPr>
          <a:xfrm>
            <a:off x="5983920" y="21330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数量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704880" y="2504160"/>
            <a:ext cx="2811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⻩铜吊灯（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Menu TR Bulb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或同类）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3689640" y="2504160"/>
            <a:ext cx="1188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8W LED, Ø250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5139720" y="2504160"/>
            <a:ext cx="57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5983920" y="250416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704880" y="2885400"/>
            <a:ext cx="1195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吧台后墙线性灯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3689640" y="2885400"/>
            <a:ext cx="102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18W/m × 3m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5139720" y="288540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5983920" y="288540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704880" y="325692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书架内灯带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3689640" y="3256920"/>
            <a:ext cx="1026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12W/m × 4m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5139720" y="3256920"/>
            <a:ext cx="576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2700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5983920" y="3256920"/>
            <a:ext cx="3445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套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704880" y="3628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后厨平板灯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 txBox="1"/>
          <p:nvPr/>
        </p:nvSpPr>
        <p:spPr>
          <a:xfrm>
            <a:off x="3689640" y="3628440"/>
            <a:ext cx="113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24W 300×600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 txBox="1"/>
          <p:nvPr/>
        </p:nvSpPr>
        <p:spPr>
          <a:xfrm>
            <a:off x="5139720" y="362844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5983920" y="362844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 txBox="1"/>
          <p:nvPr/>
        </p:nvSpPr>
        <p:spPr>
          <a:xfrm>
            <a:off x="704880" y="399960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卫⽣间筒灯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3689640" y="3999600"/>
            <a:ext cx="636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7W Ø75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 txBox="1"/>
          <p:nvPr/>
        </p:nvSpPr>
        <p:spPr>
          <a:xfrm>
            <a:off x="5139720" y="399960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5983920" y="399960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 txBox="1"/>
          <p:nvPr/>
        </p:nvSpPr>
        <p:spPr>
          <a:xfrm>
            <a:off x="704880" y="4371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展品射灯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3689640" y="4371120"/>
            <a:ext cx="707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5W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轨道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 txBox="1"/>
          <p:nvPr/>
        </p:nvSpPr>
        <p:spPr>
          <a:xfrm>
            <a:off x="5139720" y="4371120"/>
            <a:ext cx="585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3000 K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 txBox="1"/>
          <p:nvPr/>
        </p:nvSpPr>
        <p:spPr>
          <a:xfrm>
            <a:off x="5983920" y="4371120"/>
            <a:ext cx="171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704880" y="4742640"/>
            <a:ext cx="1679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应急照明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疏散指示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3689640" y="474264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国标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5139720" y="474264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 txBox="1"/>
          <p:nvPr/>
        </p:nvSpPr>
        <p:spPr>
          <a:xfrm>
            <a:off x="5983920" y="474264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按规范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 txBox="1"/>
          <p:nvPr/>
        </p:nvSpPr>
        <p:spPr>
          <a:xfrm>
            <a:off x="1182276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7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580680" y="18856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095120" y="18856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580680" y="18856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095120" y="18856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580680" y="2257200"/>
            <a:ext cx="514800" cy="381240"/>
          </a:xfrm>
          <a:custGeom>
            <a:avLst/>
            <a:gdLst/>
            <a:ahLst/>
            <a:rect l="0" t="0" r="r" b="b"/>
            <a:pathLst>
              <a:path w="1430" h="1059">
                <a:moveTo>
                  <a:pt x="0" y="0"/>
                </a:moveTo>
                <a:lnTo>
                  <a:pt x="1430" y="0"/>
                </a:lnTo>
                <a:lnTo>
                  <a:pt x="1430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095120" y="2257200"/>
            <a:ext cx="3858120" cy="381240"/>
          </a:xfrm>
          <a:custGeom>
            <a:avLst/>
            <a:gdLst/>
            <a:ahLst/>
            <a:rect l="0" t="0" r="r" b="b"/>
            <a:pathLst>
              <a:path w="10717" h="1059">
                <a:moveTo>
                  <a:pt x="0" y="0"/>
                </a:moveTo>
                <a:lnTo>
                  <a:pt x="10717" y="0"/>
                </a:lnTo>
                <a:lnTo>
                  <a:pt x="1071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580680" y="26380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095120" y="26380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580680" y="300960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095120" y="300960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580680" y="338112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095120" y="338112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580680" y="375264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095120" y="375264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580680" y="412416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1095120" y="412416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580680" y="449568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1095120" y="449568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580680" y="4867200"/>
            <a:ext cx="514800" cy="371880"/>
          </a:xfrm>
          <a:custGeom>
            <a:avLst/>
            <a:gdLst/>
            <a:ahLst/>
            <a:rect l="0" t="0" r="r" b="b"/>
            <a:pathLst>
              <a:path w="1430" h="1033">
                <a:moveTo>
                  <a:pt x="0" y="0"/>
                </a:moveTo>
                <a:lnTo>
                  <a:pt x="1430" y="0"/>
                </a:lnTo>
                <a:lnTo>
                  <a:pt x="1430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095120" y="4867200"/>
            <a:ext cx="3858120" cy="371880"/>
          </a:xfrm>
          <a:custGeom>
            <a:avLst/>
            <a:gdLst/>
            <a:ahLst/>
            <a:rect l="0" t="0" r="r" b="b"/>
            <a:pathLst>
              <a:path w="10717" h="1033">
                <a:moveTo>
                  <a:pt x="0" y="0"/>
                </a:moveTo>
                <a:lnTo>
                  <a:pt x="10717" y="0"/>
                </a:lnTo>
                <a:lnTo>
                  <a:pt x="1071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571320" y="1885680"/>
            <a:ext cx="533880" cy="10440"/>
          </a:xfrm>
          <a:custGeom>
            <a:avLst/>
            <a:gdLst/>
            <a:ahLst/>
            <a:rect l="0" t="0" r="r" b="b"/>
            <a:pathLst>
              <a:path w="1483" h="29">
                <a:moveTo>
                  <a:pt x="0" y="0"/>
                </a:moveTo>
                <a:lnTo>
                  <a:pt x="1483" y="0"/>
                </a:lnTo>
                <a:lnTo>
                  <a:pt x="1483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095120" y="1885680"/>
            <a:ext cx="10080" cy="381600"/>
          </a:xfrm>
          <a:custGeom>
            <a:avLst/>
            <a:gdLst/>
            <a:ahLst/>
            <a:rect l="0" t="0" r="r" b="b"/>
            <a:pathLst>
              <a:path w="28" h="1060">
                <a:moveTo>
                  <a:pt x="0" y="0"/>
                </a:moveTo>
                <a:lnTo>
                  <a:pt x="28" y="0"/>
                </a:lnTo>
                <a:lnTo>
                  <a:pt x="28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104840" y="1885680"/>
            <a:ext cx="3857760" cy="10440"/>
          </a:xfrm>
          <a:custGeom>
            <a:avLst/>
            <a:gdLst/>
            <a:ahLst/>
            <a:rect l="0" t="0" r="r" b="b"/>
            <a:pathLst>
              <a:path w="10716" h="29">
                <a:moveTo>
                  <a:pt x="0" y="0"/>
                </a:moveTo>
                <a:lnTo>
                  <a:pt x="10716" y="0"/>
                </a:lnTo>
                <a:lnTo>
                  <a:pt x="10716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495288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571320" y="225720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104840" y="2257200"/>
            <a:ext cx="3857760" cy="10080"/>
          </a:xfrm>
          <a:custGeom>
            <a:avLst/>
            <a:gdLst/>
            <a:ahLst/>
            <a:rect l="0" t="0" r="r" b="b"/>
            <a:pathLst>
              <a:path w="10716" h="28">
                <a:moveTo>
                  <a:pt x="0" y="0"/>
                </a:moveTo>
                <a:lnTo>
                  <a:pt x="10716" y="0"/>
                </a:lnTo>
                <a:lnTo>
                  <a:pt x="10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095120" y="2266920"/>
            <a:ext cx="10080" cy="371520"/>
          </a:xfrm>
          <a:custGeom>
            <a:avLst/>
            <a:gdLst/>
            <a:ahLst/>
            <a:rect l="0" t="0" r="r" b="b"/>
            <a:pathLst>
              <a:path w="28" h="1032">
                <a:moveTo>
                  <a:pt x="0" y="0"/>
                </a:moveTo>
                <a:lnTo>
                  <a:pt x="28" y="0"/>
                </a:lnTo>
                <a:lnTo>
                  <a:pt x="28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495288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571320" y="262872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095120" y="263808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104840" y="262872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495288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571320" y="300024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095120" y="300960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1104840" y="300024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495288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571320" y="337176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095120" y="33811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104840" y="337176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495288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571320" y="374328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095120" y="37526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1104840" y="374328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495288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571320" y="411444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1095120" y="41241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1104840" y="4114440"/>
            <a:ext cx="3857760" cy="10080"/>
          </a:xfrm>
          <a:custGeom>
            <a:avLst/>
            <a:gdLst/>
            <a:ahLst/>
            <a:rect l="0" t="0" r="r" b="b"/>
            <a:pathLst>
              <a:path w="10716" h="28">
                <a:moveTo>
                  <a:pt x="0" y="0"/>
                </a:moveTo>
                <a:lnTo>
                  <a:pt x="10716" y="0"/>
                </a:lnTo>
                <a:lnTo>
                  <a:pt x="10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495288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571320" y="4485960"/>
            <a:ext cx="533880" cy="10080"/>
          </a:xfrm>
          <a:custGeom>
            <a:avLst/>
            <a:gdLst/>
            <a:ahLst/>
            <a:rect l="0" t="0" r="r" b="b"/>
            <a:pathLst>
              <a:path w="1483" h="28">
                <a:moveTo>
                  <a:pt x="0" y="0"/>
                </a:moveTo>
                <a:lnTo>
                  <a:pt x="1483" y="0"/>
                </a:lnTo>
                <a:lnTo>
                  <a:pt x="1483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1095120" y="44956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1104840" y="4485960"/>
            <a:ext cx="3857760" cy="10080"/>
          </a:xfrm>
          <a:custGeom>
            <a:avLst/>
            <a:gdLst/>
            <a:ahLst/>
            <a:rect l="0" t="0" r="r" b="b"/>
            <a:pathLst>
              <a:path w="10716" h="28">
                <a:moveTo>
                  <a:pt x="0" y="0"/>
                </a:moveTo>
                <a:lnTo>
                  <a:pt x="10716" y="0"/>
                </a:lnTo>
                <a:lnTo>
                  <a:pt x="1071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495288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571320" y="486720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1095120" y="4876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1104840" y="486720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495288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571320" y="5238720"/>
            <a:ext cx="533880" cy="9720"/>
          </a:xfrm>
          <a:custGeom>
            <a:avLst/>
            <a:gdLst/>
            <a:ahLst/>
            <a:rect l="0" t="0" r="r" b="b"/>
            <a:pathLst>
              <a:path w="1483" h="27">
                <a:moveTo>
                  <a:pt x="0" y="0"/>
                </a:moveTo>
                <a:lnTo>
                  <a:pt x="1483" y="0"/>
                </a:lnTo>
                <a:lnTo>
                  <a:pt x="1483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104840" y="5238720"/>
            <a:ext cx="3857760" cy="9720"/>
          </a:xfrm>
          <a:custGeom>
            <a:avLst/>
            <a:gdLst/>
            <a:ahLst/>
            <a:rect l="0" t="0" r="r" b="b"/>
            <a:pathLst>
              <a:path w="10716" h="27">
                <a:moveTo>
                  <a:pt x="0" y="0"/>
                </a:moveTo>
                <a:lnTo>
                  <a:pt x="10716" y="0"/>
                </a:lnTo>
                <a:lnTo>
                  <a:pt x="1071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571320" y="1297440"/>
            <a:ext cx="156456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8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周 </a:t>
            </a:r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Gantt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1224360" y="19519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主要⼯作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 txBox="1"/>
          <p:nvPr/>
        </p:nvSpPr>
        <p:spPr>
          <a:xfrm>
            <a:off x="704880" y="2323440"/>
            <a:ext cx="2278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1224360" y="2323440"/>
            <a:ext cx="3101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拆除、报建（消防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⻝品卫⽣许可递交）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 txBox="1"/>
          <p:nvPr/>
        </p:nvSpPr>
        <p:spPr>
          <a:xfrm>
            <a:off x="704880" y="269496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1224360" y="2694960"/>
            <a:ext cx="23904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砌筑、墙⾯基层、⽔电开槽⾛管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704880" y="306612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1224360" y="3066120"/>
            <a:ext cx="28454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后厨排烟穿墙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隔油池开挖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瓷砖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704880" y="343764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1224360" y="3437640"/>
            <a:ext cx="29023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吊顶⻰⻣、地⾯⽔磨⽯浇筑、墙⾯粉刷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704880" y="380916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1224360" y="3809160"/>
            <a:ext cx="3072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吧台定制进场、后厨设备进场、灯具安装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704880" y="418068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 txBox="1"/>
          <p:nvPr/>
        </p:nvSpPr>
        <p:spPr>
          <a:xfrm>
            <a:off x="1224360" y="4180680"/>
            <a:ext cx="28450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家具进场、书架焊装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⽊板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灯带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704880" y="4552200"/>
            <a:ext cx="252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W7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 txBox="1"/>
          <p:nvPr/>
        </p:nvSpPr>
        <p:spPr>
          <a:xfrm>
            <a:off x="1224360" y="4552200"/>
            <a:ext cx="35852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软装、绿植、咖啡机调试、咖啡师培训、试营业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 txBox="1"/>
          <p:nvPr/>
        </p:nvSpPr>
        <p:spPr>
          <a:xfrm>
            <a:off x="704880" y="4933080"/>
            <a:ext cx="261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W8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 txBox="1"/>
          <p:nvPr/>
        </p:nvSpPr>
        <p:spPr>
          <a:xfrm>
            <a:off x="1224360" y="4933080"/>
            <a:ext cx="25714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终检、消防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⻝安复查、正式开业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8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580680" y="188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866600" y="188568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580680" y="188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866600" y="188568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6B4E3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580680" y="2257200"/>
            <a:ext cx="1286280" cy="381240"/>
          </a:xfrm>
          <a:custGeom>
            <a:avLst/>
            <a:gdLst/>
            <a:ahLst/>
            <a:rect l="0" t="0" r="r" b="b"/>
            <a:pathLst>
              <a:path w="3573" h="1059">
                <a:moveTo>
                  <a:pt x="0" y="0"/>
                </a:moveTo>
                <a:lnTo>
                  <a:pt x="3573" y="0"/>
                </a:lnTo>
                <a:lnTo>
                  <a:pt x="3573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866600" y="2257200"/>
            <a:ext cx="3505680" cy="381240"/>
          </a:xfrm>
          <a:custGeom>
            <a:avLst/>
            <a:gdLst/>
            <a:ahLst/>
            <a:rect l="0" t="0" r="r" b="b"/>
            <a:pathLst>
              <a:path w="9738" h="1059">
                <a:moveTo>
                  <a:pt x="0" y="0"/>
                </a:moveTo>
                <a:lnTo>
                  <a:pt x="9738" y="0"/>
                </a:lnTo>
                <a:lnTo>
                  <a:pt x="973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580680" y="26380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866600" y="263808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580680" y="30096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866600" y="300960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580680" y="338112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866600" y="338112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580680" y="375264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866600" y="375264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580680" y="412416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866600" y="412416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580680" y="449568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866600" y="449568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580680" y="4867200"/>
            <a:ext cx="1286280" cy="371880"/>
          </a:xfrm>
          <a:custGeom>
            <a:avLst/>
            <a:gdLst/>
            <a:ahLst/>
            <a:rect l="0" t="0" r="r" b="b"/>
            <a:pathLst>
              <a:path w="3573" h="1033">
                <a:moveTo>
                  <a:pt x="0" y="0"/>
                </a:moveTo>
                <a:lnTo>
                  <a:pt x="3573" y="0"/>
                </a:lnTo>
                <a:lnTo>
                  <a:pt x="357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866600" y="4867200"/>
            <a:ext cx="3505680" cy="371880"/>
          </a:xfrm>
          <a:custGeom>
            <a:avLst/>
            <a:gdLst/>
            <a:ahLst/>
            <a:rect l="0" t="0" r="r" b="b"/>
            <a:pathLst>
              <a:path w="9738" h="1033">
                <a:moveTo>
                  <a:pt x="0" y="0"/>
                </a:moveTo>
                <a:lnTo>
                  <a:pt x="9738" y="0"/>
                </a:lnTo>
                <a:lnTo>
                  <a:pt x="973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57132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571320" y="1885680"/>
            <a:ext cx="1295640" cy="10440"/>
          </a:xfrm>
          <a:custGeom>
            <a:avLst/>
            <a:gdLst/>
            <a:ahLst/>
            <a:rect l="0" t="0" r="r" b="b"/>
            <a:pathLst>
              <a:path w="3599" h="29">
                <a:moveTo>
                  <a:pt x="0" y="0"/>
                </a:moveTo>
                <a:lnTo>
                  <a:pt x="3599" y="0"/>
                </a:lnTo>
                <a:lnTo>
                  <a:pt x="3599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185724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866600" y="1885680"/>
            <a:ext cx="3505680" cy="10440"/>
          </a:xfrm>
          <a:custGeom>
            <a:avLst/>
            <a:gdLst/>
            <a:ahLst/>
            <a:rect l="0" t="0" r="r" b="b"/>
            <a:pathLst>
              <a:path w="9738" h="29">
                <a:moveTo>
                  <a:pt x="0" y="0"/>
                </a:moveTo>
                <a:lnTo>
                  <a:pt x="9738" y="0"/>
                </a:lnTo>
                <a:lnTo>
                  <a:pt x="9738" y="29"/>
                </a:lnTo>
                <a:lnTo>
                  <a:pt x="0" y="2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5362560" y="1885680"/>
            <a:ext cx="9720" cy="381600"/>
          </a:xfrm>
          <a:custGeom>
            <a:avLst/>
            <a:gdLst/>
            <a:ahLst/>
            <a:rect l="0" t="0" r="r" b="b"/>
            <a:pathLst>
              <a:path w="27" h="1060">
                <a:moveTo>
                  <a:pt x="0" y="0"/>
                </a:moveTo>
                <a:lnTo>
                  <a:pt x="27" y="0"/>
                </a:lnTo>
                <a:lnTo>
                  <a:pt x="27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571320" y="225720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866600" y="2257200"/>
            <a:ext cx="3505680" cy="10080"/>
          </a:xfrm>
          <a:custGeom>
            <a:avLst/>
            <a:gdLst/>
            <a:ahLst/>
            <a:rect l="0" t="0" r="r" b="b"/>
            <a:pathLst>
              <a:path w="9738" h="28">
                <a:moveTo>
                  <a:pt x="0" y="0"/>
                </a:moveTo>
                <a:lnTo>
                  <a:pt x="9738" y="0"/>
                </a:lnTo>
                <a:lnTo>
                  <a:pt x="97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57132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85724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5362560" y="2266920"/>
            <a:ext cx="9720" cy="371520"/>
          </a:xfrm>
          <a:custGeom>
            <a:avLst/>
            <a:gdLst/>
            <a:ahLst/>
            <a:rect l="0" t="0" r="r" b="b"/>
            <a:pathLst>
              <a:path w="27" h="1032">
                <a:moveTo>
                  <a:pt x="0" y="0"/>
                </a:moveTo>
                <a:lnTo>
                  <a:pt x="27" y="0"/>
                </a:lnTo>
                <a:lnTo>
                  <a:pt x="27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57132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571320" y="262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185724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1866600" y="2628720"/>
            <a:ext cx="3505680" cy="9720"/>
          </a:xfrm>
          <a:custGeom>
            <a:avLst/>
            <a:gdLst/>
            <a:ahLst/>
            <a:rect l="0" t="0" r="r" b="b"/>
            <a:pathLst>
              <a:path w="9738" h="27">
                <a:moveTo>
                  <a:pt x="0" y="0"/>
                </a:moveTo>
                <a:lnTo>
                  <a:pt x="9738" y="0"/>
                </a:lnTo>
                <a:lnTo>
                  <a:pt x="97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5362560" y="263808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57132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571320" y="300024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85724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1866600" y="3000240"/>
            <a:ext cx="3505680" cy="9720"/>
          </a:xfrm>
          <a:custGeom>
            <a:avLst/>
            <a:gdLst/>
            <a:ahLst/>
            <a:rect l="0" t="0" r="r" b="b"/>
            <a:pathLst>
              <a:path w="9738" h="27">
                <a:moveTo>
                  <a:pt x="0" y="0"/>
                </a:moveTo>
                <a:lnTo>
                  <a:pt x="9738" y="0"/>
                </a:lnTo>
                <a:lnTo>
                  <a:pt x="97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5362560" y="300960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57132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571320" y="337176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185724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866600" y="3371760"/>
            <a:ext cx="3505680" cy="9720"/>
          </a:xfrm>
          <a:custGeom>
            <a:avLst/>
            <a:gdLst/>
            <a:ahLst/>
            <a:rect l="0" t="0" r="r" b="b"/>
            <a:pathLst>
              <a:path w="9738" h="27">
                <a:moveTo>
                  <a:pt x="0" y="0"/>
                </a:moveTo>
                <a:lnTo>
                  <a:pt x="9738" y="0"/>
                </a:lnTo>
                <a:lnTo>
                  <a:pt x="97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5362560" y="33811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57132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571320" y="374328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185724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1866600" y="3743280"/>
            <a:ext cx="3505680" cy="9720"/>
          </a:xfrm>
          <a:custGeom>
            <a:avLst/>
            <a:gdLst/>
            <a:ahLst/>
            <a:rect l="0" t="0" r="r" b="b"/>
            <a:pathLst>
              <a:path w="9738" h="27">
                <a:moveTo>
                  <a:pt x="0" y="0"/>
                </a:moveTo>
                <a:lnTo>
                  <a:pt x="9738" y="0"/>
                </a:lnTo>
                <a:lnTo>
                  <a:pt x="97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5362560" y="37526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57132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571320" y="411444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185724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866600" y="4114440"/>
            <a:ext cx="3505680" cy="10080"/>
          </a:xfrm>
          <a:custGeom>
            <a:avLst/>
            <a:gdLst/>
            <a:ahLst/>
            <a:rect l="0" t="0" r="r" b="b"/>
            <a:pathLst>
              <a:path w="9738" h="28">
                <a:moveTo>
                  <a:pt x="0" y="0"/>
                </a:moveTo>
                <a:lnTo>
                  <a:pt x="9738" y="0"/>
                </a:lnTo>
                <a:lnTo>
                  <a:pt x="97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5362560" y="41241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57132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571320" y="4485960"/>
            <a:ext cx="1295640" cy="10080"/>
          </a:xfrm>
          <a:custGeom>
            <a:avLst/>
            <a:gdLst/>
            <a:ahLst/>
            <a:rect l="0" t="0" r="r" b="b"/>
            <a:pathLst>
              <a:path w="3599" h="28">
                <a:moveTo>
                  <a:pt x="0" y="0"/>
                </a:moveTo>
                <a:lnTo>
                  <a:pt x="3599" y="0"/>
                </a:lnTo>
                <a:lnTo>
                  <a:pt x="3599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85724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866600" y="4485960"/>
            <a:ext cx="3505680" cy="10080"/>
          </a:xfrm>
          <a:custGeom>
            <a:avLst/>
            <a:gdLst/>
            <a:ahLst/>
            <a:rect l="0" t="0" r="r" b="b"/>
            <a:pathLst>
              <a:path w="9738" h="28">
                <a:moveTo>
                  <a:pt x="0" y="0"/>
                </a:moveTo>
                <a:lnTo>
                  <a:pt x="9738" y="0"/>
                </a:lnTo>
                <a:lnTo>
                  <a:pt x="973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5362560" y="44956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57132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571320" y="486720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85724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866600" y="4867200"/>
            <a:ext cx="3505680" cy="9720"/>
          </a:xfrm>
          <a:custGeom>
            <a:avLst/>
            <a:gdLst/>
            <a:ahLst/>
            <a:rect l="0" t="0" r="r" b="b"/>
            <a:pathLst>
              <a:path w="9738" h="27">
                <a:moveTo>
                  <a:pt x="0" y="0"/>
                </a:moveTo>
                <a:lnTo>
                  <a:pt x="9738" y="0"/>
                </a:lnTo>
                <a:lnTo>
                  <a:pt x="97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5362560" y="4876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571320" y="5238720"/>
            <a:ext cx="1295640" cy="9720"/>
          </a:xfrm>
          <a:custGeom>
            <a:avLst/>
            <a:gdLst/>
            <a:ahLst/>
            <a:rect l="0" t="0" r="r" b="b"/>
            <a:pathLst>
              <a:path w="3599" h="27">
                <a:moveTo>
                  <a:pt x="0" y="0"/>
                </a:moveTo>
                <a:lnTo>
                  <a:pt x="3599" y="0"/>
                </a:lnTo>
                <a:lnTo>
                  <a:pt x="3599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866600" y="5238720"/>
            <a:ext cx="3505680" cy="9720"/>
          </a:xfrm>
          <a:custGeom>
            <a:avLst/>
            <a:gdLst/>
            <a:ahLst/>
            <a:rect l="0" t="0" r="r" b="b"/>
            <a:pathLst>
              <a:path w="9738" h="27">
                <a:moveTo>
                  <a:pt x="0" y="0"/>
                </a:moveTo>
                <a:lnTo>
                  <a:pt x="9738" y="0"/>
                </a:lnTo>
                <a:lnTo>
                  <a:pt x="973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571320" y="1297440"/>
            <a:ext cx="11466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验收标准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704880" y="1951920"/>
            <a:ext cx="171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项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1990800" y="195192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EDE8DE"/>
                </a:solidFill>
                <a:effectLst/>
                <a:uFillTx/>
                <a:latin typeface="PingFangSC"/>
                <a:ea typeface="PingFangSC"/>
              </a:rPr>
              <a:t>标准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704880" y="232344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墙⾯平整度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1990800" y="2323440"/>
            <a:ext cx="15933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≤ 3 mm / 2 m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靠尺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704880" y="2694960"/>
            <a:ext cx="8542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⽔磨⽯地⾯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1990800" y="2694960"/>
            <a:ext cx="1985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⽆裂纹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防滑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R10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以上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704880" y="306612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吧台⽔槽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1990800" y="3066120"/>
            <a:ext cx="19515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满⽔测试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30 min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⽆渗漏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704880" y="343764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排烟管道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 txBox="1"/>
          <p:nvPr/>
        </p:nvSpPr>
        <p:spPr>
          <a:xfrm>
            <a:off x="1990800" y="3437640"/>
            <a:ext cx="2808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负压测试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80 Pa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噪⾳ ≤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55 dB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704880" y="3809160"/>
            <a:ext cx="512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1990800" y="3809160"/>
            <a:ext cx="25160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通畅测试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油脂分离率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85%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 txBox="1"/>
          <p:nvPr/>
        </p:nvSpPr>
        <p:spPr>
          <a:xfrm>
            <a:off x="704880" y="4180680"/>
            <a:ext cx="68364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照明照度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1990800" y="4180680"/>
            <a:ext cx="33786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吧台⼯作⾯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500 lux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座位区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200 lux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 txBox="1"/>
          <p:nvPr/>
        </p:nvSpPr>
        <p:spPr>
          <a:xfrm>
            <a:off x="704880" y="4552200"/>
            <a:ext cx="34200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电⽓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 txBox="1"/>
          <p:nvPr/>
        </p:nvSpPr>
        <p:spPr>
          <a:xfrm>
            <a:off x="1990800" y="4552200"/>
            <a:ext cx="238968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绝缘 ≥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0.5 MΩ ·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接地 ≤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 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704880" y="4933080"/>
            <a:ext cx="10249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燃⽓（如有）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1990800" y="4933080"/>
            <a:ext cx="21909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压⼒测试 </a:t>
            </a:r>
            <a:r>
              <a:rPr lang="en-US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3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第三⽅检测报告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1181484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9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 txBox="1"/>
          <p:nvPr/>
        </p:nvSpPr>
        <p:spPr>
          <a:xfrm>
            <a:off x="571320" y="1897200"/>
            <a:ext cx="4480200" cy="401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F&amp;B </a:t>
            </a:r>
            <a:r>
              <a:rPr lang="zh-CN" sz="225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强制合规点（施⼯阶段锁死）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 txBox="1"/>
          <p:nvPr/>
        </p:nvSpPr>
        <p:spPr>
          <a:xfrm>
            <a:off x="628920" y="2482920"/>
            <a:ext cx="58464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后厨与经营区隔墙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：砌筑到顶，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H≥2.4 m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，不可⽤玻璃代替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 txBox="1"/>
          <p:nvPr/>
        </p:nvSpPr>
        <p:spPr>
          <a:xfrm>
            <a:off x="587160" y="2835360"/>
            <a:ext cx="51901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排烟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：必须加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UMC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油烟净化器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独⽴⻛管⾄屋顶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 txBox="1"/>
          <p:nvPr/>
        </p:nvSpPr>
        <p:spPr>
          <a:xfrm>
            <a:off x="587160" y="3197520"/>
            <a:ext cx="3959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3.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隔油池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：三级不锈钢，容量 ≥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0.05 m³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 txBox="1"/>
          <p:nvPr/>
        </p:nvSpPr>
        <p:spPr>
          <a:xfrm>
            <a:off x="587160" y="3559320"/>
            <a:ext cx="427572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4.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给排⽔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：后厨、卫⽣间、吧台三路独⽴地漏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 txBox="1"/>
          <p:nvPr/>
        </p:nvSpPr>
        <p:spPr>
          <a:xfrm>
            <a:off x="587160" y="3921120"/>
            <a:ext cx="57934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5.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出⼊⼝ ≥ </a:t>
            </a:r>
            <a:r>
              <a:rPr lang="en-US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2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：前⻔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后厨应急（带闭⻔器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+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紧急推杆）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587160" y="4283280"/>
            <a:ext cx="5339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6. </a:t>
            </a:r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消防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：灭⽕器每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15 m² 1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具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应急照明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疏散指示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1753640" y="6439320"/>
            <a:ext cx="15336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0" y="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0" y="0"/>
                </a:moveTo>
                <a:lnTo>
                  <a:pt x="0" y="1654"/>
                </a:lnTo>
                <a:lnTo>
                  <a:pt x="1654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8D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0" y="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1653" y="0"/>
                </a:moveTo>
                <a:lnTo>
                  <a:pt x="0" y="1653"/>
                </a:lnTo>
                <a:lnTo>
                  <a:pt x="0" y="3308"/>
                </a:lnTo>
                <a:lnTo>
                  <a:pt x="3308" y="0"/>
                </a:lnTo>
                <a:lnTo>
                  <a:pt x="1653" y="0"/>
                </a:lnTo>
                <a:close/>
              </a:path>
            </a:pathLst>
          </a:custGeom>
          <a:solidFill>
            <a:srgbClr val="EEE9D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0" y="0"/>
            <a:ext cx="1785960" cy="1785960"/>
          </a:xfrm>
          <a:custGeom>
            <a:avLst/>
            <a:gdLst/>
            <a:ahLst/>
            <a:rect l="0" t="0" r="r" b="b"/>
            <a:pathLst>
              <a:path w="4961" h="4961">
                <a:moveTo>
                  <a:pt x="3308" y="0"/>
                </a:moveTo>
                <a:lnTo>
                  <a:pt x="0" y="3308"/>
                </a:lnTo>
                <a:lnTo>
                  <a:pt x="0" y="4961"/>
                </a:lnTo>
                <a:lnTo>
                  <a:pt x="4961" y="0"/>
                </a:lnTo>
                <a:lnTo>
                  <a:pt x="3308" y="0"/>
                </a:lnTo>
                <a:close/>
              </a:path>
            </a:pathLst>
          </a:custGeom>
          <a:solidFill>
            <a:srgbClr val="EEE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0" y="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4961" y="0"/>
                </a:moveTo>
                <a:lnTo>
                  <a:pt x="0" y="4961"/>
                </a:lnTo>
                <a:lnTo>
                  <a:pt x="0" y="6615"/>
                </a:lnTo>
                <a:lnTo>
                  <a:pt x="6615" y="0"/>
                </a:lnTo>
                <a:lnTo>
                  <a:pt x="4961" y="0"/>
                </a:lnTo>
                <a:close/>
              </a:path>
            </a:pathLst>
          </a:custGeom>
          <a:solidFill>
            <a:srgbClr val="EEEAE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6615" y="0"/>
                </a:moveTo>
                <a:lnTo>
                  <a:pt x="0" y="6615"/>
                </a:lnTo>
                <a:lnTo>
                  <a:pt x="0" y="8269"/>
                </a:lnTo>
                <a:lnTo>
                  <a:pt x="8269" y="0"/>
                </a:lnTo>
                <a:lnTo>
                  <a:pt x="6615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0" y="0"/>
            <a:ext cx="3571920" cy="3571920"/>
          </a:xfrm>
          <a:custGeom>
            <a:avLst/>
            <a:gdLst/>
            <a:ahLst/>
            <a:rect l="0" t="0" r="r" b="b"/>
            <a:pathLst>
              <a:path w="9922" h="9922">
                <a:moveTo>
                  <a:pt x="8269" y="0"/>
                </a:moveTo>
                <a:lnTo>
                  <a:pt x="0" y="8269"/>
                </a:lnTo>
                <a:lnTo>
                  <a:pt x="0" y="9922"/>
                </a:lnTo>
                <a:lnTo>
                  <a:pt x="9922" y="0"/>
                </a:lnTo>
                <a:lnTo>
                  <a:pt x="8269" y="0"/>
                </a:lnTo>
                <a:close/>
              </a:path>
            </a:pathLst>
          </a:custGeom>
          <a:solidFill>
            <a:srgbClr val="EFEBE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0" y="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9922" y="0"/>
                </a:moveTo>
                <a:lnTo>
                  <a:pt x="0" y="9922"/>
                </a:lnTo>
                <a:lnTo>
                  <a:pt x="0" y="11576"/>
                </a:lnTo>
                <a:lnTo>
                  <a:pt x="11576" y="0"/>
                </a:lnTo>
                <a:lnTo>
                  <a:pt x="9922" y="0"/>
                </a:lnTo>
                <a:close/>
              </a:path>
            </a:pathLst>
          </a:custGeom>
          <a:solidFill>
            <a:srgbClr val="F0ECE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0" y="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1576" y="0"/>
                </a:moveTo>
                <a:lnTo>
                  <a:pt x="0" y="11576"/>
                </a:lnTo>
                <a:lnTo>
                  <a:pt x="0" y="13230"/>
                </a:lnTo>
                <a:lnTo>
                  <a:pt x="13230" y="0"/>
                </a:lnTo>
                <a:lnTo>
                  <a:pt x="11576" y="0"/>
                </a:lnTo>
                <a:close/>
              </a:path>
            </a:pathLst>
          </a:custGeom>
          <a:solidFill>
            <a:srgbClr val="F0ECE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0" y="0"/>
            <a:ext cx="5357880" cy="5357880"/>
          </a:xfrm>
          <a:custGeom>
            <a:avLst/>
            <a:gdLst/>
            <a:ahLst/>
            <a:rect l="0" t="0" r="r" b="b"/>
            <a:pathLst>
              <a:path w="14883" h="14883">
                <a:moveTo>
                  <a:pt x="13230" y="0"/>
                </a:moveTo>
                <a:lnTo>
                  <a:pt x="0" y="13230"/>
                </a:lnTo>
                <a:lnTo>
                  <a:pt x="0" y="14883"/>
                </a:lnTo>
                <a:lnTo>
                  <a:pt x="14883" y="0"/>
                </a:lnTo>
                <a:lnTo>
                  <a:pt x="13230" y="0"/>
                </a:lnTo>
                <a:close/>
              </a:path>
            </a:pathLst>
          </a:custGeom>
          <a:solidFill>
            <a:srgbClr val="F0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0" y="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4883" y="0"/>
                </a:moveTo>
                <a:lnTo>
                  <a:pt x="0" y="14883"/>
                </a:lnTo>
                <a:lnTo>
                  <a:pt x="0" y="16537"/>
                </a:lnTo>
                <a:lnTo>
                  <a:pt x="16537" y="0"/>
                </a:lnTo>
                <a:lnTo>
                  <a:pt x="14883" y="0"/>
                </a:lnTo>
                <a:close/>
              </a:path>
            </a:pathLst>
          </a:custGeom>
          <a:solidFill>
            <a:srgbClr val="F1ED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0" y="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6537" y="0"/>
                </a:moveTo>
                <a:lnTo>
                  <a:pt x="0" y="16537"/>
                </a:lnTo>
                <a:lnTo>
                  <a:pt x="0" y="18191"/>
                </a:lnTo>
                <a:lnTo>
                  <a:pt x="18191" y="0"/>
                </a:lnTo>
                <a:lnTo>
                  <a:pt x="16537" y="0"/>
                </a:lnTo>
                <a:close/>
              </a:path>
            </a:pathLst>
          </a:custGeom>
          <a:solidFill>
            <a:srgbClr val="F1EEE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0" y="0"/>
            <a:ext cx="6858000" cy="6858000"/>
          </a:xfrm>
          <a:custGeom>
            <a:avLst/>
            <a:gdLst/>
            <a:ahLst/>
            <a:rect l="0" t="0" r="r" b="b"/>
            <a:pathLst>
              <a:path w="19050" h="19050">
                <a:moveTo>
                  <a:pt x="18191" y="0"/>
                </a:moveTo>
                <a:lnTo>
                  <a:pt x="0" y="18191"/>
                </a:lnTo>
                <a:lnTo>
                  <a:pt x="0" y="19050"/>
                </a:lnTo>
                <a:lnTo>
                  <a:pt x="19050" y="0"/>
                </a:lnTo>
                <a:lnTo>
                  <a:pt x="18191" y="0"/>
                </a:lnTo>
                <a:close/>
              </a:path>
            </a:pathLst>
          </a:custGeom>
          <a:solidFill>
            <a:srgbClr val="F2EE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0" y="0"/>
            <a:ext cx="7143840" cy="6858000"/>
          </a:xfrm>
          <a:custGeom>
            <a:avLst/>
            <a:gdLst/>
            <a:ahLst/>
            <a:rect l="0" t="0" r="r" b="b"/>
            <a:pathLst>
              <a:path w="19844" h="19050">
                <a:moveTo>
                  <a:pt x="19050" y="0"/>
                </a:moveTo>
                <a:lnTo>
                  <a:pt x="0" y="19050"/>
                </a:lnTo>
                <a:lnTo>
                  <a:pt x="793" y="19050"/>
                </a:lnTo>
                <a:lnTo>
                  <a:pt x="19844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2EFE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8548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EFE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88092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2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47636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0E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207144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3F1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266688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1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326196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1" y="0"/>
                </a:moveTo>
                <a:lnTo>
                  <a:pt x="0" y="19050"/>
                </a:lnTo>
                <a:lnTo>
                  <a:pt x="1655" y="19050"/>
                </a:lnTo>
                <a:lnTo>
                  <a:pt x="2070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4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3857400" y="0"/>
            <a:ext cx="7453800" cy="6858000"/>
          </a:xfrm>
          <a:custGeom>
            <a:avLst/>
            <a:gdLst/>
            <a:ahLst/>
            <a:rect l="0" t="0" r="r" b="b"/>
            <a:pathLst>
              <a:path w="20705" h="19050">
                <a:moveTo>
                  <a:pt x="19050" y="0"/>
                </a:moveTo>
                <a:lnTo>
                  <a:pt x="0" y="19050"/>
                </a:lnTo>
                <a:lnTo>
                  <a:pt x="1654" y="19050"/>
                </a:lnTo>
                <a:lnTo>
                  <a:pt x="20705" y="0"/>
                </a:lnTo>
                <a:lnTo>
                  <a:pt x="19050" y="0"/>
                </a:lnTo>
                <a:close/>
              </a:path>
            </a:pathLst>
          </a:custGeom>
          <a:solidFill>
            <a:srgbClr val="F5F2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4452840" y="0"/>
            <a:ext cx="7453440" cy="6858000"/>
          </a:xfrm>
          <a:custGeom>
            <a:avLst/>
            <a:gdLst/>
            <a:ahLst/>
            <a:rect l="0" t="0" r="r" b="b"/>
            <a:pathLst>
              <a:path w="20704" h="19050">
                <a:moveTo>
                  <a:pt x="19051" y="0"/>
                </a:moveTo>
                <a:lnTo>
                  <a:pt x="0" y="19050"/>
                </a:lnTo>
                <a:lnTo>
                  <a:pt x="1653" y="19050"/>
                </a:lnTo>
                <a:lnTo>
                  <a:pt x="20704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3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5047920" y="0"/>
            <a:ext cx="7144200" cy="6858000"/>
          </a:xfrm>
          <a:custGeom>
            <a:avLst/>
            <a:gdLst/>
            <a:ahLst/>
            <a:rect l="0" t="0" r="r" b="b"/>
            <a:pathLst>
              <a:path w="19845" h="19050">
                <a:moveTo>
                  <a:pt x="19051" y="0"/>
                </a:moveTo>
                <a:lnTo>
                  <a:pt x="0" y="19050"/>
                </a:lnTo>
                <a:lnTo>
                  <a:pt x="794" y="19050"/>
                </a:lnTo>
                <a:lnTo>
                  <a:pt x="19845" y="0"/>
                </a:lnTo>
                <a:lnTo>
                  <a:pt x="19051" y="0"/>
                </a:lnTo>
                <a:close/>
              </a:path>
            </a:pathLst>
          </a:custGeom>
          <a:solidFill>
            <a:srgbClr val="F5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5333760" y="0"/>
            <a:ext cx="6858360" cy="6858000"/>
          </a:xfrm>
          <a:custGeom>
            <a:avLst/>
            <a:gdLst/>
            <a:ahLst/>
            <a:rect l="0" t="0" r="r" b="b"/>
            <a:pathLst>
              <a:path w="19051" h="19050">
                <a:moveTo>
                  <a:pt x="19051" y="0"/>
                </a:moveTo>
                <a:lnTo>
                  <a:pt x="0" y="19050"/>
                </a:lnTo>
                <a:lnTo>
                  <a:pt x="860" y="19050"/>
                </a:lnTo>
                <a:lnTo>
                  <a:pt x="19051" y="859"/>
                </a:lnTo>
                <a:lnTo>
                  <a:pt x="19051" y="0"/>
                </a:lnTo>
                <a:close/>
              </a:path>
            </a:pathLst>
          </a:custGeom>
          <a:solidFill>
            <a:srgbClr val="F6F4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5643360" y="309240"/>
            <a:ext cx="6548760" cy="6548760"/>
          </a:xfrm>
          <a:custGeom>
            <a:avLst/>
            <a:gdLst/>
            <a:ahLst/>
            <a:rect l="0" t="0" r="r" b="b"/>
            <a:pathLst>
              <a:path w="18191" h="18191">
                <a:moveTo>
                  <a:pt x="18191" y="0"/>
                </a:moveTo>
                <a:lnTo>
                  <a:pt x="0" y="18191"/>
                </a:lnTo>
                <a:lnTo>
                  <a:pt x="1654" y="18191"/>
                </a:lnTo>
                <a:lnTo>
                  <a:pt x="18191" y="1654"/>
                </a:lnTo>
                <a:lnTo>
                  <a:pt x="18191" y="0"/>
                </a:lnTo>
                <a:close/>
              </a:path>
            </a:pathLst>
          </a:custGeom>
          <a:solidFill>
            <a:srgbClr val="F6F4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6238800" y="904680"/>
            <a:ext cx="5953320" cy="5953320"/>
          </a:xfrm>
          <a:custGeom>
            <a:avLst/>
            <a:gdLst/>
            <a:ahLst/>
            <a:rect l="0" t="0" r="r" b="b"/>
            <a:pathLst>
              <a:path w="16537" h="16537">
                <a:moveTo>
                  <a:pt x="16537" y="0"/>
                </a:moveTo>
                <a:lnTo>
                  <a:pt x="0" y="16537"/>
                </a:lnTo>
                <a:lnTo>
                  <a:pt x="1653" y="16537"/>
                </a:lnTo>
                <a:lnTo>
                  <a:pt x="16537" y="1654"/>
                </a:lnTo>
                <a:lnTo>
                  <a:pt x="16537" y="0"/>
                </a:lnTo>
                <a:close/>
              </a:path>
            </a:pathLst>
          </a:custGeom>
          <a:solidFill>
            <a:srgbClr val="F6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6833880" y="1500120"/>
            <a:ext cx="5358240" cy="5357880"/>
          </a:xfrm>
          <a:custGeom>
            <a:avLst/>
            <a:gdLst/>
            <a:ahLst/>
            <a:rect l="0" t="0" r="r" b="b"/>
            <a:pathLst>
              <a:path w="14884" h="14883">
                <a:moveTo>
                  <a:pt x="14884" y="0"/>
                </a:moveTo>
                <a:lnTo>
                  <a:pt x="0" y="14883"/>
                </a:lnTo>
                <a:lnTo>
                  <a:pt x="1654" y="14883"/>
                </a:lnTo>
                <a:lnTo>
                  <a:pt x="14884" y="1653"/>
                </a:lnTo>
                <a:lnTo>
                  <a:pt x="14884" y="0"/>
                </a:lnTo>
                <a:close/>
              </a:path>
            </a:pathLst>
          </a:custGeom>
          <a:solidFill>
            <a:srgbClr val="F7F5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7429320" y="2095200"/>
            <a:ext cx="4762800" cy="4762800"/>
          </a:xfrm>
          <a:custGeom>
            <a:avLst/>
            <a:gdLst/>
            <a:ahLst/>
            <a:rect l="0" t="0" r="r" b="b"/>
            <a:pathLst>
              <a:path w="13230" h="13230">
                <a:moveTo>
                  <a:pt x="13230" y="0"/>
                </a:moveTo>
                <a:lnTo>
                  <a:pt x="0" y="13230"/>
                </a:lnTo>
                <a:lnTo>
                  <a:pt x="1654" y="13230"/>
                </a:lnTo>
                <a:lnTo>
                  <a:pt x="13230" y="1655"/>
                </a:lnTo>
                <a:lnTo>
                  <a:pt x="13230" y="0"/>
                </a:lnTo>
                <a:close/>
              </a:path>
            </a:pathLst>
          </a:custGeom>
          <a:solidFill>
            <a:srgbClr val="F7F6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8024760" y="2690640"/>
            <a:ext cx="4167360" cy="4167360"/>
          </a:xfrm>
          <a:custGeom>
            <a:avLst/>
            <a:gdLst/>
            <a:ahLst/>
            <a:rect l="0" t="0" r="r" b="b"/>
            <a:pathLst>
              <a:path w="11576" h="11576">
                <a:moveTo>
                  <a:pt x="11576" y="0"/>
                </a:moveTo>
                <a:lnTo>
                  <a:pt x="0" y="11576"/>
                </a:lnTo>
                <a:lnTo>
                  <a:pt x="1653" y="11576"/>
                </a:lnTo>
                <a:lnTo>
                  <a:pt x="11576" y="1654"/>
                </a:lnTo>
                <a:lnTo>
                  <a:pt x="11576" y="0"/>
                </a:lnTo>
                <a:close/>
              </a:path>
            </a:pathLst>
          </a:custGeom>
          <a:solidFill>
            <a:srgbClr val="F7F6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8619840" y="3286080"/>
            <a:ext cx="3572280" cy="3571920"/>
          </a:xfrm>
          <a:custGeom>
            <a:avLst/>
            <a:gdLst/>
            <a:ahLst/>
            <a:rect l="0" t="0" r="r" b="b"/>
            <a:pathLst>
              <a:path w="9923" h="9922">
                <a:moveTo>
                  <a:pt x="9923" y="0"/>
                </a:moveTo>
                <a:lnTo>
                  <a:pt x="0" y="9922"/>
                </a:lnTo>
                <a:lnTo>
                  <a:pt x="1655" y="9922"/>
                </a:lnTo>
                <a:lnTo>
                  <a:pt x="9923" y="1653"/>
                </a:lnTo>
                <a:lnTo>
                  <a:pt x="9923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9215280" y="3881160"/>
            <a:ext cx="2976840" cy="2976840"/>
          </a:xfrm>
          <a:custGeom>
            <a:avLst/>
            <a:gdLst/>
            <a:ahLst/>
            <a:rect l="0" t="0" r="r" b="b"/>
            <a:pathLst>
              <a:path w="8269" h="8269">
                <a:moveTo>
                  <a:pt x="8269" y="0"/>
                </a:moveTo>
                <a:lnTo>
                  <a:pt x="0" y="8269"/>
                </a:lnTo>
                <a:lnTo>
                  <a:pt x="1654" y="8269"/>
                </a:lnTo>
                <a:lnTo>
                  <a:pt x="8269" y="1655"/>
                </a:lnTo>
                <a:lnTo>
                  <a:pt x="8269" y="0"/>
                </a:lnTo>
                <a:close/>
              </a:path>
            </a:pathLst>
          </a:custGeom>
          <a:solidFill>
            <a:srgbClr val="F8F7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9810720" y="4476600"/>
            <a:ext cx="2381400" cy="2381400"/>
          </a:xfrm>
          <a:custGeom>
            <a:avLst/>
            <a:gdLst/>
            <a:ahLst/>
            <a:rect l="0" t="0" r="r" b="b"/>
            <a:pathLst>
              <a:path w="6615" h="6615">
                <a:moveTo>
                  <a:pt x="6615" y="0"/>
                </a:moveTo>
                <a:lnTo>
                  <a:pt x="0" y="6615"/>
                </a:lnTo>
                <a:lnTo>
                  <a:pt x="1653" y="6615"/>
                </a:lnTo>
                <a:lnTo>
                  <a:pt x="6615" y="1654"/>
                </a:lnTo>
                <a:lnTo>
                  <a:pt x="6615" y="0"/>
                </a:lnTo>
                <a:close/>
              </a:path>
            </a:pathLst>
          </a:custGeom>
          <a:solidFill>
            <a:srgbClr val="F9F8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10405800" y="5072040"/>
            <a:ext cx="1786320" cy="1785960"/>
          </a:xfrm>
          <a:custGeom>
            <a:avLst/>
            <a:gdLst/>
            <a:ahLst/>
            <a:rect l="0" t="0" r="r" b="b"/>
            <a:pathLst>
              <a:path w="4962" h="4961">
                <a:moveTo>
                  <a:pt x="4962" y="0"/>
                </a:moveTo>
                <a:lnTo>
                  <a:pt x="0" y="4961"/>
                </a:lnTo>
                <a:lnTo>
                  <a:pt x="1654" y="4961"/>
                </a:lnTo>
                <a:lnTo>
                  <a:pt x="4962" y="1653"/>
                </a:lnTo>
                <a:lnTo>
                  <a:pt x="4962" y="0"/>
                </a:lnTo>
                <a:close/>
              </a:path>
            </a:pathLst>
          </a:custGeom>
          <a:solidFill>
            <a:srgbClr val="F9F9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11001240" y="5667120"/>
            <a:ext cx="1190880" cy="1190880"/>
          </a:xfrm>
          <a:custGeom>
            <a:avLst/>
            <a:gdLst/>
            <a:ahLst/>
            <a:rect l="0" t="0" r="r" b="b"/>
            <a:pathLst>
              <a:path w="3308" h="3308">
                <a:moveTo>
                  <a:pt x="3308" y="0"/>
                </a:moveTo>
                <a:lnTo>
                  <a:pt x="0" y="3308"/>
                </a:lnTo>
                <a:lnTo>
                  <a:pt x="1655" y="3308"/>
                </a:lnTo>
                <a:lnTo>
                  <a:pt x="3308" y="1654"/>
                </a:lnTo>
                <a:lnTo>
                  <a:pt x="3308" y="0"/>
                </a:lnTo>
                <a:close/>
              </a:path>
            </a:pathLst>
          </a:custGeom>
          <a:solidFill>
            <a:srgbClr val="F9F9F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11596680" y="6262560"/>
            <a:ext cx="595440" cy="595440"/>
          </a:xfrm>
          <a:custGeom>
            <a:avLst/>
            <a:gdLst/>
            <a:ahLst/>
            <a:rect l="0" t="0" r="r" b="b"/>
            <a:pathLst>
              <a:path w="1654" h="1654">
                <a:moveTo>
                  <a:pt x="1654" y="0"/>
                </a:moveTo>
                <a:lnTo>
                  <a:pt x="0" y="1654"/>
                </a:lnTo>
                <a:lnTo>
                  <a:pt x="1654" y="1654"/>
                </a:lnTo>
                <a:lnTo>
                  <a:pt x="1654" y="0"/>
                </a:lnTo>
                <a:close/>
              </a:path>
            </a:pathLst>
          </a:custGeom>
          <a:solidFill>
            <a:srgbClr val="FAFA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571320" y="2695320"/>
            <a:ext cx="11049480" cy="57600"/>
          </a:xfrm>
          <a:custGeom>
            <a:avLst/>
            <a:gdLst/>
            <a:ahLst/>
            <a:rect l="0" t="0" r="r" b="b"/>
            <a:pathLst>
              <a:path w="30693" h="160">
                <a:moveTo>
                  <a:pt x="0" y="0"/>
                </a:moveTo>
                <a:lnTo>
                  <a:pt x="30693" y="0"/>
                </a:lnTo>
                <a:lnTo>
                  <a:pt x="30693" y="160"/>
                </a:lnTo>
                <a:lnTo>
                  <a:pt x="0" y="160"/>
                </a:lnTo>
                <a:lnTo>
                  <a:pt x="0" y="0"/>
                </a:ln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628560" y="309528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4"/>
                  <a:pt x="204" y="147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7"/>
                </a:cubicBezTo>
                <a:cubicBezTo>
                  <a:pt x="2" y="134"/>
                  <a:pt x="0" y="120"/>
                  <a:pt x="0" y="106"/>
                </a:cubicBezTo>
                <a:cubicBezTo>
                  <a:pt x="0" y="92"/>
                  <a:pt x="2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2"/>
                  <a:pt x="53" y="14"/>
                  <a:pt x="66" y="9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9"/>
                </a:cubicBezTo>
                <a:cubicBezTo>
                  <a:pt x="160" y="14"/>
                  <a:pt x="171" y="22"/>
                  <a:pt x="181" y="31"/>
                </a:cubicBezTo>
                <a:cubicBezTo>
                  <a:pt x="191" y="41"/>
                  <a:pt x="199" y="53"/>
                  <a:pt x="204" y="66"/>
                </a:cubicBezTo>
                <a:cubicBezTo>
                  <a:pt x="210" y="79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838080" y="2990520"/>
            <a:ext cx="2762640" cy="276840"/>
          </a:xfrm>
          <a:custGeom>
            <a:avLst/>
            <a:gdLst/>
            <a:ahLst/>
            <a:rect l="0" t="0" r="r" b="b"/>
            <a:pathLst>
              <a:path w="7674" h="769">
                <a:moveTo>
                  <a:pt x="0" y="689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594" y="0"/>
                </a:lnTo>
                <a:cubicBezTo>
                  <a:pt x="7605" y="0"/>
                  <a:pt x="7615" y="2"/>
                  <a:pt x="7625" y="6"/>
                </a:cubicBezTo>
                <a:cubicBezTo>
                  <a:pt x="7634" y="10"/>
                  <a:pt x="7643" y="16"/>
                  <a:pt x="7651" y="24"/>
                </a:cubicBezTo>
                <a:cubicBezTo>
                  <a:pt x="7658" y="31"/>
                  <a:pt x="7664" y="40"/>
                  <a:pt x="7668" y="49"/>
                </a:cubicBezTo>
                <a:cubicBezTo>
                  <a:pt x="7672" y="59"/>
                  <a:pt x="7674" y="69"/>
                  <a:pt x="7674" y="80"/>
                </a:cubicBezTo>
                <a:lnTo>
                  <a:pt x="7674" y="689"/>
                </a:lnTo>
                <a:cubicBezTo>
                  <a:pt x="7674" y="700"/>
                  <a:pt x="7672" y="710"/>
                  <a:pt x="7668" y="720"/>
                </a:cubicBezTo>
                <a:cubicBezTo>
                  <a:pt x="7664" y="729"/>
                  <a:pt x="7658" y="738"/>
                  <a:pt x="7651" y="745"/>
                </a:cubicBezTo>
                <a:cubicBezTo>
                  <a:pt x="7643" y="753"/>
                  <a:pt x="7634" y="759"/>
                  <a:pt x="7625" y="763"/>
                </a:cubicBezTo>
                <a:cubicBezTo>
                  <a:pt x="7615" y="767"/>
                  <a:pt x="7605" y="769"/>
                  <a:pt x="7594" y="769"/>
                </a:cubicBezTo>
                <a:lnTo>
                  <a:pt x="79" y="769"/>
                </a:lnTo>
                <a:cubicBezTo>
                  <a:pt x="69" y="769"/>
                  <a:pt x="59" y="767"/>
                  <a:pt x="49" y="763"/>
                </a:cubicBezTo>
                <a:cubicBezTo>
                  <a:pt x="39" y="759"/>
                  <a:pt x="31" y="753"/>
                  <a:pt x="23" y="745"/>
                </a:cubicBezTo>
                <a:cubicBezTo>
                  <a:pt x="16" y="738"/>
                  <a:pt x="10" y="729"/>
                  <a:pt x="6" y="720"/>
                </a:cubicBezTo>
                <a:cubicBezTo>
                  <a:pt x="2" y="710"/>
                  <a:pt x="0" y="700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571320" y="1735200"/>
            <a:ext cx="3658320" cy="853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6B4E36"/>
                </a:solidFill>
                <a:effectLst/>
                <a:uFillTx/>
                <a:latin typeface="PingFangSC"/>
                <a:ea typeface="PingFangSC"/>
              </a:rPr>
              <a:t>你拿到的⽂件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895320" y="3006000"/>
            <a:ext cx="26406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exports/floorplan.dxf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628560" y="34574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6"/>
                </a:moveTo>
                <a:cubicBezTo>
                  <a:pt x="212" y="120"/>
                  <a:pt x="210" y="133"/>
                  <a:pt x="204" y="146"/>
                </a:cubicBezTo>
                <a:cubicBezTo>
                  <a:pt x="199" y="159"/>
                  <a:pt x="191" y="171"/>
                  <a:pt x="181" y="181"/>
                </a:cubicBezTo>
                <a:cubicBezTo>
                  <a:pt x="171" y="190"/>
                  <a:pt x="160" y="198"/>
                  <a:pt x="147" y="203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3"/>
                </a:cubicBezTo>
                <a:cubicBezTo>
                  <a:pt x="53" y="198"/>
                  <a:pt x="41" y="190"/>
                  <a:pt x="31" y="181"/>
                </a:cubicBezTo>
                <a:cubicBezTo>
                  <a:pt x="21" y="171"/>
                  <a:pt x="13" y="159"/>
                  <a:pt x="8" y="146"/>
                </a:cubicBezTo>
                <a:cubicBezTo>
                  <a:pt x="2" y="133"/>
                  <a:pt x="0" y="120"/>
                  <a:pt x="0" y="106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6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838080" y="3352680"/>
            <a:ext cx="2133720" cy="276480"/>
          </a:xfrm>
          <a:custGeom>
            <a:avLst/>
            <a:gdLst/>
            <a:ahLst/>
            <a:rect l="0" t="0" r="r" b="b"/>
            <a:pathLst>
              <a:path w="5927" h="768">
                <a:moveTo>
                  <a:pt x="0" y="689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848" y="0"/>
                </a:lnTo>
                <a:cubicBezTo>
                  <a:pt x="5859" y="0"/>
                  <a:pt x="5869" y="2"/>
                  <a:pt x="5878" y="6"/>
                </a:cubicBezTo>
                <a:cubicBezTo>
                  <a:pt x="5888" y="10"/>
                  <a:pt x="5897" y="16"/>
                  <a:pt x="5904" y="23"/>
                </a:cubicBezTo>
                <a:cubicBezTo>
                  <a:pt x="5912" y="31"/>
                  <a:pt x="5917" y="39"/>
                  <a:pt x="5921" y="49"/>
                </a:cubicBezTo>
                <a:cubicBezTo>
                  <a:pt x="5925" y="59"/>
                  <a:pt x="5927" y="69"/>
                  <a:pt x="5927" y="79"/>
                </a:cubicBezTo>
                <a:lnTo>
                  <a:pt x="5927" y="689"/>
                </a:lnTo>
                <a:cubicBezTo>
                  <a:pt x="5927" y="699"/>
                  <a:pt x="5925" y="709"/>
                  <a:pt x="5921" y="719"/>
                </a:cubicBezTo>
                <a:cubicBezTo>
                  <a:pt x="5917" y="729"/>
                  <a:pt x="5912" y="737"/>
                  <a:pt x="5904" y="745"/>
                </a:cubicBezTo>
                <a:cubicBezTo>
                  <a:pt x="5897" y="752"/>
                  <a:pt x="5888" y="758"/>
                  <a:pt x="5878" y="762"/>
                </a:cubicBezTo>
                <a:cubicBezTo>
                  <a:pt x="5869" y="766"/>
                  <a:pt x="5859" y="768"/>
                  <a:pt x="5848" y="768"/>
                </a:cubicBezTo>
                <a:lnTo>
                  <a:pt x="79" y="768"/>
                </a:lnTo>
                <a:cubicBezTo>
                  <a:pt x="69" y="768"/>
                  <a:pt x="59" y="766"/>
                  <a:pt x="49" y="762"/>
                </a:cubicBezTo>
                <a:cubicBezTo>
                  <a:pt x="39" y="758"/>
                  <a:pt x="31" y="752"/>
                  <a:pt x="23" y="745"/>
                </a:cubicBezTo>
                <a:cubicBezTo>
                  <a:pt x="16" y="737"/>
                  <a:pt x="10" y="729"/>
                  <a:pt x="6" y="719"/>
                </a:cubicBezTo>
                <a:cubicBezTo>
                  <a:pt x="2" y="709"/>
                  <a:pt x="0" y="699"/>
                  <a:pt x="0" y="689"/>
                </a:cubicBezTo>
                <a:close/>
              </a:path>
            </a:pathLst>
          </a:custGeom>
          <a:solidFill>
            <a:srgbClr val="6B4E36">
              <a:alpha val="8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3601800" y="2978280"/>
            <a:ext cx="21988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AutoCAD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直接开图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895320" y="3367800"/>
            <a:ext cx="201204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6B4E36"/>
                </a:solidFill>
                <a:effectLst/>
                <a:uFillTx/>
                <a:latin typeface="Menlo"/>
                <a:ea typeface="Menlo"/>
              </a:rPr>
              <a:t>exports/cafe.ifc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628560" y="3819240"/>
            <a:ext cx="76320" cy="76680"/>
          </a:xfrm>
          <a:custGeom>
            <a:avLst/>
            <a:gdLst/>
            <a:ahLst/>
            <a:rect l="0" t="0" r="r" b="b"/>
            <a:pathLst>
              <a:path w="212" h="213">
                <a:moveTo>
                  <a:pt x="212" y="107"/>
                </a:moveTo>
                <a:cubicBezTo>
                  <a:pt x="212" y="121"/>
                  <a:pt x="210" y="135"/>
                  <a:pt x="204" y="148"/>
                </a:cubicBezTo>
                <a:cubicBezTo>
                  <a:pt x="199" y="161"/>
                  <a:pt x="191" y="172"/>
                  <a:pt x="181" y="182"/>
                </a:cubicBezTo>
                <a:cubicBezTo>
                  <a:pt x="171" y="192"/>
                  <a:pt x="160" y="200"/>
                  <a:pt x="147" y="205"/>
                </a:cubicBezTo>
                <a:cubicBezTo>
                  <a:pt x="134" y="210"/>
                  <a:pt x="121" y="213"/>
                  <a:pt x="107" y="213"/>
                </a:cubicBezTo>
                <a:cubicBezTo>
                  <a:pt x="93" y="213"/>
                  <a:pt x="79" y="210"/>
                  <a:pt x="66" y="205"/>
                </a:cubicBezTo>
                <a:cubicBezTo>
                  <a:pt x="53" y="200"/>
                  <a:pt x="41" y="192"/>
                  <a:pt x="31" y="182"/>
                </a:cubicBezTo>
                <a:cubicBezTo>
                  <a:pt x="21" y="172"/>
                  <a:pt x="13" y="161"/>
                  <a:pt x="8" y="148"/>
                </a:cubicBezTo>
                <a:cubicBezTo>
                  <a:pt x="2" y="135"/>
                  <a:pt x="0" y="121"/>
                  <a:pt x="0" y="107"/>
                </a:cubicBezTo>
                <a:cubicBezTo>
                  <a:pt x="0" y="93"/>
                  <a:pt x="2" y="80"/>
                  <a:pt x="8" y="67"/>
                </a:cubicBezTo>
                <a:cubicBezTo>
                  <a:pt x="13" y="54"/>
                  <a:pt x="21" y="41"/>
                  <a:pt x="31" y="31"/>
                </a:cubicBezTo>
                <a:cubicBezTo>
                  <a:pt x="41" y="21"/>
                  <a:pt x="53" y="14"/>
                  <a:pt x="66" y="8"/>
                </a:cubicBezTo>
                <a:cubicBezTo>
                  <a:pt x="79" y="3"/>
                  <a:pt x="93" y="0"/>
                  <a:pt x="107" y="0"/>
                </a:cubicBezTo>
                <a:cubicBezTo>
                  <a:pt x="121" y="0"/>
                  <a:pt x="134" y="3"/>
                  <a:pt x="147" y="8"/>
                </a:cubicBezTo>
                <a:cubicBezTo>
                  <a:pt x="160" y="14"/>
                  <a:pt x="171" y="21"/>
                  <a:pt x="181" y="31"/>
                </a:cubicBezTo>
                <a:cubicBezTo>
                  <a:pt x="191" y="41"/>
                  <a:pt x="199" y="54"/>
                  <a:pt x="204" y="67"/>
                </a:cubicBezTo>
                <a:cubicBezTo>
                  <a:pt x="210" y="80"/>
                  <a:pt x="212" y="93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2971080" y="3340080"/>
            <a:ext cx="12690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— BIM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协同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628560" y="4181400"/>
            <a:ext cx="76320" cy="76320"/>
          </a:xfrm>
          <a:custGeom>
            <a:avLst/>
            <a:gdLst/>
            <a:ahLst/>
            <a:rect l="0" t="0" r="r" b="b"/>
            <a:pathLst>
              <a:path w="212" h="212">
                <a:moveTo>
                  <a:pt x="212" y="107"/>
                </a:moveTo>
                <a:cubicBezTo>
                  <a:pt x="212" y="121"/>
                  <a:pt x="210" y="134"/>
                  <a:pt x="204" y="147"/>
                </a:cubicBezTo>
                <a:cubicBezTo>
                  <a:pt x="199" y="160"/>
                  <a:pt x="191" y="171"/>
                  <a:pt x="181" y="181"/>
                </a:cubicBezTo>
                <a:cubicBezTo>
                  <a:pt x="171" y="191"/>
                  <a:pt x="160" y="199"/>
                  <a:pt x="147" y="204"/>
                </a:cubicBezTo>
                <a:cubicBezTo>
                  <a:pt x="134" y="210"/>
                  <a:pt x="121" y="212"/>
                  <a:pt x="107" y="212"/>
                </a:cubicBezTo>
                <a:cubicBezTo>
                  <a:pt x="93" y="212"/>
                  <a:pt x="79" y="210"/>
                  <a:pt x="66" y="204"/>
                </a:cubicBezTo>
                <a:cubicBezTo>
                  <a:pt x="53" y="199"/>
                  <a:pt x="41" y="191"/>
                  <a:pt x="31" y="181"/>
                </a:cubicBezTo>
                <a:cubicBezTo>
                  <a:pt x="21" y="171"/>
                  <a:pt x="13" y="160"/>
                  <a:pt x="8" y="147"/>
                </a:cubicBezTo>
                <a:cubicBezTo>
                  <a:pt x="2" y="134"/>
                  <a:pt x="0" y="121"/>
                  <a:pt x="0" y="107"/>
                </a:cubicBezTo>
                <a:cubicBezTo>
                  <a:pt x="0" y="92"/>
                  <a:pt x="2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3" y="0"/>
                  <a:pt x="107" y="0"/>
                </a:cubicBezTo>
                <a:cubicBezTo>
                  <a:pt x="121" y="0"/>
                  <a:pt x="134" y="2"/>
                  <a:pt x="147" y="8"/>
                </a:cubicBezTo>
                <a:cubicBezTo>
                  <a:pt x="160" y="13"/>
                  <a:pt x="171" y="21"/>
                  <a:pt x="181" y="31"/>
                </a:cubicBezTo>
                <a:cubicBezTo>
                  <a:pt x="191" y="41"/>
                  <a:pt x="199" y="52"/>
                  <a:pt x="204" y="65"/>
                </a:cubicBezTo>
                <a:cubicBezTo>
                  <a:pt x="210" y="78"/>
                  <a:pt x="212" y="92"/>
                  <a:pt x="212" y="107"/>
                </a:cubicBezTo>
                <a:close/>
              </a:path>
            </a:pathLst>
          </a:custGeom>
          <a:solidFill>
            <a:srgbClr val="2C2C2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838080" y="3702240"/>
            <a:ext cx="407664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本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PPT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（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decks/deck-contractor.pptx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）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 txBox="1"/>
          <p:nvPr/>
        </p:nvSpPr>
        <p:spPr>
          <a:xfrm>
            <a:off x="838080" y="4064040"/>
            <a:ext cx="520560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设计师对接：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Studio Copilot Design ·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微信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/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电话待建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 txBox="1"/>
          <p:nvPr/>
        </p:nvSpPr>
        <p:spPr>
          <a:xfrm>
            <a:off x="571320" y="4483080"/>
            <a:ext cx="2956680" cy="293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650" b="1" u="none" strike="noStrike">
                <a:solidFill>
                  <a:srgbClr val="C97D5C"/>
                </a:solidFill>
                <a:effectLst/>
                <a:uFillTx/>
                <a:latin typeface="PingFangSC"/>
                <a:ea typeface="PingFangSC"/>
              </a:rPr>
              <a:t>问题随时同步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 → </a:t>
            </a:r>
            <a:r>
              <a:rPr lang="en-US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2 </a:t>
            </a:r>
            <a:r>
              <a:rPr lang="zh-CN" sz="1650" b="0" u="none" strike="noStrike">
                <a:solidFill>
                  <a:srgbClr val="2C2C2E"/>
                </a:solidFill>
                <a:effectLst/>
                <a:uFillTx/>
                <a:latin typeface="PingFangSC"/>
                <a:ea typeface="PingFangSC"/>
              </a:rPr>
              <a:t>⼩时内响应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285840" y="199440"/>
            <a:ext cx="272376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Coﬀee Lab ·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独⽴精品咖啡店 </a:t>
            </a:r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· v1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285840" y="6409440"/>
            <a:ext cx="3537720" cy="23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Studio Copilot · 2026-04-15 · for </a:t>
            </a:r>
            <a:r>
              <a:rPr lang="zh-CN" sz="1350" b="0" u="none" strike="noStrike">
                <a:solidFill>
                  <a:srgbClr val="666666"/>
                </a:solidFill>
                <a:effectLst/>
                <a:uFillTx/>
                <a:latin typeface="PingFangSC"/>
                <a:ea typeface="PingFangSC"/>
              </a:rPr>
              <a:t>施⼯总包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1783880" y="6439320"/>
            <a:ext cx="151920" cy="213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B89968"/>
                </a:solidFill>
                <a:effectLst/>
                <a:uFillTx/>
                <a:latin typeface="PingFangSC"/>
                <a:ea typeface="PingFangSC"/>
              </a:rPr>
              <a:t>11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