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0" y="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0" y="0"/>
                </a:moveTo>
                <a:lnTo>
                  <a:pt x="0" y="1654"/>
                </a:lnTo>
                <a:lnTo>
                  <a:pt x="1654" y="0"/>
                </a:lnTo>
                <a:lnTo>
                  <a:pt x="0" y="0"/>
                </a:lnTo>
                <a:close/>
              </a:path>
            </a:pathLst>
          </a:custGeom>
          <a:solidFill>
            <a:srgbClr val="EDE8D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/>
          <p:nvPr/>
        </p:nvSpPr>
        <p:spPr>
          <a:xfrm>
            <a:off x="0" y="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3" y="0"/>
                </a:moveTo>
                <a:lnTo>
                  <a:pt x="0" y="1653"/>
                </a:lnTo>
                <a:lnTo>
                  <a:pt x="0" y="3308"/>
                </a:lnTo>
                <a:lnTo>
                  <a:pt x="3308" y="0"/>
                </a:lnTo>
                <a:lnTo>
                  <a:pt x="1653" y="0"/>
                </a:lnTo>
                <a:close/>
              </a:path>
            </a:pathLst>
          </a:custGeom>
          <a:solidFill>
            <a:srgbClr val="EEE9D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/>
          <p:nvPr/>
        </p:nvSpPr>
        <p:spPr>
          <a:xfrm>
            <a:off x="0" y="0"/>
            <a:ext cx="1785960" cy="1785960"/>
          </a:xfrm>
          <a:custGeom>
            <a:avLst/>
            <a:gdLst/>
            <a:ahLst/>
            <a:rect l="0" t="0" r="r" b="b"/>
            <a:pathLst>
              <a:path w="4961" h="4961">
                <a:moveTo>
                  <a:pt x="3308" y="0"/>
                </a:moveTo>
                <a:lnTo>
                  <a:pt x="0" y="3308"/>
                </a:lnTo>
                <a:lnTo>
                  <a:pt x="0" y="4961"/>
                </a:lnTo>
                <a:lnTo>
                  <a:pt x="4961" y="0"/>
                </a:lnTo>
                <a:lnTo>
                  <a:pt x="3308" y="0"/>
                </a:lnTo>
                <a:close/>
              </a:path>
            </a:pathLst>
          </a:custGeom>
          <a:solidFill>
            <a:srgbClr val="EEE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/>
          <p:nvPr/>
        </p:nvSpPr>
        <p:spPr>
          <a:xfrm>
            <a:off x="0" y="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4961" y="0"/>
                </a:moveTo>
                <a:lnTo>
                  <a:pt x="0" y="4961"/>
                </a:lnTo>
                <a:lnTo>
                  <a:pt x="0" y="6615"/>
                </a:lnTo>
                <a:lnTo>
                  <a:pt x="6615" y="0"/>
                </a:lnTo>
                <a:lnTo>
                  <a:pt x="4961" y="0"/>
                </a:lnTo>
                <a:close/>
              </a:path>
            </a:pathLst>
          </a:custGeom>
          <a:solidFill>
            <a:srgbClr val="EEEAE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/>
          <p:nvPr/>
        </p:nvSpPr>
        <p:spPr>
          <a:xfrm>
            <a:off x="0" y="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6615" y="0"/>
                </a:moveTo>
                <a:lnTo>
                  <a:pt x="0" y="6615"/>
                </a:lnTo>
                <a:lnTo>
                  <a:pt x="0" y="8269"/>
                </a:lnTo>
                <a:lnTo>
                  <a:pt x="8269" y="0"/>
                </a:lnTo>
                <a:lnTo>
                  <a:pt x="6615" y="0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0" y="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8269" y="0"/>
                </a:moveTo>
                <a:lnTo>
                  <a:pt x="0" y="8269"/>
                </a:lnTo>
                <a:lnTo>
                  <a:pt x="0" y="9922"/>
                </a:lnTo>
                <a:lnTo>
                  <a:pt x="9922" y="0"/>
                </a:lnTo>
                <a:lnTo>
                  <a:pt x="8269" y="0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0" y="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9922" y="0"/>
                </a:moveTo>
                <a:lnTo>
                  <a:pt x="0" y="9922"/>
                </a:lnTo>
                <a:lnTo>
                  <a:pt x="0" y="11576"/>
                </a:lnTo>
                <a:lnTo>
                  <a:pt x="11576" y="0"/>
                </a:lnTo>
                <a:lnTo>
                  <a:pt x="9922" y="0"/>
                </a:lnTo>
                <a:close/>
              </a:path>
            </a:pathLst>
          </a:custGeom>
          <a:solidFill>
            <a:srgbClr val="F0ECE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0" y="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1576" y="0"/>
                </a:moveTo>
                <a:lnTo>
                  <a:pt x="0" y="11576"/>
                </a:lnTo>
                <a:lnTo>
                  <a:pt x="0" y="13230"/>
                </a:lnTo>
                <a:lnTo>
                  <a:pt x="13230" y="0"/>
                </a:lnTo>
                <a:lnTo>
                  <a:pt x="11576" y="0"/>
                </a:lnTo>
                <a:close/>
              </a:path>
            </a:pathLst>
          </a:custGeom>
          <a:solidFill>
            <a:srgbClr val="F0ECE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0" y="0"/>
            <a:ext cx="5357880" cy="5357880"/>
          </a:xfrm>
          <a:custGeom>
            <a:avLst/>
            <a:gdLst/>
            <a:ahLst/>
            <a:rect l="0" t="0" r="r" b="b"/>
            <a:pathLst>
              <a:path w="14883" h="14883">
                <a:moveTo>
                  <a:pt x="13230" y="0"/>
                </a:moveTo>
                <a:lnTo>
                  <a:pt x="0" y="13230"/>
                </a:lnTo>
                <a:lnTo>
                  <a:pt x="0" y="14883"/>
                </a:lnTo>
                <a:lnTo>
                  <a:pt x="14883" y="0"/>
                </a:lnTo>
                <a:lnTo>
                  <a:pt x="13230" y="0"/>
                </a:lnTo>
                <a:close/>
              </a:path>
            </a:pathLst>
          </a:custGeom>
          <a:solidFill>
            <a:srgbClr val="F0ED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0" y="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4883" y="0"/>
                </a:moveTo>
                <a:lnTo>
                  <a:pt x="0" y="14883"/>
                </a:lnTo>
                <a:lnTo>
                  <a:pt x="0" y="16537"/>
                </a:lnTo>
                <a:lnTo>
                  <a:pt x="16537" y="0"/>
                </a:lnTo>
                <a:lnTo>
                  <a:pt x="14883" y="0"/>
                </a:lnTo>
                <a:close/>
              </a:path>
            </a:pathLst>
          </a:custGeom>
          <a:solidFill>
            <a:srgbClr val="F1ED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/>
          <p:nvPr/>
        </p:nvSpPr>
        <p:spPr>
          <a:xfrm>
            <a:off x="0" y="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6537" y="0"/>
                </a:moveTo>
                <a:lnTo>
                  <a:pt x="0" y="16537"/>
                </a:lnTo>
                <a:lnTo>
                  <a:pt x="0" y="18191"/>
                </a:lnTo>
                <a:lnTo>
                  <a:pt x="18191" y="0"/>
                </a:lnTo>
                <a:lnTo>
                  <a:pt x="16537" y="0"/>
                </a:lnTo>
                <a:close/>
              </a:path>
            </a:pathLst>
          </a:custGeom>
          <a:solidFill>
            <a:srgbClr val="F1EEE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/>
          <p:nvPr/>
        </p:nvSpPr>
        <p:spPr>
          <a:xfrm>
            <a:off x="0" y="0"/>
            <a:ext cx="6858000" cy="6858000"/>
          </a:xfrm>
          <a:custGeom>
            <a:avLst/>
            <a:gdLst/>
            <a:ahLst/>
            <a:rect l="0" t="0" r="r" b="b"/>
            <a:pathLst>
              <a:path w="19050" h="19050">
                <a:moveTo>
                  <a:pt x="18191" y="0"/>
                </a:moveTo>
                <a:lnTo>
                  <a:pt x="0" y="18191"/>
                </a:lnTo>
                <a:lnTo>
                  <a:pt x="0" y="19050"/>
                </a:lnTo>
                <a:lnTo>
                  <a:pt x="19050" y="0"/>
                </a:lnTo>
                <a:lnTo>
                  <a:pt x="18191" y="0"/>
                </a:lnTo>
                <a:close/>
              </a:path>
            </a:pathLst>
          </a:custGeom>
          <a:solidFill>
            <a:srgbClr val="F2EE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/>
          <p:nvPr/>
        </p:nvSpPr>
        <p:spPr>
          <a:xfrm>
            <a:off x="0" y="0"/>
            <a:ext cx="7143840" cy="6858000"/>
          </a:xfrm>
          <a:custGeom>
            <a:avLst/>
            <a:gdLst/>
            <a:ahLst/>
            <a:rect l="0" t="0" r="r" b="b"/>
            <a:pathLst>
              <a:path w="19844" h="19050">
                <a:moveTo>
                  <a:pt x="19050" y="0"/>
                </a:moveTo>
                <a:lnTo>
                  <a:pt x="0" y="19050"/>
                </a:lnTo>
                <a:lnTo>
                  <a:pt x="793" y="19050"/>
                </a:lnTo>
                <a:lnTo>
                  <a:pt x="19844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F2EF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>
            <a:off x="28548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2EFE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88092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2F0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147636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3F0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207144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3F1E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266688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4F1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/>
          <p:nvPr/>
        </p:nvSpPr>
        <p:spPr>
          <a:xfrm>
            <a:off x="326196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5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4F2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>
            <a:off x="385740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0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F5F2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>
            <a:off x="445284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5F3E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5047920" y="0"/>
            <a:ext cx="7144200" cy="6858000"/>
          </a:xfrm>
          <a:custGeom>
            <a:avLst/>
            <a:gdLst/>
            <a:ahLst/>
            <a:rect l="0" t="0" r="r" b="b"/>
            <a:pathLst>
              <a:path w="19845" h="19050">
                <a:moveTo>
                  <a:pt x="19051" y="0"/>
                </a:moveTo>
                <a:lnTo>
                  <a:pt x="0" y="19050"/>
                </a:lnTo>
                <a:lnTo>
                  <a:pt x="794" y="19050"/>
                </a:lnTo>
                <a:lnTo>
                  <a:pt x="1984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5F4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5333760" y="0"/>
            <a:ext cx="6858360" cy="6858000"/>
          </a:xfrm>
          <a:custGeom>
            <a:avLst/>
            <a:gdLst/>
            <a:ahLst/>
            <a:rect l="0" t="0" r="r" b="b"/>
            <a:pathLst>
              <a:path w="19051" h="19050">
                <a:moveTo>
                  <a:pt x="19051" y="0"/>
                </a:moveTo>
                <a:lnTo>
                  <a:pt x="0" y="19050"/>
                </a:lnTo>
                <a:lnTo>
                  <a:pt x="860" y="19050"/>
                </a:lnTo>
                <a:lnTo>
                  <a:pt x="19051" y="859"/>
                </a:lnTo>
                <a:lnTo>
                  <a:pt x="19051" y="0"/>
                </a:lnTo>
                <a:close/>
              </a:path>
            </a:pathLst>
          </a:custGeom>
          <a:solidFill>
            <a:srgbClr val="F6F4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/>
          <p:nvPr/>
        </p:nvSpPr>
        <p:spPr>
          <a:xfrm>
            <a:off x="5643360" y="30924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8191" y="0"/>
                </a:moveTo>
                <a:lnTo>
                  <a:pt x="0" y="18191"/>
                </a:lnTo>
                <a:lnTo>
                  <a:pt x="1654" y="18191"/>
                </a:lnTo>
                <a:lnTo>
                  <a:pt x="18191" y="1654"/>
                </a:lnTo>
                <a:lnTo>
                  <a:pt x="18191" y="0"/>
                </a:lnTo>
                <a:close/>
              </a:path>
            </a:pathLst>
          </a:custGeom>
          <a:solidFill>
            <a:srgbClr val="F6F4E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6238800" y="90468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537" y="0"/>
                </a:moveTo>
                <a:lnTo>
                  <a:pt x="0" y="16537"/>
                </a:lnTo>
                <a:lnTo>
                  <a:pt x="1653" y="16537"/>
                </a:lnTo>
                <a:lnTo>
                  <a:pt x="16537" y="1654"/>
                </a:lnTo>
                <a:lnTo>
                  <a:pt x="16537" y="0"/>
                </a:lnTo>
                <a:close/>
              </a:path>
            </a:pathLst>
          </a:custGeom>
          <a:solidFill>
            <a:srgbClr val="F6F5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6833880" y="1500120"/>
            <a:ext cx="5358240" cy="5357880"/>
          </a:xfrm>
          <a:custGeom>
            <a:avLst/>
            <a:gdLst/>
            <a:ahLst/>
            <a:rect l="0" t="0" r="r" b="b"/>
            <a:pathLst>
              <a:path w="14884" h="14883">
                <a:moveTo>
                  <a:pt x="14884" y="0"/>
                </a:moveTo>
                <a:lnTo>
                  <a:pt x="0" y="14883"/>
                </a:lnTo>
                <a:lnTo>
                  <a:pt x="1654" y="14883"/>
                </a:lnTo>
                <a:lnTo>
                  <a:pt x="14884" y="1653"/>
                </a:lnTo>
                <a:lnTo>
                  <a:pt x="14884" y="0"/>
                </a:lnTo>
                <a:close/>
              </a:path>
            </a:pathLst>
          </a:custGeom>
          <a:solidFill>
            <a:srgbClr val="F7F5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7429320" y="20952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3230" y="0"/>
                </a:moveTo>
                <a:lnTo>
                  <a:pt x="0" y="13230"/>
                </a:lnTo>
                <a:lnTo>
                  <a:pt x="1654" y="13230"/>
                </a:lnTo>
                <a:lnTo>
                  <a:pt x="13230" y="1655"/>
                </a:lnTo>
                <a:lnTo>
                  <a:pt x="13230" y="0"/>
                </a:lnTo>
                <a:close/>
              </a:path>
            </a:pathLst>
          </a:custGeom>
          <a:solidFill>
            <a:srgbClr val="F7F6F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8024760" y="269064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576" y="0"/>
                </a:moveTo>
                <a:lnTo>
                  <a:pt x="0" y="11576"/>
                </a:lnTo>
                <a:lnTo>
                  <a:pt x="1653" y="11576"/>
                </a:lnTo>
                <a:lnTo>
                  <a:pt x="11576" y="1654"/>
                </a:lnTo>
                <a:lnTo>
                  <a:pt x="11576" y="0"/>
                </a:lnTo>
                <a:close/>
              </a:path>
            </a:pathLst>
          </a:custGeom>
          <a:solidFill>
            <a:srgbClr val="F7F6F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8619840" y="3286080"/>
            <a:ext cx="3572280" cy="3571920"/>
          </a:xfrm>
          <a:custGeom>
            <a:avLst/>
            <a:gdLst/>
            <a:ahLst/>
            <a:rect l="0" t="0" r="r" b="b"/>
            <a:pathLst>
              <a:path w="9923" h="9922">
                <a:moveTo>
                  <a:pt x="9923" y="0"/>
                </a:moveTo>
                <a:lnTo>
                  <a:pt x="0" y="9922"/>
                </a:lnTo>
                <a:lnTo>
                  <a:pt x="1655" y="9922"/>
                </a:lnTo>
                <a:lnTo>
                  <a:pt x="9923" y="1653"/>
                </a:lnTo>
                <a:lnTo>
                  <a:pt x="9923" y="0"/>
                </a:lnTo>
                <a:close/>
              </a:path>
            </a:pathLst>
          </a:custGeom>
          <a:solidFill>
            <a:srgbClr val="F8F7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/>
          <p:nvPr/>
        </p:nvSpPr>
        <p:spPr>
          <a:xfrm>
            <a:off x="9215280" y="388116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8269" y="0"/>
                </a:moveTo>
                <a:lnTo>
                  <a:pt x="0" y="8269"/>
                </a:lnTo>
                <a:lnTo>
                  <a:pt x="1654" y="8269"/>
                </a:lnTo>
                <a:lnTo>
                  <a:pt x="8269" y="1655"/>
                </a:lnTo>
                <a:lnTo>
                  <a:pt x="8269" y="0"/>
                </a:lnTo>
                <a:close/>
              </a:path>
            </a:pathLst>
          </a:custGeom>
          <a:solidFill>
            <a:srgbClr val="F8F7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9810720" y="4476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615" y="0"/>
                </a:moveTo>
                <a:lnTo>
                  <a:pt x="0" y="6615"/>
                </a:lnTo>
                <a:lnTo>
                  <a:pt x="1653" y="6615"/>
                </a:lnTo>
                <a:lnTo>
                  <a:pt x="6615" y="1654"/>
                </a:lnTo>
                <a:lnTo>
                  <a:pt x="6615" y="0"/>
                </a:lnTo>
                <a:close/>
              </a:path>
            </a:pathLst>
          </a:custGeom>
          <a:solidFill>
            <a:srgbClr val="F9F8F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10405800" y="5072040"/>
            <a:ext cx="1786320" cy="1785960"/>
          </a:xfrm>
          <a:custGeom>
            <a:avLst/>
            <a:gdLst/>
            <a:ahLst/>
            <a:rect l="0" t="0" r="r" b="b"/>
            <a:pathLst>
              <a:path w="4962" h="4961">
                <a:moveTo>
                  <a:pt x="4962" y="0"/>
                </a:moveTo>
                <a:lnTo>
                  <a:pt x="0" y="4961"/>
                </a:lnTo>
                <a:lnTo>
                  <a:pt x="1654" y="4961"/>
                </a:lnTo>
                <a:lnTo>
                  <a:pt x="4962" y="1653"/>
                </a:lnTo>
                <a:lnTo>
                  <a:pt x="4962" y="0"/>
                </a:lnTo>
                <a:close/>
              </a:path>
            </a:pathLst>
          </a:custGeom>
          <a:solidFill>
            <a:srgbClr val="F9F9F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>
            <a:off x="11001240" y="5667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3308" y="0"/>
                </a:moveTo>
                <a:lnTo>
                  <a:pt x="0" y="3308"/>
                </a:lnTo>
                <a:lnTo>
                  <a:pt x="1655" y="3308"/>
                </a:lnTo>
                <a:lnTo>
                  <a:pt x="3308" y="1654"/>
                </a:lnTo>
                <a:lnTo>
                  <a:pt x="3308" y="0"/>
                </a:lnTo>
                <a:close/>
              </a:path>
            </a:pathLst>
          </a:custGeom>
          <a:solidFill>
            <a:srgbClr val="F9F9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>
            <a:off x="11596680" y="626256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654" y="0"/>
                </a:moveTo>
                <a:lnTo>
                  <a:pt x="0" y="1654"/>
                </a:lnTo>
                <a:lnTo>
                  <a:pt x="1654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/>
          <p:nvPr/>
        </p:nvSpPr>
        <p:spPr>
          <a:xfrm>
            <a:off x="571320" y="3162240"/>
            <a:ext cx="11049480" cy="57240"/>
          </a:xfrm>
          <a:custGeom>
            <a:avLst/>
            <a:gdLst/>
            <a:ahLst/>
            <a:rect l="0" t="0" r="r" b="b"/>
            <a:pathLst>
              <a:path w="30693" h="159">
                <a:moveTo>
                  <a:pt x="0" y="0"/>
                </a:moveTo>
                <a:lnTo>
                  <a:pt x="30693" y="0"/>
                </a:lnTo>
                <a:lnTo>
                  <a:pt x="30693" y="159"/>
                </a:lnTo>
                <a:lnTo>
                  <a:pt x="0" y="159"/>
                </a:lnTo>
                <a:lnTo>
                  <a:pt x="0" y="0"/>
                </a:lnTo>
                <a:close/>
              </a:path>
            </a:pathLst>
          </a:custGeom>
          <a:solidFill>
            <a:srgbClr val="9B3F8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571320" y="2201760"/>
            <a:ext cx="7781040" cy="853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480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AI × </a:t>
            </a:r>
            <a:r>
              <a:rPr lang="zh-CN" sz="480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室内设计 </a:t>
            </a:r>
            <a:r>
              <a:rPr lang="en-US" sz="480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· MVP </a:t>
            </a:r>
            <a:r>
              <a:rPr lang="zh-CN" sz="480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演示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571320" y="3420360"/>
            <a:ext cx="3048840" cy="426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40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案例：独⽴精品咖啡店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571320" y="4015440"/>
            <a:ext cx="339912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9 </a:t>
            </a:r>
            <a:r>
              <a:rPr lang="zh-CN" sz="1800" b="1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分钟端到端设计 </a:t>
            </a:r>
            <a:r>
              <a:rPr lang="en-US" sz="1800" b="1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5 </a:t>
            </a:r>
            <a:r>
              <a:rPr lang="zh-CN" sz="1800" b="1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格式产出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285840" y="199440"/>
            <a:ext cx="272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Coﬀee Lab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独⽴精品咖啡店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285840" y="6409440"/>
            <a:ext cx="3537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学院领导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1184508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2" name=""/>
          <p:cNvPicPr/>
          <p:nvPr/>
        </p:nvPicPr>
        <p:blipFill>
          <a:blip r:embed="rId1"/>
          <a:stretch/>
        </p:blipFill>
        <p:spPr>
          <a:xfrm>
            <a:off x="571320" y="476280"/>
            <a:ext cx="11048760" cy="6905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" name=""/>
          <p:cNvSpPr txBox="1"/>
          <p:nvPr/>
        </p:nvSpPr>
        <p:spPr>
          <a:xfrm>
            <a:off x="285840" y="199440"/>
            <a:ext cx="272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Coﬀee Lab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独⽴精品咖啡店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285840" y="6409440"/>
            <a:ext cx="3537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学院领导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9" name=""/>
          <p:cNvPicPr/>
          <p:nvPr/>
        </p:nvPicPr>
        <p:blipFill>
          <a:blip r:embed="rId1"/>
          <a:stretch/>
        </p:blipFill>
        <p:spPr>
          <a:xfrm>
            <a:off x="571320" y="476280"/>
            <a:ext cx="11048760" cy="6905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"/>
          <p:cNvSpPr txBox="1"/>
          <p:nvPr/>
        </p:nvSpPr>
        <p:spPr>
          <a:xfrm>
            <a:off x="285840" y="199440"/>
            <a:ext cx="272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Coﬀee Lab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独⽴精品咖啡店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285840" y="6409440"/>
            <a:ext cx="3537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学院领导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571320" y="954360"/>
            <a:ext cx="221364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关键指标 </a:t>
            </a:r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本案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571320" y="1545480"/>
            <a:ext cx="2365200" cy="1280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9′29″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571320" y="2644920"/>
            <a:ext cx="10447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端到端设计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4330440" y="1545480"/>
            <a:ext cx="1055160" cy="1280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78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4330440" y="2644920"/>
            <a:ext cx="8190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3D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物体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8089920" y="1545480"/>
            <a:ext cx="914040" cy="1280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5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8089920" y="2644920"/>
            <a:ext cx="8359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⼯业格式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571320" y="2983680"/>
            <a:ext cx="914040" cy="1280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8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/>
          <p:nvPr/>
        </p:nvSpPr>
        <p:spPr>
          <a:xfrm>
            <a:off x="628560" y="461952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6"/>
                </a:moveTo>
                <a:cubicBezTo>
                  <a:pt x="212" y="120"/>
                  <a:pt x="210" y="133"/>
                  <a:pt x="204" y="147"/>
                </a:cubicBezTo>
                <a:cubicBezTo>
                  <a:pt x="199" y="160"/>
                  <a:pt x="191" y="172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3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571320" y="4083120"/>
            <a:ext cx="11523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差异化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PPT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/>
          <p:nvPr/>
        </p:nvSpPr>
        <p:spPr>
          <a:xfrm>
            <a:off x="628560" y="498132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0"/>
                  <a:pt x="0" y="106"/>
                </a:cubicBez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838080" y="4502160"/>
            <a:ext cx="42501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12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种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PBR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材质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8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功能分区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30+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座位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/>
          <p:nvPr/>
        </p:nvSpPr>
        <p:spPr>
          <a:xfrm>
            <a:off x="628560" y="534348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6"/>
                </a:moveTo>
                <a:cubicBezTo>
                  <a:pt x="212" y="120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0"/>
                  <a:pt x="0" y="106"/>
                </a:cubicBez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2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2"/>
                  <a:pt x="199" y="53"/>
                  <a:pt x="204" y="66"/>
                </a:cubicBezTo>
                <a:cubicBezTo>
                  <a:pt x="210" y="79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838080" y="4864320"/>
            <a:ext cx="55623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5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格式：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DXF / GLB / OBJ / FBX / IFC4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（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ISO 16739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838080" y="5226120"/>
            <a:ext cx="76611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8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套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stakeholder deck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：业主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投资⼈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设计师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施⼯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/BIM/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学院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运营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营销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285840" y="199440"/>
            <a:ext cx="272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Coﬀee Lab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独⽴精品咖啡店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285840" y="6409440"/>
            <a:ext cx="3537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学院领导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87" name=""/>
          <p:cNvPicPr/>
          <p:nvPr/>
        </p:nvPicPr>
        <p:blipFill>
          <a:blip r:embed="rId1"/>
          <a:stretch/>
        </p:blipFill>
        <p:spPr>
          <a:xfrm>
            <a:off x="5485680" y="0"/>
            <a:ext cx="67068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" name=""/>
          <p:cNvSpPr txBox="1"/>
          <p:nvPr/>
        </p:nvSpPr>
        <p:spPr>
          <a:xfrm>
            <a:off x="571320" y="3011760"/>
            <a:ext cx="8604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⽅法论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>
            <a:off x="3162240" y="657000"/>
            <a:ext cx="1371960" cy="276480"/>
          </a:xfrm>
          <a:custGeom>
            <a:avLst/>
            <a:gdLst/>
            <a:ahLst/>
            <a:rect l="0" t="0" r="r" b="b"/>
            <a:pathLst>
              <a:path w="3811" h="768">
                <a:moveTo>
                  <a:pt x="0" y="689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5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9" y="0"/>
                  <a:pt x="79" y="0"/>
                </a:cubicBezTo>
                <a:lnTo>
                  <a:pt x="3731" y="0"/>
                </a:lnTo>
                <a:cubicBezTo>
                  <a:pt x="3742" y="0"/>
                  <a:pt x="3752" y="2"/>
                  <a:pt x="3762" y="6"/>
                </a:cubicBezTo>
                <a:cubicBezTo>
                  <a:pt x="3771" y="10"/>
                  <a:pt x="3780" y="16"/>
                  <a:pt x="3787" y="23"/>
                </a:cubicBezTo>
                <a:cubicBezTo>
                  <a:pt x="3795" y="31"/>
                  <a:pt x="3801" y="39"/>
                  <a:pt x="3805" y="49"/>
                </a:cubicBezTo>
                <a:cubicBezTo>
                  <a:pt x="3809" y="59"/>
                  <a:pt x="3811" y="69"/>
                  <a:pt x="3811" y="79"/>
                </a:cubicBezTo>
                <a:lnTo>
                  <a:pt x="3811" y="689"/>
                </a:lnTo>
                <a:cubicBezTo>
                  <a:pt x="3811" y="700"/>
                  <a:pt x="3809" y="710"/>
                  <a:pt x="3805" y="719"/>
                </a:cubicBezTo>
                <a:cubicBezTo>
                  <a:pt x="3801" y="729"/>
                  <a:pt x="3795" y="738"/>
                  <a:pt x="3787" y="745"/>
                </a:cubicBezTo>
                <a:cubicBezTo>
                  <a:pt x="3780" y="753"/>
                  <a:pt x="3771" y="758"/>
                  <a:pt x="3762" y="762"/>
                </a:cubicBezTo>
                <a:cubicBezTo>
                  <a:pt x="3752" y="766"/>
                  <a:pt x="3742" y="768"/>
                  <a:pt x="3731" y="768"/>
                </a:cubicBezTo>
                <a:lnTo>
                  <a:pt x="79" y="768"/>
                </a:lnTo>
                <a:cubicBezTo>
                  <a:pt x="69" y="768"/>
                  <a:pt x="58" y="766"/>
                  <a:pt x="49" y="762"/>
                </a:cubicBezTo>
                <a:cubicBezTo>
                  <a:pt x="39" y="758"/>
                  <a:pt x="30" y="753"/>
                  <a:pt x="23" y="745"/>
                </a:cubicBezTo>
                <a:cubicBezTo>
                  <a:pt x="15" y="738"/>
                  <a:pt x="10" y="729"/>
                  <a:pt x="6" y="719"/>
                </a:cubicBezTo>
                <a:cubicBezTo>
                  <a:pt x="2" y="710"/>
                  <a:pt x="0" y="700"/>
                  <a:pt x="0" y="689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2951280" y="644760"/>
            <a:ext cx="2091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1.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3217680" y="672480"/>
            <a:ext cx="125784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brief.json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4536360" y="644760"/>
            <a:ext cx="2790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参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3160440" y="949320"/>
            <a:ext cx="16012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数化需求 → ⼈类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3160440" y="1254240"/>
            <a:ext cx="10447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意图标准化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/>
          <p:nvPr/>
        </p:nvSpPr>
        <p:spPr>
          <a:xfrm>
            <a:off x="3162240" y="1628640"/>
            <a:ext cx="1248120" cy="276480"/>
          </a:xfrm>
          <a:custGeom>
            <a:avLst/>
            <a:gdLst/>
            <a:ahLst/>
            <a:rect l="0" t="0" r="r" b="b"/>
            <a:pathLst>
              <a:path w="3467" h="768">
                <a:moveTo>
                  <a:pt x="0" y="689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5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9" y="0"/>
                  <a:pt x="79" y="0"/>
                </a:cubicBezTo>
                <a:lnTo>
                  <a:pt x="3387" y="0"/>
                </a:lnTo>
                <a:cubicBezTo>
                  <a:pt x="3398" y="0"/>
                  <a:pt x="3408" y="2"/>
                  <a:pt x="3418" y="6"/>
                </a:cubicBezTo>
                <a:cubicBezTo>
                  <a:pt x="3427" y="10"/>
                  <a:pt x="3436" y="16"/>
                  <a:pt x="3443" y="23"/>
                </a:cubicBezTo>
                <a:cubicBezTo>
                  <a:pt x="3451" y="31"/>
                  <a:pt x="3457" y="39"/>
                  <a:pt x="3461" y="49"/>
                </a:cubicBezTo>
                <a:cubicBezTo>
                  <a:pt x="3465" y="59"/>
                  <a:pt x="3467" y="69"/>
                  <a:pt x="3467" y="79"/>
                </a:cubicBezTo>
                <a:lnTo>
                  <a:pt x="3467" y="689"/>
                </a:lnTo>
                <a:cubicBezTo>
                  <a:pt x="3467" y="699"/>
                  <a:pt x="3465" y="709"/>
                  <a:pt x="3461" y="719"/>
                </a:cubicBezTo>
                <a:cubicBezTo>
                  <a:pt x="3457" y="729"/>
                  <a:pt x="3451" y="737"/>
                  <a:pt x="3443" y="745"/>
                </a:cubicBezTo>
                <a:cubicBezTo>
                  <a:pt x="3436" y="752"/>
                  <a:pt x="3427" y="758"/>
                  <a:pt x="3418" y="762"/>
                </a:cubicBezTo>
                <a:cubicBezTo>
                  <a:pt x="3408" y="766"/>
                  <a:pt x="3398" y="768"/>
                  <a:pt x="3387" y="768"/>
                </a:cubicBezTo>
                <a:lnTo>
                  <a:pt x="79" y="768"/>
                </a:lnTo>
                <a:cubicBezTo>
                  <a:pt x="69" y="768"/>
                  <a:pt x="58" y="766"/>
                  <a:pt x="49" y="762"/>
                </a:cubicBezTo>
                <a:cubicBezTo>
                  <a:pt x="39" y="758"/>
                  <a:pt x="30" y="752"/>
                  <a:pt x="23" y="745"/>
                </a:cubicBezTo>
                <a:cubicBezTo>
                  <a:pt x="15" y="737"/>
                  <a:pt x="10" y="729"/>
                  <a:pt x="6" y="719"/>
                </a:cubicBezTo>
                <a:cubicBezTo>
                  <a:pt x="2" y="709"/>
                  <a:pt x="0" y="699"/>
                  <a:pt x="0" y="689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2909520" y="1616040"/>
            <a:ext cx="2505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2.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3217680" y="1643760"/>
            <a:ext cx="113220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room.json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4410360" y="1616040"/>
            <a:ext cx="4878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参数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3160440" y="1920960"/>
            <a:ext cx="17517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化场景 →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blender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3160440" y="2216160"/>
            <a:ext cx="13928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headless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渲染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/>
          <p:nvPr/>
        </p:nvSpPr>
        <p:spPr>
          <a:xfrm>
            <a:off x="3162240" y="2590560"/>
            <a:ext cx="1752840" cy="276480"/>
          </a:xfrm>
          <a:custGeom>
            <a:avLst/>
            <a:gdLst/>
            <a:ahLst/>
            <a:rect l="0" t="0" r="r" b="b"/>
            <a:pathLst>
              <a:path w="4869" h="768">
                <a:moveTo>
                  <a:pt x="0" y="689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5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9" y="0"/>
                  <a:pt x="79" y="0"/>
                </a:cubicBezTo>
                <a:lnTo>
                  <a:pt x="4790" y="0"/>
                </a:lnTo>
                <a:cubicBezTo>
                  <a:pt x="4800" y="0"/>
                  <a:pt x="4810" y="2"/>
                  <a:pt x="4820" y="6"/>
                </a:cubicBezTo>
                <a:cubicBezTo>
                  <a:pt x="4830" y="10"/>
                  <a:pt x="4838" y="16"/>
                  <a:pt x="4846" y="23"/>
                </a:cubicBezTo>
                <a:cubicBezTo>
                  <a:pt x="4853" y="31"/>
                  <a:pt x="4859" y="39"/>
                  <a:pt x="4863" y="49"/>
                </a:cubicBezTo>
                <a:cubicBezTo>
                  <a:pt x="4867" y="59"/>
                  <a:pt x="4869" y="69"/>
                  <a:pt x="4869" y="80"/>
                </a:cubicBezTo>
                <a:lnTo>
                  <a:pt x="4869" y="689"/>
                </a:lnTo>
                <a:cubicBezTo>
                  <a:pt x="4869" y="700"/>
                  <a:pt x="4867" y="710"/>
                  <a:pt x="4863" y="719"/>
                </a:cubicBezTo>
                <a:cubicBezTo>
                  <a:pt x="4859" y="729"/>
                  <a:pt x="4853" y="738"/>
                  <a:pt x="4846" y="745"/>
                </a:cubicBezTo>
                <a:cubicBezTo>
                  <a:pt x="4838" y="753"/>
                  <a:pt x="4830" y="758"/>
                  <a:pt x="4820" y="762"/>
                </a:cubicBezTo>
                <a:cubicBezTo>
                  <a:pt x="4810" y="766"/>
                  <a:pt x="4800" y="768"/>
                  <a:pt x="4790" y="768"/>
                </a:cubicBezTo>
                <a:lnTo>
                  <a:pt x="79" y="768"/>
                </a:lnTo>
                <a:cubicBezTo>
                  <a:pt x="69" y="768"/>
                  <a:pt x="58" y="766"/>
                  <a:pt x="49" y="762"/>
                </a:cubicBezTo>
                <a:cubicBezTo>
                  <a:pt x="39" y="758"/>
                  <a:pt x="30" y="753"/>
                  <a:pt x="23" y="745"/>
                </a:cubicBezTo>
                <a:cubicBezTo>
                  <a:pt x="15" y="738"/>
                  <a:pt x="10" y="729"/>
                  <a:pt x="6" y="719"/>
                </a:cubicBezTo>
                <a:cubicBezTo>
                  <a:pt x="2" y="710"/>
                  <a:pt x="0" y="700"/>
                  <a:pt x="0" y="689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2909520" y="2578320"/>
            <a:ext cx="2505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3.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3217680" y="2606040"/>
            <a:ext cx="16347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floorplan.svg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3160440" y="2882880"/>
            <a:ext cx="15238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→ Inkscape CLI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3160440" y="3187800"/>
            <a:ext cx="14342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→ DXF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施⼯图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2909520" y="3549600"/>
            <a:ext cx="17830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4. Blender → IFC4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3160440" y="3854520"/>
            <a:ext cx="10623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BIM export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3160440" y="4159440"/>
            <a:ext cx="16934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（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ifcopenshell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2909520" y="4521240"/>
            <a:ext cx="19537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5. Marp CLI → 8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套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3160440" y="4826160"/>
            <a:ext cx="15922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stakeholder PPT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2909520" y="5178600"/>
            <a:ext cx="21690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6.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所有步骤 </a:t>
            </a:r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agent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⾃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3160440" y="5483520"/>
            <a:ext cx="14623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动编排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，失败可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3160440" y="5788080"/>
            <a:ext cx="8650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diﬀ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回滚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285840" y="199440"/>
            <a:ext cx="272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Coﬀee Lab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独⽴精品咖啡店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285840" y="6409440"/>
            <a:ext cx="3537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学院领导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20" name=""/>
          <p:cNvPicPr/>
          <p:nvPr/>
        </p:nvPicPr>
        <p:blipFill>
          <a:blip r:embed="rId1"/>
          <a:stretch/>
        </p:blipFill>
        <p:spPr>
          <a:xfrm>
            <a:off x="5485680" y="0"/>
            <a:ext cx="67068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" name=""/>
          <p:cNvSpPr/>
          <p:nvPr/>
        </p:nvSpPr>
        <p:spPr>
          <a:xfrm>
            <a:off x="2990520" y="79056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3" y="212"/>
                  <a:pt x="80" y="210"/>
                  <a:pt x="67" y="204"/>
                </a:cubicBezTo>
                <a:cubicBezTo>
                  <a:pt x="54" y="199"/>
                  <a:pt x="42" y="191"/>
                  <a:pt x="32" y="181"/>
                </a:cubicBezTo>
                <a:cubicBezTo>
                  <a:pt x="21" y="171"/>
                  <a:pt x="14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2" y="32"/>
                </a:cubicBezTo>
                <a:cubicBezTo>
                  <a:pt x="42" y="22"/>
                  <a:pt x="54" y="13"/>
                  <a:pt x="67" y="8"/>
                </a:cubicBezTo>
                <a:cubicBezTo>
                  <a:pt x="80" y="2"/>
                  <a:pt x="93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2"/>
                  <a:pt x="182" y="32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571320" y="2983320"/>
            <a:ext cx="14331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可重复实验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3200400" y="673200"/>
            <a:ext cx="15094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已跑通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13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业态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3200400" y="978120"/>
            <a:ext cx="14738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MVP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（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study /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3200400" y="1282680"/>
            <a:ext cx="16657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cafe / coworking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3200400" y="1587600"/>
            <a:ext cx="16675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conf / ﬁtness /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/>
          <p:nvPr/>
        </p:nvSpPr>
        <p:spPr>
          <a:xfrm>
            <a:off x="2990520" y="236196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3" y="213"/>
                  <a:pt x="80" y="210"/>
                  <a:pt x="67" y="205"/>
                </a:cubicBezTo>
                <a:cubicBezTo>
                  <a:pt x="54" y="199"/>
                  <a:pt x="42" y="192"/>
                  <a:pt x="32" y="182"/>
                </a:cubicBezTo>
                <a:cubicBezTo>
                  <a:pt x="21" y="172"/>
                  <a:pt x="14" y="160"/>
                  <a:pt x="8" y="147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78"/>
                  <a:pt x="8" y="65"/>
                </a:cubicBezTo>
                <a:cubicBezTo>
                  <a:pt x="14" y="53"/>
                  <a:pt x="21" y="41"/>
                  <a:pt x="32" y="31"/>
                </a:cubicBezTo>
                <a:cubicBezTo>
                  <a:pt x="42" y="21"/>
                  <a:pt x="54" y="14"/>
                  <a:pt x="67" y="8"/>
                </a:cubicBezTo>
                <a:cubicBezTo>
                  <a:pt x="80" y="3"/>
                  <a:pt x="93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3"/>
                  <a:pt x="205" y="65"/>
                </a:cubicBezTo>
                <a:cubicBezTo>
                  <a:pt x="210" y="78"/>
                  <a:pt x="213" y="93"/>
                  <a:pt x="213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3200400" y="1882800"/>
            <a:ext cx="11869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salon / ...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>
            <a:off x="3686040" y="2257200"/>
            <a:ext cx="438480" cy="276480"/>
          </a:xfrm>
          <a:custGeom>
            <a:avLst/>
            <a:gdLst/>
            <a:ahLst/>
            <a:rect l="0" t="0" r="r" b="b"/>
            <a:pathLst>
              <a:path w="1218" h="768">
                <a:moveTo>
                  <a:pt x="0" y="689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1218" y="0"/>
                </a:lnTo>
                <a:lnTo>
                  <a:pt x="1218" y="768"/>
                </a:lnTo>
                <a:lnTo>
                  <a:pt x="79" y="768"/>
                </a:lnTo>
                <a:cubicBezTo>
                  <a:pt x="69" y="768"/>
                  <a:pt x="59" y="766"/>
                  <a:pt x="49" y="762"/>
                </a:cubicBezTo>
                <a:cubicBezTo>
                  <a:pt x="39" y="758"/>
                  <a:pt x="31" y="753"/>
                  <a:pt x="23" y="745"/>
                </a:cubicBezTo>
                <a:cubicBezTo>
                  <a:pt x="16" y="738"/>
                  <a:pt x="10" y="729"/>
                  <a:pt x="6" y="719"/>
                </a:cubicBezTo>
                <a:cubicBezTo>
                  <a:pt x="2" y="710"/>
                  <a:pt x="0" y="700"/>
                  <a:pt x="0" y="689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3200400" y="2244960"/>
            <a:ext cx="4878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本案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/>
          <p:nvPr/>
        </p:nvSpPr>
        <p:spPr>
          <a:xfrm>
            <a:off x="3200040" y="2562120"/>
            <a:ext cx="1448280" cy="276480"/>
          </a:xfrm>
          <a:custGeom>
            <a:avLst/>
            <a:gdLst/>
            <a:ahLst/>
            <a:rect l="0" t="0" r="r" b="b"/>
            <a:pathLst>
              <a:path w="4023" h="768">
                <a:moveTo>
                  <a:pt x="0" y="0"/>
                </a:moveTo>
                <a:lnTo>
                  <a:pt x="3944" y="0"/>
                </a:lnTo>
                <a:cubicBezTo>
                  <a:pt x="3954" y="0"/>
                  <a:pt x="3964" y="2"/>
                  <a:pt x="3974" y="6"/>
                </a:cubicBezTo>
                <a:cubicBezTo>
                  <a:pt x="3984" y="10"/>
                  <a:pt x="3992" y="16"/>
                  <a:pt x="4000" y="23"/>
                </a:cubicBezTo>
                <a:cubicBezTo>
                  <a:pt x="4007" y="30"/>
                  <a:pt x="4013" y="39"/>
                  <a:pt x="4017" y="49"/>
                </a:cubicBezTo>
                <a:cubicBezTo>
                  <a:pt x="4021" y="59"/>
                  <a:pt x="4023" y="69"/>
                  <a:pt x="4023" y="79"/>
                </a:cubicBezTo>
                <a:lnTo>
                  <a:pt x="4023" y="689"/>
                </a:lnTo>
                <a:cubicBezTo>
                  <a:pt x="4023" y="699"/>
                  <a:pt x="4021" y="709"/>
                  <a:pt x="4017" y="719"/>
                </a:cubicBezTo>
                <a:cubicBezTo>
                  <a:pt x="4013" y="729"/>
                  <a:pt x="4007" y="737"/>
                  <a:pt x="4000" y="745"/>
                </a:cubicBezTo>
                <a:cubicBezTo>
                  <a:pt x="3992" y="752"/>
                  <a:pt x="3984" y="758"/>
                  <a:pt x="3974" y="762"/>
                </a:cubicBezTo>
                <a:cubicBezTo>
                  <a:pt x="3964" y="766"/>
                  <a:pt x="3954" y="768"/>
                  <a:pt x="3944" y="768"/>
                </a:cubicBez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3746520" y="2272680"/>
            <a:ext cx="37800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03-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3200400" y="2577240"/>
            <a:ext cx="138348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coffee-shop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3200400" y="2854440"/>
            <a:ext cx="13726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从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brief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到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8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/>
          <p:nvPr/>
        </p:nvSpPr>
        <p:spPr>
          <a:xfrm>
            <a:off x="2990520" y="363852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5"/>
                </a:moveTo>
                <a:cubicBezTo>
                  <a:pt x="213" y="119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3" y="212"/>
                  <a:pt x="80" y="210"/>
                  <a:pt x="67" y="204"/>
                </a:cubicBezTo>
                <a:cubicBezTo>
                  <a:pt x="54" y="199"/>
                  <a:pt x="42" y="191"/>
                  <a:pt x="32" y="181"/>
                </a:cubicBezTo>
                <a:cubicBezTo>
                  <a:pt x="21" y="171"/>
                  <a:pt x="14" y="160"/>
                  <a:pt x="8" y="147"/>
                </a:cubicBezTo>
                <a:cubicBezTo>
                  <a:pt x="3" y="134"/>
                  <a:pt x="0" y="119"/>
                  <a:pt x="0" y="105"/>
                </a:cubicBezTo>
                <a:cubicBezTo>
                  <a:pt x="0" y="91"/>
                  <a:pt x="3" y="78"/>
                  <a:pt x="8" y="65"/>
                </a:cubicBezTo>
                <a:cubicBezTo>
                  <a:pt x="14" y="52"/>
                  <a:pt x="21" y="41"/>
                  <a:pt x="32" y="31"/>
                </a:cubicBezTo>
                <a:cubicBezTo>
                  <a:pt x="42" y="21"/>
                  <a:pt x="54" y="13"/>
                  <a:pt x="67" y="8"/>
                </a:cubicBezTo>
                <a:cubicBezTo>
                  <a:pt x="80" y="2"/>
                  <a:pt x="93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3200400" y="3159360"/>
            <a:ext cx="17100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deck </a:t>
            </a:r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9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分 </a:t>
            </a:r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29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秒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3200400" y="3521160"/>
            <a:ext cx="12988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平均成功率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&gt;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3200400" y="3826080"/>
            <a:ext cx="17650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95%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（失败项：偶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3200400" y="4130640"/>
            <a:ext cx="17146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发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render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超时，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/>
          <p:nvPr/>
        </p:nvSpPr>
        <p:spPr>
          <a:xfrm>
            <a:off x="2990520" y="491472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5" y="146"/>
                </a:cubicBezTo>
                <a:cubicBezTo>
                  <a:pt x="200" y="159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3" y="213"/>
                  <a:pt x="80" y="210"/>
                  <a:pt x="67" y="205"/>
                </a:cubicBezTo>
                <a:cubicBezTo>
                  <a:pt x="54" y="199"/>
                  <a:pt x="42" y="192"/>
                  <a:pt x="32" y="182"/>
                </a:cubicBezTo>
                <a:cubicBezTo>
                  <a:pt x="21" y="172"/>
                  <a:pt x="14" y="159"/>
                  <a:pt x="8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2" y="31"/>
                </a:cubicBezTo>
                <a:cubicBezTo>
                  <a:pt x="42" y="21"/>
                  <a:pt x="54" y="13"/>
                  <a:pt x="67" y="8"/>
                </a:cubicBezTo>
                <a:cubicBezTo>
                  <a:pt x="80" y="3"/>
                  <a:pt x="93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3200400" y="4435560"/>
            <a:ext cx="10447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已加重试）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3200400" y="4797720"/>
            <a:ext cx="14623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数据集可公开：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3200400" y="5092920"/>
            <a:ext cx="14504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benchmark AI-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3200400" y="5397480"/>
            <a:ext cx="12927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driven design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3200400" y="5702400"/>
            <a:ext cx="12952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pipeline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研究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285840" y="199440"/>
            <a:ext cx="272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Coﬀee Lab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独⽴精品咖啡店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285840" y="6409440"/>
            <a:ext cx="3537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学院领导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/>
          <p:nvPr/>
        </p:nvSpPr>
        <p:spPr>
          <a:xfrm>
            <a:off x="580680" y="2447640"/>
            <a:ext cx="2505600" cy="371880"/>
          </a:xfrm>
          <a:custGeom>
            <a:avLst/>
            <a:gdLst/>
            <a:ahLst/>
            <a:rect l="0" t="0" r="r" b="b"/>
            <a:pathLst>
              <a:path w="6960" h="1033">
                <a:moveTo>
                  <a:pt x="0" y="0"/>
                </a:moveTo>
                <a:lnTo>
                  <a:pt x="6960" y="0"/>
                </a:lnTo>
                <a:lnTo>
                  <a:pt x="696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/>
          <p:nvPr/>
        </p:nvSpPr>
        <p:spPr>
          <a:xfrm>
            <a:off x="3085920" y="2447640"/>
            <a:ext cx="4000680" cy="371880"/>
          </a:xfrm>
          <a:custGeom>
            <a:avLst/>
            <a:gdLst/>
            <a:ahLst/>
            <a:rect l="0" t="0" r="r" b="b"/>
            <a:pathLst>
              <a:path w="11113" h="1033">
                <a:moveTo>
                  <a:pt x="0" y="0"/>
                </a:moveTo>
                <a:lnTo>
                  <a:pt x="11113" y="0"/>
                </a:lnTo>
                <a:lnTo>
                  <a:pt x="1111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/>
          <p:nvPr/>
        </p:nvSpPr>
        <p:spPr>
          <a:xfrm>
            <a:off x="580680" y="2447640"/>
            <a:ext cx="2505600" cy="371880"/>
          </a:xfrm>
          <a:custGeom>
            <a:avLst/>
            <a:gdLst/>
            <a:ahLst/>
            <a:rect l="0" t="0" r="r" b="b"/>
            <a:pathLst>
              <a:path w="6960" h="1033">
                <a:moveTo>
                  <a:pt x="0" y="0"/>
                </a:moveTo>
                <a:lnTo>
                  <a:pt x="6960" y="0"/>
                </a:lnTo>
                <a:lnTo>
                  <a:pt x="696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>
            <a:off x="3085920" y="2447640"/>
            <a:ext cx="4000680" cy="371880"/>
          </a:xfrm>
          <a:custGeom>
            <a:avLst/>
            <a:gdLst/>
            <a:ahLst/>
            <a:rect l="0" t="0" r="r" b="b"/>
            <a:pathLst>
              <a:path w="11113" h="1033">
                <a:moveTo>
                  <a:pt x="0" y="0"/>
                </a:moveTo>
                <a:lnTo>
                  <a:pt x="11113" y="0"/>
                </a:lnTo>
                <a:lnTo>
                  <a:pt x="1111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/>
          <p:nvPr/>
        </p:nvSpPr>
        <p:spPr>
          <a:xfrm>
            <a:off x="580680" y="2819160"/>
            <a:ext cx="2505600" cy="371880"/>
          </a:xfrm>
          <a:custGeom>
            <a:avLst/>
            <a:gdLst/>
            <a:ahLst/>
            <a:rect l="0" t="0" r="r" b="b"/>
            <a:pathLst>
              <a:path w="6960" h="1033">
                <a:moveTo>
                  <a:pt x="0" y="0"/>
                </a:moveTo>
                <a:lnTo>
                  <a:pt x="6960" y="0"/>
                </a:lnTo>
                <a:lnTo>
                  <a:pt x="696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/>
          <p:nvPr/>
        </p:nvSpPr>
        <p:spPr>
          <a:xfrm>
            <a:off x="3085920" y="2819160"/>
            <a:ext cx="4000680" cy="371880"/>
          </a:xfrm>
          <a:custGeom>
            <a:avLst/>
            <a:gdLst/>
            <a:ahLst/>
            <a:rect l="0" t="0" r="r" b="b"/>
            <a:pathLst>
              <a:path w="11113" h="1033">
                <a:moveTo>
                  <a:pt x="0" y="0"/>
                </a:moveTo>
                <a:lnTo>
                  <a:pt x="11113" y="0"/>
                </a:lnTo>
                <a:lnTo>
                  <a:pt x="1111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/>
          <p:nvPr/>
        </p:nvSpPr>
        <p:spPr>
          <a:xfrm>
            <a:off x="580680" y="3190680"/>
            <a:ext cx="2505600" cy="371880"/>
          </a:xfrm>
          <a:custGeom>
            <a:avLst/>
            <a:gdLst/>
            <a:ahLst/>
            <a:rect l="0" t="0" r="r" b="b"/>
            <a:pathLst>
              <a:path w="6960" h="1033">
                <a:moveTo>
                  <a:pt x="0" y="0"/>
                </a:moveTo>
                <a:lnTo>
                  <a:pt x="6960" y="0"/>
                </a:lnTo>
                <a:lnTo>
                  <a:pt x="696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/>
          <p:nvPr/>
        </p:nvSpPr>
        <p:spPr>
          <a:xfrm>
            <a:off x="3085920" y="3190680"/>
            <a:ext cx="4000680" cy="371880"/>
          </a:xfrm>
          <a:custGeom>
            <a:avLst/>
            <a:gdLst/>
            <a:ahLst/>
            <a:rect l="0" t="0" r="r" b="b"/>
            <a:pathLst>
              <a:path w="11113" h="1033">
                <a:moveTo>
                  <a:pt x="0" y="0"/>
                </a:moveTo>
                <a:lnTo>
                  <a:pt x="11113" y="0"/>
                </a:lnTo>
                <a:lnTo>
                  <a:pt x="1111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/>
          <p:nvPr/>
        </p:nvSpPr>
        <p:spPr>
          <a:xfrm>
            <a:off x="580680" y="3562200"/>
            <a:ext cx="2505600" cy="371880"/>
          </a:xfrm>
          <a:custGeom>
            <a:avLst/>
            <a:gdLst/>
            <a:ahLst/>
            <a:rect l="0" t="0" r="r" b="b"/>
            <a:pathLst>
              <a:path w="6960" h="1033">
                <a:moveTo>
                  <a:pt x="0" y="0"/>
                </a:moveTo>
                <a:lnTo>
                  <a:pt x="6960" y="0"/>
                </a:lnTo>
                <a:lnTo>
                  <a:pt x="696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/>
          <p:nvPr/>
        </p:nvSpPr>
        <p:spPr>
          <a:xfrm>
            <a:off x="3085920" y="3562200"/>
            <a:ext cx="4000680" cy="371880"/>
          </a:xfrm>
          <a:custGeom>
            <a:avLst/>
            <a:gdLst/>
            <a:ahLst/>
            <a:rect l="0" t="0" r="r" b="b"/>
            <a:pathLst>
              <a:path w="11113" h="1033">
                <a:moveTo>
                  <a:pt x="0" y="0"/>
                </a:moveTo>
                <a:lnTo>
                  <a:pt x="11113" y="0"/>
                </a:lnTo>
                <a:lnTo>
                  <a:pt x="1111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/>
          <p:nvPr/>
        </p:nvSpPr>
        <p:spPr>
          <a:xfrm>
            <a:off x="580680" y="3933720"/>
            <a:ext cx="2505600" cy="371880"/>
          </a:xfrm>
          <a:custGeom>
            <a:avLst/>
            <a:gdLst/>
            <a:ahLst/>
            <a:rect l="0" t="0" r="r" b="b"/>
            <a:pathLst>
              <a:path w="6960" h="1033">
                <a:moveTo>
                  <a:pt x="0" y="0"/>
                </a:moveTo>
                <a:lnTo>
                  <a:pt x="6960" y="0"/>
                </a:lnTo>
                <a:lnTo>
                  <a:pt x="696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/>
          <p:nvPr/>
        </p:nvSpPr>
        <p:spPr>
          <a:xfrm>
            <a:off x="3085920" y="3933720"/>
            <a:ext cx="4000680" cy="371880"/>
          </a:xfrm>
          <a:custGeom>
            <a:avLst/>
            <a:gdLst/>
            <a:ahLst/>
            <a:rect l="0" t="0" r="r" b="b"/>
            <a:pathLst>
              <a:path w="11113" h="1033">
                <a:moveTo>
                  <a:pt x="0" y="0"/>
                </a:moveTo>
                <a:lnTo>
                  <a:pt x="11113" y="0"/>
                </a:lnTo>
                <a:lnTo>
                  <a:pt x="1111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>
            <a:off x="580680" y="4305240"/>
            <a:ext cx="2505600" cy="381240"/>
          </a:xfrm>
          <a:custGeom>
            <a:avLst/>
            <a:gdLst/>
            <a:ahLst/>
            <a:rect l="0" t="0" r="r" b="b"/>
            <a:pathLst>
              <a:path w="6960" h="1059">
                <a:moveTo>
                  <a:pt x="0" y="0"/>
                </a:moveTo>
                <a:lnTo>
                  <a:pt x="6960" y="0"/>
                </a:lnTo>
                <a:lnTo>
                  <a:pt x="6960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/>
          <p:nvPr/>
        </p:nvSpPr>
        <p:spPr>
          <a:xfrm>
            <a:off x="3085920" y="4305240"/>
            <a:ext cx="4000680" cy="381240"/>
          </a:xfrm>
          <a:custGeom>
            <a:avLst/>
            <a:gdLst/>
            <a:ahLst/>
            <a:rect l="0" t="0" r="r" b="b"/>
            <a:pathLst>
              <a:path w="11113" h="1059">
                <a:moveTo>
                  <a:pt x="0" y="0"/>
                </a:moveTo>
                <a:lnTo>
                  <a:pt x="11113" y="0"/>
                </a:lnTo>
                <a:lnTo>
                  <a:pt x="11113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/>
          <p:nvPr/>
        </p:nvSpPr>
        <p:spPr>
          <a:xfrm>
            <a:off x="571320" y="243828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/>
          <p:nvPr/>
        </p:nvSpPr>
        <p:spPr>
          <a:xfrm>
            <a:off x="571320" y="2438280"/>
            <a:ext cx="2524320" cy="9720"/>
          </a:xfrm>
          <a:custGeom>
            <a:avLst/>
            <a:gdLst/>
            <a:ahLst/>
            <a:rect l="0" t="0" r="r" b="b"/>
            <a:pathLst>
              <a:path w="7012" h="27">
                <a:moveTo>
                  <a:pt x="0" y="0"/>
                </a:moveTo>
                <a:lnTo>
                  <a:pt x="7012" y="0"/>
                </a:lnTo>
                <a:lnTo>
                  <a:pt x="70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3085920" y="243828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/>
          <p:nvPr/>
        </p:nvSpPr>
        <p:spPr>
          <a:xfrm>
            <a:off x="3095280" y="2438280"/>
            <a:ext cx="3991320" cy="9720"/>
          </a:xfrm>
          <a:custGeom>
            <a:avLst/>
            <a:gdLst/>
            <a:ahLst/>
            <a:rect l="0" t="0" r="r" b="b"/>
            <a:pathLst>
              <a:path w="11087" h="27">
                <a:moveTo>
                  <a:pt x="0" y="0"/>
                </a:moveTo>
                <a:lnTo>
                  <a:pt x="11087" y="0"/>
                </a:lnTo>
                <a:lnTo>
                  <a:pt x="1108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/>
          <p:nvPr/>
        </p:nvSpPr>
        <p:spPr>
          <a:xfrm>
            <a:off x="7076880" y="243828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>
            <a:off x="571320" y="2819160"/>
            <a:ext cx="2524320" cy="10080"/>
          </a:xfrm>
          <a:custGeom>
            <a:avLst/>
            <a:gdLst/>
            <a:ahLst/>
            <a:rect l="0" t="0" r="r" b="b"/>
            <a:pathLst>
              <a:path w="7012" h="28">
                <a:moveTo>
                  <a:pt x="0" y="0"/>
                </a:moveTo>
                <a:lnTo>
                  <a:pt x="7012" y="0"/>
                </a:lnTo>
                <a:lnTo>
                  <a:pt x="701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/>
          <p:nvPr/>
        </p:nvSpPr>
        <p:spPr>
          <a:xfrm>
            <a:off x="3095280" y="2819160"/>
            <a:ext cx="3991320" cy="10080"/>
          </a:xfrm>
          <a:custGeom>
            <a:avLst/>
            <a:gdLst/>
            <a:ahLst/>
            <a:rect l="0" t="0" r="r" b="b"/>
            <a:pathLst>
              <a:path w="11087" h="28">
                <a:moveTo>
                  <a:pt x="0" y="0"/>
                </a:moveTo>
                <a:lnTo>
                  <a:pt x="11087" y="0"/>
                </a:lnTo>
                <a:lnTo>
                  <a:pt x="1108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/>
          <p:nvPr/>
        </p:nvSpPr>
        <p:spPr>
          <a:xfrm>
            <a:off x="571320" y="282888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/>
          <p:nvPr/>
        </p:nvSpPr>
        <p:spPr>
          <a:xfrm>
            <a:off x="3085920" y="282888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7076880" y="282888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571320" y="32000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>
            <a:off x="571320" y="3190680"/>
            <a:ext cx="2524320" cy="9720"/>
          </a:xfrm>
          <a:custGeom>
            <a:avLst/>
            <a:gdLst/>
            <a:ahLst/>
            <a:rect l="0" t="0" r="r" b="b"/>
            <a:pathLst>
              <a:path w="7012" h="27">
                <a:moveTo>
                  <a:pt x="0" y="0"/>
                </a:moveTo>
                <a:lnTo>
                  <a:pt x="7012" y="0"/>
                </a:lnTo>
                <a:lnTo>
                  <a:pt x="70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/>
          <p:nvPr/>
        </p:nvSpPr>
        <p:spPr>
          <a:xfrm>
            <a:off x="3085920" y="32000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/>
          <p:nvPr/>
        </p:nvSpPr>
        <p:spPr>
          <a:xfrm>
            <a:off x="3095280" y="3190680"/>
            <a:ext cx="3991320" cy="9720"/>
          </a:xfrm>
          <a:custGeom>
            <a:avLst/>
            <a:gdLst/>
            <a:ahLst/>
            <a:rect l="0" t="0" r="r" b="b"/>
            <a:pathLst>
              <a:path w="11087" h="27">
                <a:moveTo>
                  <a:pt x="0" y="0"/>
                </a:moveTo>
                <a:lnTo>
                  <a:pt x="11087" y="0"/>
                </a:lnTo>
                <a:lnTo>
                  <a:pt x="1108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/>
          <p:nvPr/>
        </p:nvSpPr>
        <p:spPr>
          <a:xfrm>
            <a:off x="7076880" y="32000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/>
          <p:nvPr/>
        </p:nvSpPr>
        <p:spPr>
          <a:xfrm>
            <a:off x="571320" y="3571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/>
          <p:nvPr/>
        </p:nvSpPr>
        <p:spPr>
          <a:xfrm>
            <a:off x="571320" y="3562200"/>
            <a:ext cx="2524320" cy="9720"/>
          </a:xfrm>
          <a:custGeom>
            <a:avLst/>
            <a:gdLst/>
            <a:ahLst/>
            <a:rect l="0" t="0" r="r" b="b"/>
            <a:pathLst>
              <a:path w="7012" h="27">
                <a:moveTo>
                  <a:pt x="0" y="0"/>
                </a:moveTo>
                <a:lnTo>
                  <a:pt x="7012" y="0"/>
                </a:lnTo>
                <a:lnTo>
                  <a:pt x="70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/>
          <p:nvPr/>
        </p:nvSpPr>
        <p:spPr>
          <a:xfrm>
            <a:off x="3085920" y="3571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/>
          <p:nvPr/>
        </p:nvSpPr>
        <p:spPr>
          <a:xfrm>
            <a:off x="3095280" y="3562200"/>
            <a:ext cx="3991320" cy="9720"/>
          </a:xfrm>
          <a:custGeom>
            <a:avLst/>
            <a:gdLst/>
            <a:ahLst/>
            <a:rect l="0" t="0" r="r" b="b"/>
            <a:pathLst>
              <a:path w="11087" h="27">
                <a:moveTo>
                  <a:pt x="0" y="0"/>
                </a:moveTo>
                <a:lnTo>
                  <a:pt x="11087" y="0"/>
                </a:lnTo>
                <a:lnTo>
                  <a:pt x="1108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/>
          <p:nvPr/>
        </p:nvSpPr>
        <p:spPr>
          <a:xfrm>
            <a:off x="7076880" y="3571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/>
          <p:nvPr/>
        </p:nvSpPr>
        <p:spPr>
          <a:xfrm>
            <a:off x="571320" y="3943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/>
          <p:nvPr/>
        </p:nvSpPr>
        <p:spPr>
          <a:xfrm>
            <a:off x="571320" y="3933720"/>
            <a:ext cx="2524320" cy="9720"/>
          </a:xfrm>
          <a:custGeom>
            <a:avLst/>
            <a:gdLst/>
            <a:ahLst/>
            <a:rect l="0" t="0" r="r" b="b"/>
            <a:pathLst>
              <a:path w="7012" h="27">
                <a:moveTo>
                  <a:pt x="0" y="0"/>
                </a:moveTo>
                <a:lnTo>
                  <a:pt x="7012" y="0"/>
                </a:lnTo>
                <a:lnTo>
                  <a:pt x="70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/>
          <p:nvPr/>
        </p:nvSpPr>
        <p:spPr>
          <a:xfrm>
            <a:off x="3085920" y="3943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/>
          <p:nvPr/>
        </p:nvSpPr>
        <p:spPr>
          <a:xfrm>
            <a:off x="3095280" y="3933720"/>
            <a:ext cx="3991320" cy="9720"/>
          </a:xfrm>
          <a:custGeom>
            <a:avLst/>
            <a:gdLst/>
            <a:ahLst/>
            <a:rect l="0" t="0" r="r" b="b"/>
            <a:pathLst>
              <a:path w="11087" h="27">
                <a:moveTo>
                  <a:pt x="0" y="0"/>
                </a:moveTo>
                <a:lnTo>
                  <a:pt x="11087" y="0"/>
                </a:lnTo>
                <a:lnTo>
                  <a:pt x="1108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/>
          <p:nvPr/>
        </p:nvSpPr>
        <p:spPr>
          <a:xfrm>
            <a:off x="7076880" y="3943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/>
          <p:nvPr/>
        </p:nvSpPr>
        <p:spPr>
          <a:xfrm>
            <a:off x="571320" y="4314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/>
          <p:nvPr/>
        </p:nvSpPr>
        <p:spPr>
          <a:xfrm>
            <a:off x="571320" y="4305240"/>
            <a:ext cx="2524320" cy="9720"/>
          </a:xfrm>
          <a:custGeom>
            <a:avLst/>
            <a:gdLst/>
            <a:ahLst/>
            <a:rect l="0" t="0" r="r" b="b"/>
            <a:pathLst>
              <a:path w="7012" h="27">
                <a:moveTo>
                  <a:pt x="0" y="0"/>
                </a:moveTo>
                <a:lnTo>
                  <a:pt x="7012" y="0"/>
                </a:lnTo>
                <a:lnTo>
                  <a:pt x="70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/>
          <p:nvPr/>
        </p:nvSpPr>
        <p:spPr>
          <a:xfrm>
            <a:off x="3085920" y="4314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/>
          <p:nvPr/>
        </p:nvSpPr>
        <p:spPr>
          <a:xfrm>
            <a:off x="3095280" y="4305240"/>
            <a:ext cx="3991320" cy="9720"/>
          </a:xfrm>
          <a:custGeom>
            <a:avLst/>
            <a:gdLst/>
            <a:ahLst/>
            <a:rect l="0" t="0" r="r" b="b"/>
            <a:pathLst>
              <a:path w="11087" h="27">
                <a:moveTo>
                  <a:pt x="0" y="0"/>
                </a:moveTo>
                <a:lnTo>
                  <a:pt x="11087" y="0"/>
                </a:lnTo>
                <a:lnTo>
                  <a:pt x="1108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/>
          <p:nvPr/>
        </p:nvSpPr>
        <p:spPr>
          <a:xfrm>
            <a:off x="7076880" y="4314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/>
          <p:nvPr/>
        </p:nvSpPr>
        <p:spPr>
          <a:xfrm>
            <a:off x="571320" y="4676760"/>
            <a:ext cx="2524320" cy="9720"/>
          </a:xfrm>
          <a:custGeom>
            <a:avLst/>
            <a:gdLst/>
            <a:ahLst/>
            <a:rect l="0" t="0" r="r" b="b"/>
            <a:pathLst>
              <a:path w="7012" h="27">
                <a:moveTo>
                  <a:pt x="0" y="0"/>
                </a:moveTo>
                <a:lnTo>
                  <a:pt x="7012" y="0"/>
                </a:lnTo>
                <a:lnTo>
                  <a:pt x="70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/>
          <p:nvPr/>
        </p:nvSpPr>
        <p:spPr>
          <a:xfrm>
            <a:off x="3095280" y="4676760"/>
            <a:ext cx="3991320" cy="9720"/>
          </a:xfrm>
          <a:custGeom>
            <a:avLst/>
            <a:gdLst/>
            <a:ahLst/>
            <a:rect l="0" t="0" r="r" b="b"/>
            <a:pathLst>
              <a:path w="11087" h="27">
                <a:moveTo>
                  <a:pt x="0" y="0"/>
                </a:moveTo>
                <a:lnTo>
                  <a:pt x="11087" y="0"/>
                </a:lnTo>
                <a:lnTo>
                  <a:pt x="1108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 txBox="1"/>
          <p:nvPr/>
        </p:nvSpPr>
        <p:spPr>
          <a:xfrm>
            <a:off x="571320" y="1859400"/>
            <a:ext cx="14331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可发表⽅向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704880" y="2504160"/>
            <a:ext cx="864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会议</a:t>
            </a:r>
            <a:r>
              <a:rPr lang="en-US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期刊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3217320" y="250416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⻆度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 txBox="1"/>
          <p:nvPr/>
        </p:nvSpPr>
        <p:spPr>
          <a:xfrm>
            <a:off x="704880" y="2885400"/>
            <a:ext cx="8794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CHI / UIST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 txBox="1"/>
          <p:nvPr/>
        </p:nvSpPr>
        <p:spPr>
          <a:xfrm>
            <a:off x="3217320" y="2885400"/>
            <a:ext cx="3627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Multi-Stakeholder AI Presentation Generation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 txBox="1"/>
          <p:nvPr/>
        </p:nvSpPr>
        <p:spPr>
          <a:xfrm>
            <a:off x="704880" y="3256920"/>
            <a:ext cx="20196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CAAD Futures / eCAADe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 txBox="1"/>
          <p:nvPr/>
        </p:nvSpPr>
        <p:spPr>
          <a:xfrm>
            <a:off x="3217320" y="3256920"/>
            <a:ext cx="30373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AI-driven Architecture Design Pipeline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704880" y="3628440"/>
            <a:ext cx="2246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Automation in Construction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 txBox="1"/>
          <p:nvPr/>
        </p:nvSpPr>
        <p:spPr>
          <a:xfrm>
            <a:off x="3217320" y="3628440"/>
            <a:ext cx="33102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BIM-LLM Interoperability (IFC4 roundtrip)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704880" y="3999600"/>
            <a:ext cx="278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DIS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 txBox="1"/>
          <p:nvPr/>
        </p:nvSpPr>
        <p:spPr>
          <a:xfrm>
            <a:off x="3217320" y="3999600"/>
            <a:ext cx="3863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Studio Copilot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⽤户研究（设计师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in-the-loop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704880" y="4371120"/>
            <a:ext cx="9223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顶刊 </a:t>
            </a:r>
            <a:r>
              <a:rPr lang="en-US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IF 10+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 txBox="1"/>
          <p:nvPr/>
        </p:nvSpPr>
        <p:spPr>
          <a:xfrm>
            <a:off x="3217320" y="4371120"/>
            <a:ext cx="34678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Review: LLM Agents for Design Automation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 txBox="1"/>
          <p:nvPr/>
        </p:nvSpPr>
        <p:spPr>
          <a:xfrm>
            <a:off x="285840" y="199440"/>
            <a:ext cx="272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Coﬀee Lab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独⽴精品咖啡店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 txBox="1"/>
          <p:nvPr/>
        </p:nvSpPr>
        <p:spPr>
          <a:xfrm>
            <a:off x="285840" y="6409440"/>
            <a:ext cx="3537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学院领导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 txBox="1"/>
          <p:nvPr/>
        </p:nvSpPr>
        <p:spPr>
          <a:xfrm>
            <a:off x="1182276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/>
          <p:nvPr/>
        </p:nvSpPr>
        <p:spPr>
          <a:xfrm>
            <a:off x="580680" y="2447640"/>
            <a:ext cx="1381680" cy="371880"/>
          </a:xfrm>
          <a:custGeom>
            <a:avLst/>
            <a:gdLst/>
            <a:ahLst/>
            <a:rect l="0" t="0" r="r" b="b"/>
            <a:pathLst>
              <a:path w="3838" h="1033">
                <a:moveTo>
                  <a:pt x="0" y="0"/>
                </a:moveTo>
                <a:lnTo>
                  <a:pt x="3838" y="0"/>
                </a:lnTo>
                <a:lnTo>
                  <a:pt x="383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/>
          <p:nvPr/>
        </p:nvSpPr>
        <p:spPr>
          <a:xfrm>
            <a:off x="1962000" y="2447640"/>
            <a:ext cx="3562560" cy="371880"/>
          </a:xfrm>
          <a:custGeom>
            <a:avLst/>
            <a:gdLst/>
            <a:ahLst/>
            <a:rect l="0" t="0" r="r" b="b"/>
            <a:pathLst>
              <a:path w="9896" h="1033">
                <a:moveTo>
                  <a:pt x="0" y="0"/>
                </a:moveTo>
                <a:lnTo>
                  <a:pt x="9896" y="0"/>
                </a:lnTo>
                <a:lnTo>
                  <a:pt x="989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/>
          <p:nvPr/>
        </p:nvSpPr>
        <p:spPr>
          <a:xfrm>
            <a:off x="580680" y="2447640"/>
            <a:ext cx="1381680" cy="371880"/>
          </a:xfrm>
          <a:custGeom>
            <a:avLst/>
            <a:gdLst/>
            <a:ahLst/>
            <a:rect l="0" t="0" r="r" b="b"/>
            <a:pathLst>
              <a:path w="3838" h="1033">
                <a:moveTo>
                  <a:pt x="0" y="0"/>
                </a:moveTo>
                <a:lnTo>
                  <a:pt x="3838" y="0"/>
                </a:lnTo>
                <a:lnTo>
                  <a:pt x="383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/>
          <p:nvPr/>
        </p:nvSpPr>
        <p:spPr>
          <a:xfrm>
            <a:off x="1962000" y="2447640"/>
            <a:ext cx="3562560" cy="371880"/>
          </a:xfrm>
          <a:custGeom>
            <a:avLst/>
            <a:gdLst/>
            <a:ahLst/>
            <a:rect l="0" t="0" r="r" b="b"/>
            <a:pathLst>
              <a:path w="9896" h="1033">
                <a:moveTo>
                  <a:pt x="0" y="0"/>
                </a:moveTo>
                <a:lnTo>
                  <a:pt x="9896" y="0"/>
                </a:lnTo>
                <a:lnTo>
                  <a:pt x="989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/>
          <p:nvPr/>
        </p:nvSpPr>
        <p:spPr>
          <a:xfrm>
            <a:off x="580680" y="2819160"/>
            <a:ext cx="1381680" cy="371880"/>
          </a:xfrm>
          <a:custGeom>
            <a:avLst/>
            <a:gdLst/>
            <a:ahLst/>
            <a:rect l="0" t="0" r="r" b="b"/>
            <a:pathLst>
              <a:path w="3838" h="1033">
                <a:moveTo>
                  <a:pt x="0" y="0"/>
                </a:moveTo>
                <a:lnTo>
                  <a:pt x="3838" y="0"/>
                </a:lnTo>
                <a:lnTo>
                  <a:pt x="383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/>
          <p:nvPr/>
        </p:nvSpPr>
        <p:spPr>
          <a:xfrm>
            <a:off x="1962000" y="2819160"/>
            <a:ext cx="3562560" cy="371880"/>
          </a:xfrm>
          <a:custGeom>
            <a:avLst/>
            <a:gdLst/>
            <a:ahLst/>
            <a:rect l="0" t="0" r="r" b="b"/>
            <a:pathLst>
              <a:path w="9896" h="1033">
                <a:moveTo>
                  <a:pt x="0" y="0"/>
                </a:moveTo>
                <a:lnTo>
                  <a:pt x="9896" y="0"/>
                </a:lnTo>
                <a:lnTo>
                  <a:pt x="989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/>
          <p:nvPr/>
        </p:nvSpPr>
        <p:spPr>
          <a:xfrm>
            <a:off x="580680" y="3190680"/>
            <a:ext cx="1381680" cy="371880"/>
          </a:xfrm>
          <a:custGeom>
            <a:avLst/>
            <a:gdLst/>
            <a:ahLst/>
            <a:rect l="0" t="0" r="r" b="b"/>
            <a:pathLst>
              <a:path w="3838" h="1033">
                <a:moveTo>
                  <a:pt x="0" y="0"/>
                </a:moveTo>
                <a:lnTo>
                  <a:pt x="3838" y="0"/>
                </a:lnTo>
                <a:lnTo>
                  <a:pt x="383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/>
          <p:nvPr/>
        </p:nvSpPr>
        <p:spPr>
          <a:xfrm>
            <a:off x="1962000" y="3190680"/>
            <a:ext cx="3562560" cy="371880"/>
          </a:xfrm>
          <a:custGeom>
            <a:avLst/>
            <a:gdLst/>
            <a:ahLst/>
            <a:rect l="0" t="0" r="r" b="b"/>
            <a:pathLst>
              <a:path w="9896" h="1033">
                <a:moveTo>
                  <a:pt x="0" y="0"/>
                </a:moveTo>
                <a:lnTo>
                  <a:pt x="9896" y="0"/>
                </a:lnTo>
                <a:lnTo>
                  <a:pt x="989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/>
          <p:nvPr/>
        </p:nvSpPr>
        <p:spPr>
          <a:xfrm>
            <a:off x="580680" y="3562200"/>
            <a:ext cx="1381680" cy="371880"/>
          </a:xfrm>
          <a:custGeom>
            <a:avLst/>
            <a:gdLst/>
            <a:ahLst/>
            <a:rect l="0" t="0" r="r" b="b"/>
            <a:pathLst>
              <a:path w="3838" h="1033">
                <a:moveTo>
                  <a:pt x="0" y="0"/>
                </a:moveTo>
                <a:lnTo>
                  <a:pt x="3838" y="0"/>
                </a:lnTo>
                <a:lnTo>
                  <a:pt x="383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/>
          <p:nvPr/>
        </p:nvSpPr>
        <p:spPr>
          <a:xfrm>
            <a:off x="1962000" y="3562200"/>
            <a:ext cx="3562560" cy="371880"/>
          </a:xfrm>
          <a:custGeom>
            <a:avLst/>
            <a:gdLst/>
            <a:ahLst/>
            <a:rect l="0" t="0" r="r" b="b"/>
            <a:pathLst>
              <a:path w="9896" h="1033">
                <a:moveTo>
                  <a:pt x="0" y="0"/>
                </a:moveTo>
                <a:lnTo>
                  <a:pt x="9896" y="0"/>
                </a:lnTo>
                <a:lnTo>
                  <a:pt x="989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/>
          <p:nvPr/>
        </p:nvSpPr>
        <p:spPr>
          <a:xfrm>
            <a:off x="580680" y="3933720"/>
            <a:ext cx="1381680" cy="371880"/>
          </a:xfrm>
          <a:custGeom>
            <a:avLst/>
            <a:gdLst/>
            <a:ahLst/>
            <a:rect l="0" t="0" r="r" b="b"/>
            <a:pathLst>
              <a:path w="3838" h="1033">
                <a:moveTo>
                  <a:pt x="0" y="0"/>
                </a:moveTo>
                <a:lnTo>
                  <a:pt x="3838" y="0"/>
                </a:lnTo>
                <a:lnTo>
                  <a:pt x="383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"/>
          <p:cNvSpPr/>
          <p:nvPr/>
        </p:nvSpPr>
        <p:spPr>
          <a:xfrm>
            <a:off x="1962000" y="3933720"/>
            <a:ext cx="3562560" cy="371880"/>
          </a:xfrm>
          <a:custGeom>
            <a:avLst/>
            <a:gdLst/>
            <a:ahLst/>
            <a:rect l="0" t="0" r="r" b="b"/>
            <a:pathLst>
              <a:path w="9896" h="1033">
                <a:moveTo>
                  <a:pt x="0" y="0"/>
                </a:moveTo>
                <a:lnTo>
                  <a:pt x="9896" y="0"/>
                </a:lnTo>
                <a:lnTo>
                  <a:pt x="989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/>
          <p:nvPr/>
        </p:nvSpPr>
        <p:spPr>
          <a:xfrm>
            <a:off x="580680" y="4305240"/>
            <a:ext cx="1381680" cy="381240"/>
          </a:xfrm>
          <a:custGeom>
            <a:avLst/>
            <a:gdLst/>
            <a:ahLst/>
            <a:rect l="0" t="0" r="r" b="b"/>
            <a:pathLst>
              <a:path w="3838" h="1059">
                <a:moveTo>
                  <a:pt x="0" y="0"/>
                </a:moveTo>
                <a:lnTo>
                  <a:pt x="3838" y="0"/>
                </a:lnTo>
                <a:lnTo>
                  <a:pt x="383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/>
          <p:nvPr/>
        </p:nvSpPr>
        <p:spPr>
          <a:xfrm>
            <a:off x="1962000" y="4305240"/>
            <a:ext cx="3562560" cy="381240"/>
          </a:xfrm>
          <a:custGeom>
            <a:avLst/>
            <a:gdLst/>
            <a:ahLst/>
            <a:rect l="0" t="0" r="r" b="b"/>
            <a:pathLst>
              <a:path w="9896" h="1059">
                <a:moveTo>
                  <a:pt x="0" y="0"/>
                </a:moveTo>
                <a:lnTo>
                  <a:pt x="9896" y="0"/>
                </a:lnTo>
                <a:lnTo>
                  <a:pt x="9896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/>
          <p:nvPr/>
        </p:nvSpPr>
        <p:spPr>
          <a:xfrm>
            <a:off x="571320" y="243828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/>
          <p:nvPr/>
        </p:nvSpPr>
        <p:spPr>
          <a:xfrm>
            <a:off x="571320" y="2438280"/>
            <a:ext cx="1400400" cy="9720"/>
          </a:xfrm>
          <a:custGeom>
            <a:avLst/>
            <a:gdLst/>
            <a:ahLst/>
            <a:rect l="0" t="0" r="r" b="b"/>
            <a:pathLst>
              <a:path w="3890" h="27">
                <a:moveTo>
                  <a:pt x="0" y="0"/>
                </a:moveTo>
                <a:lnTo>
                  <a:pt x="3890" y="0"/>
                </a:lnTo>
                <a:lnTo>
                  <a:pt x="389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/>
          <p:nvPr/>
        </p:nvSpPr>
        <p:spPr>
          <a:xfrm>
            <a:off x="1962000" y="243828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/>
          <p:nvPr/>
        </p:nvSpPr>
        <p:spPr>
          <a:xfrm>
            <a:off x="1971360" y="2438280"/>
            <a:ext cx="3562920" cy="9720"/>
          </a:xfrm>
          <a:custGeom>
            <a:avLst/>
            <a:gdLst/>
            <a:ahLst/>
            <a:rect l="0" t="0" r="r" b="b"/>
            <a:pathLst>
              <a:path w="9897" h="27">
                <a:moveTo>
                  <a:pt x="0" y="0"/>
                </a:moveTo>
                <a:lnTo>
                  <a:pt x="9897" y="0"/>
                </a:lnTo>
                <a:lnTo>
                  <a:pt x="989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/>
          <p:nvPr/>
        </p:nvSpPr>
        <p:spPr>
          <a:xfrm>
            <a:off x="5524200" y="243828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/>
          <p:nvPr/>
        </p:nvSpPr>
        <p:spPr>
          <a:xfrm>
            <a:off x="571320" y="2819160"/>
            <a:ext cx="1400400" cy="10080"/>
          </a:xfrm>
          <a:custGeom>
            <a:avLst/>
            <a:gdLst/>
            <a:ahLst/>
            <a:rect l="0" t="0" r="r" b="b"/>
            <a:pathLst>
              <a:path w="3890" h="28">
                <a:moveTo>
                  <a:pt x="0" y="0"/>
                </a:moveTo>
                <a:lnTo>
                  <a:pt x="3890" y="0"/>
                </a:lnTo>
                <a:lnTo>
                  <a:pt x="389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/>
          <p:nvPr/>
        </p:nvSpPr>
        <p:spPr>
          <a:xfrm>
            <a:off x="1971360" y="2819160"/>
            <a:ext cx="3562920" cy="10080"/>
          </a:xfrm>
          <a:custGeom>
            <a:avLst/>
            <a:gdLst/>
            <a:ahLst/>
            <a:rect l="0" t="0" r="r" b="b"/>
            <a:pathLst>
              <a:path w="9897" h="28">
                <a:moveTo>
                  <a:pt x="0" y="0"/>
                </a:moveTo>
                <a:lnTo>
                  <a:pt x="9897" y="0"/>
                </a:lnTo>
                <a:lnTo>
                  <a:pt x="989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/>
          <p:nvPr/>
        </p:nvSpPr>
        <p:spPr>
          <a:xfrm>
            <a:off x="571320" y="282888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/>
          <p:nvPr/>
        </p:nvSpPr>
        <p:spPr>
          <a:xfrm>
            <a:off x="1962000" y="282888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/>
          <p:nvPr/>
        </p:nvSpPr>
        <p:spPr>
          <a:xfrm>
            <a:off x="5524200" y="2828880"/>
            <a:ext cx="10080" cy="371520"/>
          </a:xfrm>
          <a:custGeom>
            <a:avLst/>
            <a:gdLst/>
            <a:ahLst/>
            <a:rect l="0" t="0" r="r" b="b"/>
            <a:pathLst>
              <a:path w="28" h="1032">
                <a:moveTo>
                  <a:pt x="0" y="0"/>
                </a:moveTo>
                <a:lnTo>
                  <a:pt x="28" y="0"/>
                </a:lnTo>
                <a:lnTo>
                  <a:pt x="28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/>
          <p:nvPr/>
        </p:nvSpPr>
        <p:spPr>
          <a:xfrm>
            <a:off x="571320" y="32000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/>
          <p:nvPr/>
        </p:nvSpPr>
        <p:spPr>
          <a:xfrm>
            <a:off x="571320" y="3190680"/>
            <a:ext cx="1400400" cy="9720"/>
          </a:xfrm>
          <a:custGeom>
            <a:avLst/>
            <a:gdLst/>
            <a:ahLst/>
            <a:rect l="0" t="0" r="r" b="b"/>
            <a:pathLst>
              <a:path w="3890" h="27">
                <a:moveTo>
                  <a:pt x="0" y="0"/>
                </a:moveTo>
                <a:lnTo>
                  <a:pt x="3890" y="0"/>
                </a:lnTo>
                <a:lnTo>
                  <a:pt x="389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"/>
          <p:cNvSpPr/>
          <p:nvPr/>
        </p:nvSpPr>
        <p:spPr>
          <a:xfrm>
            <a:off x="1962000" y="32000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"/>
          <p:cNvSpPr/>
          <p:nvPr/>
        </p:nvSpPr>
        <p:spPr>
          <a:xfrm>
            <a:off x="1971360" y="3190680"/>
            <a:ext cx="3562920" cy="9720"/>
          </a:xfrm>
          <a:custGeom>
            <a:avLst/>
            <a:gdLst/>
            <a:ahLst/>
            <a:rect l="0" t="0" r="r" b="b"/>
            <a:pathLst>
              <a:path w="9897" h="27">
                <a:moveTo>
                  <a:pt x="0" y="0"/>
                </a:moveTo>
                <a:lnTo>
                  <a:pt x="9897" y="0"/>
                </a:lnTo>
                <a:lnTo>
                  <a:pt x="989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"/>
          <p:cNvSpPr/>
          <p:nvPr/>
        </p:nvSpPr>
        <p:spPr>
          <a:xfrm>
            <a:off x="5524200" y="32000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"/>
          <p:cNvSpPr/>
          <p:nvPr/>
        </p:nvSpPr>
        <p:spPr>
          <a:xfrm>
            <a:off x="571320" y="3571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/>
          <p:nvPr/>
        </p:nvSpPr>
        <p:spPr>
          <a:xfrm>
            <a:off x="571320" y="3562200"/>
            <a:ext cx="1400400" cy="9720"/>
          </a:xfrm>
          <a:custGeom>
            <a:avLst/>
            <a:gdLst/>
            <a:ahLst/>
            <a:rect l="0" t="0" r="r" b="b"/>
            <a:pathLst>
              <a:path w="3890" h="27">
                <a:moveTo>
                  <a:pt x="0" y="0"/>
                </a:moveTo>
                <a:lnTo>
                  <a:pt x="3890" y="0"/>
                </a:lnTo>
                <a:lnTo>
                  <a:pt x="389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/>
          <p:nvPr/>
        </p:nvSpPr>
        <p:spPr>
          <a:xfrm>
            <a:off x="1962000" y="3571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/>
          <p:nvPr/>
        </p:nvSpPr>
        <p:spPr>
          <a:xfrm>
            <a:off x="1971360" y="3562200"/>
            <a:ext cx="3562920" cy="9720"/>
          </a:xfrm>
          <a:custGeom>
            <a:avLst/>
            <a:gdLst/>
            <a:ahLst/>
            <a:rect l="0" t="0" r="r" b="b"/>
            <a:pathLst>
              <a:path w="9897" h="27">
                <a:moveTo>
                  <a:pt x="0" y="0"/>
                </a:moveTo>
                <a:lnTo>
                  <a:pt x="9897" y="0"/>
                </a:lnTo>
                <a:lnTo>
                  <a:pt x="989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/>
          <p:nvPr/>
        </p:nvSpPr>
        <p:spPr>
          <a:xfrm>
            <a:off x="5524200" y="35715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/>
          <p:nvPr/>
        </p:nvSpPr>
        <p:spPr>
          <a:xfrm>
            <a:off x="571320" y="3943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"/>
          <p:cNvSpPr/>
          <p:nvPr/>
        </p:nvSpPr>
        <p:spPr>
          <a:xfrm>
            <a:off x="571320" y="3933720"/>
            <a:ext cx="1400400" cy="9720"/>
          </a:xfrm>
          <a:custGeom>
            <a:avLst/>
            <a:gdLst/>
            <a:ahLst/>
            <a:rect l="0" t="0" r="r" b="b"/>
            <a:pathLst>
              <a:path w="3890" h="27">
                <a:moveTo>
                  <a:pt x="0" y="0"/>
                </a:moveTo>
                <a:lnTo>
                  <a:pt x="3890" y="0"/>
                </a:lnTo>
                <a:lnTo>
                  <a:pt x="389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/>
          <p:nvPr/>
        </p:nvSpPr>
        <p:spPr>
          <a:xfrm>
            <a:off x="1962000" y="3943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/>
          <p:nvPr/>
        </p:nvSpPr>
        <p:spPr>
          <a:xfrm>
            <a:off x="1971360" y="3933720"/>
            <a:ext cx="3562920" cy="9720"/>
          </a:xfrm>
          <a:custGeom>
            <a:avLst/>
            <a:gdLst/>
            <a:ahLst/>
            <a:rect l="0" t="0" r="r" b="b"/>
            <a:pathLst>
              <a:path w="9897" h="27">
                <a:moveTo>
                  <a:pt x="0" y="0"/>
                </a:moveTo>
                <a:lnTo>
                  <a:pt x="9897" y="0"/>
                </a:lnTo>
                <a:lnTo>
                  <a:pt x="989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/>
          <p:nvPr/>
        </p:nvSpPr>
        <p:spPr>
          <a:xfrm>
            <a:off x="5524200" y="39430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"/>
          <p:cNvSpPr/>
          <p:nvPr/>
        </p:nvSpPr>
        <p:spPr>
          <a:xfrm>
            <a:off x="571320" y="4314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"/>
          <p:cNvSpPr/>
          <p:nvPr/>
        </p:nvSpPr>
        <p:spPr>
          <a:xfrm>
            <a:off x="571320" y="4305240"/>
            <a:ext cx="1400400" cy="9720"/>
          </a:xfrm>
          <a:custGeom>
            <a:avLst/>
            <a:gdLst/>
            <a:ahLst/>
            <a:rect l="0" t="0" r="r" b="b"/>
            <a:pathLst>
              <a:path w="3890" h="27">
                <a:moveTo>
                  <a:pt x="0" y="0"/>
                </a:moveTo>
                <a:lnTo>
                  <a:pt x="3890" y="0"/>
                </a:lnTo>
                <a:lnTo>
                  <a:pt x="389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"/>
          <p:cNvSpPr/>
          <p:nvPr/>
        </p:nvSpPr>
        <p:spPr>
          <a:xfrm>
            <a:off x="1962000" y="4314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"/>
          <p:cNvSpPr/>
          <p:nvPr/>
        </p:nvSpPr>
        <p:spPr>
          <a:xfrm>
            <a:off x="1971360" y="4305240"/>
            <a:ext cx="3562920" cy="9720"/>
          </a:xfrm>
          <a:custGeom>
            <a:avLst/>
            <a:gdLst/>
            <a:ahLst/>
            <a:rect l="0" t="0" r="r" b="b"/>
            <a:pathLst>
              <a:path w="9897" h="27">
                <a:moveTo>
                  <a:pt x="0" y="0"/>
                </a:moveTo>
                <a:lnTo>
                  <a:pt x="9897" y="0"/>
                </a:lnTo>
                <a:lnTo>
                  <a:pt x="989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"/>
          <p:cNvSpPr/>
          <p:nvPr/>
        </p:nvSpPr>
        <p:spPr>
          <a:xfrm>
            <a:off x="5524200" y="4314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"/>
          <p:cNvSpPr/>
          <p:nvPr/>
        </p:nvSpPr>
        <p:spPr>
          <a:xfrm>
            <a:off x="571320" y="4676760"/>
            <a:ext cx="1400400" cy="9720"/>
          </a:xfrm>
          <a:custGeom>
            <a:avLst/>
            <a:gdLst/>
            <a:ahLst/>
            <a:rect l="0" t="0" r="r" b="b"/>
            <a:pathLst>
              <a:path w="3890" h="27">
                <a:moveTo>
                  <a:pt x="0" y="0"/>
                </a:moveTo>
                <a:lnTo>
                  <a:pt x="3890" y="0"/>
                </a:lnTo>
                <a:lnTo>
                  <a:pt x="389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"/>
          <p:cNvSpPr/>
          <p:nvPr/>
        </p:nvSpPr>
        <p:spPr>
          <a:xfrm>
            <a:off x="1971360" y="4676760"/>
            <a:ext cx="3562920" cy="9720"/>
          </a:xfrm>
          <a:custGeom>
            <a:avLst/>
            <a:gdLst/>
            <a:ahLst/>
            <a:rect l="0" t="0" r="r" b="b"/>
            <a:pathLst>
              <a:path w="9897" h="27">
                <a:moveTo>
                  <a:pt x="0" y="0"/>
                </a:moveTo>
                <a:lnTo>
                  <a:pt x="9897" y="0"/>
                </a:lnTo>
                <a:lnTo>
                  <a:pt x="989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"/>
          <p:cNvSpPr txBox="1"/>
          <p:nvPr/>
        </p:nvSpPr>
        <p:spPr>
          <a:xfrm>
            <a:off x="571320" y="1859400"/>
            <a:ext cx="200628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教学与孵化价值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"/>
          <p:cNvSpPr txBox="1"/>
          <p:nvPr/>
        </p:nvSpPr>
        <p:spPr>
          <a:xfrm>
            <a:off x="704880" y="250416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层⾯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"/>
          <p:cNvSpPr txBox="1"/>
          <p:nvPr/>
        </p:nvSpPr>
        <p:spPr>
          <a:xfrm>
            <a:off x="2090880" y="250416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具体内容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"/>
          <p:cNvSpPr txBox="1"/>
          <p:nvPr/>
        </p:nvSpPr>
        <p:spPr>
          <a:xfrm>
            <a:off x="704880" y="2885400"/>
            <a:ext cx="854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研究⽣课程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"/>
          <p:cNvSpPr txBox="1"/>
          <p:nvPr/>
        </p:nvSpPr>
        <p:spPr>
          <a:xfrm>
            <a:off x="2090880" y="2885400"/>
            <a:ext cx="34758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《计算性设计》《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Agent for CAD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》实验素材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"/>
          <p:cNvSpPr txBox="1"/>
          <p:nvPr/>
        </p:nvSpPr>
        <p:spPr>
          <a:xfrm>
            <a:off x="704880" y="3256920"/>
            <a:ext cx="1172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本科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capstone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"/>
          <p:cNvSpPr txBox="1"/>
          <p:nvPr/>
        </p:nvSpPr>
        <p:spPr>
          <a:xfrm>
            <a:off x="2090880" y="3256920"/>
            <a:ext cx="3357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跨院系（建筑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计算机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商学）联合项⽬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"/>
          <p:cNvSpPr txBox="1"/>
          <p:nvPr/>
        </p:nvSpPr>
        <p:spPr>
          <a:xfrm>
            <a:off x="704880" y="362844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数字孪⽣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"/>
          <p:cNvSpPr txBox="1"/>
          <p:nvPr/>
        </p:nvSpPr>
        <p:spPr>
          <a:xfrm>
            <a:off x="2090880" y="3628440"/>
            <a:ext cx="2177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IFC4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开放数据可作仿真输⼊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"/>
          <p:cNvSpPr txBox="1"/>
          <p:nvPr/>
        </p:nvSpPr>
        <p:spPr>
          <a:xfrm>
            <a:off x="704880" y="399960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创业孵化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"/>
          <p:cNvSpPr txBox="1"/>
          <p:nvPr/>
        </p:nvSpPr>
        <p:spPr>
          <a:xfrm>
            <a:off x="2090880" y="3999600"/>
            <a:ext cx="3354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StartUP-Building ·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已孵化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Studio Copilot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"/>
          <p:cNvSpPr txBox="1"/>
          <p:nvPr/>
        </p:nvSpPr>
        <p:spPr>
          <a:xfrm>
            <a:off x="704880" y="437112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产业对接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"/>
          <p:cNvSpPr txBox="1"/>
          <p:nvPr/>
        </p:nvSpPr>
        <p:spPr>
          <a:xfrm>
            <a:off x="2090880" y="4371120"/>
            <a:ext cx="285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可复制模板 → 连锁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F&amp;B /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精品零售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"/>
          <p:cNvSpPr txBox="1"/>
          <p:nvPr/>
        </p:nvSpPr>
        <p:spPr>
          <a:xfrm>
            <a:off x="285840" y="199440"/>
            <a:ext cx="272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Coﬀee Lab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独⽴精品咖啡店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"/>
          <p:cNvSpPr txBox="1"/>
          <p:nvPr/>
        </p:nvSpPr>
        <p:spPr>
          <a:xfrm>
            <a:off x="285840" y="6409440"/>
            <a:ext cx="3537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学院领导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"/>
          <p:cNvSpPr/>
          <p:nvPr/>
        </p:nvSpPr>
        <p:spPr>
          <a:xfrm>
            <a:off x="580680" y="2638080"/>
            <a:ext cx="952920" cy="371880"/>
          </a:xfrm>
          <a:custGeom>
            <a:avLst/>
            <a:gdLst/>
            <a:ahLst/>
            <a:rect l="0" t="0" r="r" b="b"/>
            <a:pathLst>
              <a:path w="2647" h="1033">
                <a:moveTo>
                  <a:pt x="0" y="0"/>
                </a:moveTo>
                <a:lnTo>
                  <a:pt x="2647" y="0"/>
                </a:lnTo>
                <a:lnTo>
                  <a:pt x="264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"/>
          <p:cNvSpPr/>
          <p:nvPr/>
        </p:nvSpPr>
        <p:spPr>
          <a:xfrm>
            <a:off x="1533240" y="2638080"/>
            <a:ext cx="3305520" cy="371880"/>
          </a:xfrm>
          <a:custGeom>
            <a:avLst/>
            <a:gdLst/>
            <a:ahLst/>
            <a:rect l="0" t="0" r="r" b="b"/>
            <a:pathLst>
              <a:path w="9182" h="1033">
                <a:moveTo>
                  <a:pt x="0" y="0"/>
                </a:moveTo>
                <a:lnTo>
                  <a:pt x="9182" y="0"/>
                </a:lnTo>
                <a:lnTo>
                  <a:pt x="918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"/>
          <p:cNvSpPr/>
          <p:nvPr/>
        </p:nvSpPr>
        <p:spPr>
          <a:xfrm>
            <a:off x="580680" y="2638080"/>
            <a:ext cx="952920" cy="371880"/>
          </a:xfrm>
          <a:custGeom>
            <a:avLst/>
            <a:gdLst/>
            <a:ahLst/>
            <a:rect l="0" t="0" r="r" b="b"/>
            <a:pathLst>
              <a:path w="2647" h="1033">
                <a:moveTo>
                  <a:pt x="0" y="0"/>
                </a:moveTo>
                <a:lnTo>
                  <a:pt x="2647" y="0"/>
                </a:lnTo>
                <a:lnTo>
                  <a:pt x="264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"/>
          <p:cNvSpPr/>
          <p:nvPr/>
        </p:nvSpPr>
        <p:spPr>
          <a:xfrm>
            <a:off x="1533240" y="2638080"/>
            <a:ext cx="3305520" cy="371880"/>
          </a:xfrm>
          <a:custGeom>
            <a:avLst/>
            <a:gdLst/>
            <a:ahLst/>
            <a:rect l="0" t="0" r="r" b="b"/>
            <a:pathLst>
              <a:path w="9182" h="1033">
                <a:moveTo>
                  <a:pt x="0" y="0"/>
                </a:moveTo>
                <a:lnTo>
                  <a:pt x="9182" y="0"/>
                </a:lnTo>
                <a:lnTo>
                  <a:pt x="918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"/>
          <p:cNvSpPr/>
          <p:nvPr/>
        </p:nvSpPr>
        <p:spPr>
          <a:xfrm>
            <a:off x="580680" y="3009600"/>
            <a:ext cx="952920" cy="371880"/>
          </a:xfrm>
          <a:custGeom>
            <a:avLst/>
            <a:gdLst/>
            <a:ahLst/>
            <a:rect l="0" t="0" r="r" b="b"/>
            <a:pathLst>
              <a:path w="2647" h="1033">
                <a:moveTo>
                  <a:pt x="0" y="0"/>
                </a:moveTo>
                <a:lnTo>
                  <a:pt x="2647" y="0"/>
                </a:lnTo>
                <a:lnTo>
                  <a:pt x="264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"/>
          <p:cNvSpPr/>
          <p:nvPr/>
        </p:nvSpPr>
        <p:spPr>
          <a:xfrm>
            <a:off x="1533240" y="3009600"/>
            <a:ext cx="3305520" cy="371880"/>
          </a:xfrm>
          <a:custGeom>
            <a:avLst/>
            <a:gdLst/>
            <a:ahLst/>
            <a:rect l="0" t="0" r="r" b="b"/>
            <a:pathLst>
              <a:path w="9182" h="1033">
                <a:moveTo>
                  <a:pt x="0" y="0"/>
                </a:moveTo>
                <a:lnTo>
                  <a:pt x="9182" y="0"/>
                </a:lnTo>
                <a:lnTo>
                  <a:pt x="918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"/>
          <p:cNvSpPr/>
          <p:nvPr/>
        </p:nvSpPr>
        <p:spPr>
          <a:xfrm>
            <a:off x="580680" y="3381120"/>
            <a:ext cx="952920" cy="371880"/>
          </a:xfrm>
          <a:custGeom>
            <a:avLst/>
            <a:gdLst/>
            <a:ahLst/>
            <a:rect l="0" t="0" r="r" b="b"/>
            <a:pathLst>
              <a:path w="2647" h="1033">
                <a:moveTo>
                  <a:pt x="0" y="0"/>
                </a:moveTo>
                <a:lnTo>
                  <a:pt x="2647" y="0"/>
                </a:lnTo>
                <a:lnTo>
                  <a:pt x="264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"/>
          <p:cNvSpPr/>
          <p:nvPr/>
        </p:nvSpPr>
        <p:spPr>
          <a:xfrm>
            <a:off x="1533240" y="3381120"/>
            <a:ext cx="3305520" cy="371880"/>
          </a:xfrm>
          <a:custGeom>
            <a:avLst/>
            <a:gdLst/>
            <a:ahLst/>
            <a:rect l="0" t="0" r="r" b="b"/>
            <a:pathLst>
              <a:path w="9182" h="1033">
                <a:moveTo>
                  <a:pt x="0" y="0"/>
                </a:moveTo>
                <a:lnTo>
                  <a:pt x="9182" y="0"/>
                </a:lnTo>
                <a:lnTo>
                  <a:pt x="918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"/>
          <p:cNvSpPr/>
          <p:nvPr/>
        </p:nvSpPr>
        <p:spPr>
          <a:xfrm>
            <a:off x="580680" y="3752640"/>
            <a:ext cx="952920" cy="371880"/>
          </a:xfrm>
          <a:custGeom>
            <a:avLst/>
            <a:gdLst/>
            <a:ahLst/>
            <a:rect l="0" t="0" r="r" b="b"/>
            <a:pathLst>
              <a:path w="2647" h="1033">
                <a:moveTo>
                  <a:pt x="0" y="0"/>
                </a:moveTo>
                <a:lnTo>
                  <a:pt x="2647" y="0"/>
                </a:lnTo>
                <a:lnTo>
                  <a:pt x="264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"/>
          <p:cNvSpPr/>
          <p:nvPr/>
        </p:nvSpPr>
        <p:spPr>
          <a:xfrm>
            <a:off x="1533240" y="3752640"/>
            <a:ext cx="3305520" cy="371880"/>
          </a:xfrm>
          <a:custGeom>
            <a:avLst/>
            <a:gdLst/>
            <a:ahLst/>
            <a:rect l="0" t="0" r="r" b="b"/>
            <a:pathLst>
              <a:path w="9182" h="1033">
                <a:moveTo>
                  <a:pt x="0" y="0"/>
                </a:moveTo>
                <a:lnTo>
                  <a:pt x="9182" y="0"/>
                </a:lnTo>
                <a:lnTo>
                  <a:pt x="918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"/>
          <p:cNvSpPr/>
          <p:nvPr/>
        </p:nvSpPr>
        <p:spPr>
          <a:xfrm>
            <a:off x="580680" y="4124160"/>
            <a:ext cx="952920" cy="371880"/>
          </a:xfrm>
          <a:custGeom>
            <a:avLst/>
            <a:gdLst/>
            <a:ahLst/>
            <a:rect l="0" t="0" r="r" b="b"/>
            <a:pathLst>
              <a:path w="2647" h="1033">
                <a:moveTo>
                  <a:pt x="0" y="0"/>
                </a:moveTo>
                <a:lnTo>
                  <a:pt x="2647" y="0"/>
                </a:lnTo>
                <a:lnTo>
                  <a:pt x="264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"/>
          <p:cNvSpPr/>
          <p:nvPr/>
        </p:nvSpPr>
        <p:spPr>
          <a:xfrm>
            <a:off x="1533240" y="4124160"/>
            <a:ext cx="3305520" cy="371880"/>
          </a:xfrm>
          <a:custGeom>
            <a:avLst/>
            <a:gdLst/>
            <a:ahLst/>
            <a:rect l="0" t="0" r="r" b="b"/>
            <a:pathLst>
              <a:path w="9182" h="1033">
                <a:moveTo>
                  <a:pt x="0" y="0"/>
                </a:moveTo>
                <a:lnTo>
                  <a:pt x="9182" y="0"/>
                </a:lnTo>
                <a:lnTo>
                  <a:pt x="918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"/>
          <p:cNvSpPr/>
          <p:nvPr/>
        </p:nvSpPr>
        <p:spPr>
          <a:xfrm>
            <a:off x="571320" y="262872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"/>
          <p:cNvSpPr/>
          <p:nvPr/>
        </p:nvSpPr>
        <p:spPr>
          <a:xfrm>
            <a:off x="571320" y="2628720"/>
            <a:ext cx="972000" cy="9720"/>
          </a:xfrm>
          <a:custGeom>
            <a:avLst/>
            <a:gdLst/>
            <a:ahLst/>
            <a:rect l="0" t="0" r="r" b="b"/>
            <a:pathLst>
              <a:path w="2700" h="27">
                <a:moveTo>
                  <a:pt x="0" y="0"/>
                </a:moveTo>
                <a:lnTo>
                  <a:pt x="2700" y="0"/>
                </a:lnTo>
                <a:lnTo>
                  <a:pt x="270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"/>
          <p:cNvSpPr/>
          <p:nvPr/>
        </p:nvSpPr>
        <p:spPr>
          <a:xfrm>
            <a:off x="1533240" y="262872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"/>
          <p:cNvSpPr/>
          <p:nvPr/>
        </p:nvSpPr>
        <p:spPr>
          <a:xfrm>
            <a:off x="1542960" y="2628720"/>
            <a:ext cx="3295800" cy="9720"/>
          </a:xfrm>
          <a:custGeom>
            <a:avLst/>
            <a:gdLst/>
            <a:ahLst/>
            <a:rect l="0" t="0" r="r" b="b"/>
            <a:pathLst>
              <a:path w="9155" h="27">
                <a:moveTo>
                  <a:pt x="0" y="0"/>
                </a:moveTo>
                <a:lnTo>
                  <a:pt x="9155" y="0"/>
                </a:lnTo>
                <a:lnTo>
                  <a:pt x="915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"/>
          <p:cNvSpPr/>
          <p:nvPr/>
        </p:nvSpPr>
        <p:spPr>
          <a:xfrm>
            <a:off x="4829040" y="262872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"/>
          <p:cNvSpPr/>
          <p:nvPr/>
        </p:nvSpPr>
        <p:spPr>
          <a:xfrm>
            <a:off x="571320" y="3000240"/>
            <a:ext cx="972000" cy="9720"/>
          </a:xfrm>
          <a:custGeom>
            <a:avLst/>
            <a:gdLst/>
            <a:ahLst/>
            <a:rect l="0" t="0" r="r" b="b"/>
            <a:pathLst>
              <a:path w="2700" h="27">
                <a:moveTo>
                  <a:pt x="0" y="0"/>
                </a:moveTo>
                <a:lnTo>
                  <a:pt x="2700" y="0"/>
                </a:lnTo>
                <a:lnTo>
                  <a:pt x="270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"/>
          <p:cNvSpPr/>
          <p:nvPr/>
        </p:nvSpPr>
        <p:spPr>
          <a:xfrm>
            <a:off x="1542960" y="3000240"/>
            <a:ext cx="3295800" cy="9720"/>
          </a:xfrm>
          <a:custGeom>
            <a:avLst/>
            <a:gdLst/>
            <a:ahLst/>
            <a:rect l="0" t="0" r="r" b="b"/>
            <a:pathLst>
              <a:path w="9155" h="27">
                <a:moveTo>
                  <a:pt x="0" y="0"/>
                </a:moveTo>
                <a:lnTo>
                  <a:pt x="9155" y="0"/>
                </a:lnTo>
                <a:lnTo>
                  <a:pt x="915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"/>
          <p:cNvSpPr/>
          <p:nvPr/>
        </p:nvSpPr>
        <p:spPr>
          <a:xfrm>
            <a:off x="571320" y="3009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"/>
          <p:cNvSpPr/>
          <p:nvPr/>
        </p:nvSpPr>
        <p:spPr>
          <a:xfrm>
            <a:off x="1533240" y="3009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"/>
          <p:cNvSpPr/>
          <p:nvPr/>
        </p:nvSpPr>
        <p:spPr>
          <a:xfrm>
            <a:off x="4829040" y="3009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"/>
          <p:cNvSpPr/>
          <p:nvPr/>
        </p:nvSpPr>
        <p:spPr>
          <a:xfrm>
            <a:off x="571320" y="3381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"/>
          <p:cNvSpPr/>
          <p:nvPr/>
        </p:nvSpPr>
        <p:spPr>
          <a:xfrm>
            <a:off x="571320" y="3371760"/>
            <a:ext cx="972000" cy="9720"/>
          </a:xfrm>
          <a:custGeom>
            <a:avLst/>
            <a:gdLst/>
            <a:ahLst/>
            <a:rect l="0" t="0" r="r" b="b"/>
            <a:pathLst>
              <a:path w="2700" h="27">
                <a:moveTo>
                  <a:pt x="0" y="0"/>
                </a:moveTo>
                <a:lnTo>
                  <a:pt x="2700" y="0"/>
                </a:lnTo>
                <a:lnTo>
                  <a:pt x="270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"/>
          <p:cNvSpPr/>
          <p:nvPr/>
        </p:nvSpPr>
        <p:spPr>
          <a:xfrm>
            <a:off x="1533240" y="33811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"/>
          <p:cNvSpPr/>
          <p:nvPr/>
        </p:nvSpPr>
        <p:spPr>
          <a:xfrm>
            <a:off x="1542960" y="3371760"/>
            <a:ext cx="3295800" cy="9720"/>
          </a:xfrm>
          <a:custGeom>
            <a:avLst/>
            <a:gdLst/>
            <a:ahLst/>
            <a:rect l="0" t="0" r="r" b="b"/>
            <a:pathLst>
              <a:path w="9155" h="27">
                <a:moveTo>
                  <a:pt x="0" y="0"/>
                </a:moveTo>
                <a:lnTo>
                  <a:pt x="9155" y="0"/>
                </a:lnTo>
                <a:lnTo>
                  <a:pt x="915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"/>
          <p:cNvSpPr/>
          <p:nvPr/>
        </p:nvSpPr>
        <p:spPr>
          <a:xfrm>
            <a:off x="4829040" y="3381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"/>
          <p:cNvSpPr/>
          <p:nvPr/>
        </p:nvSpPr>
        <p:spPr>
          <a:xfrm>
            <a:off x="571320" y="3752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"/>
          <p:cNvSpPr/>
          <p:nvPr/>
        </p:nvSpPr>
        <p:spPr>
          <a:xfrm>
            <a:off x="571320" y="3743280"/>
            <a:ext cx="972000" cy="9720"/>
          </a:xfrm>
          <a:custGeom>
            <a:avLst/>
            <a:gdLst/>
            <a:ahLst/>
            <a:rect l="0" t="0" r="r" b="b"/>
            <a:pathLst>
              <a:path w="2700" h="27">
                <a:moveTo>
                  <a:pt x="0" y="0"/>
                </a:moveTo>
                <a:lnTo>
                  <a:pt x="2700" y="0"/>
                </a:lnTo>
                <a:lnTo>
                  <a:pt x="270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"/>
          <p:cNvSpPr/>
          <p:nvPr/>
        </p:nvSpPr>
        <p:spPr>
          <a:xfrm>
            <a:off x="1533240" y="37526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"/>
          <p:cNvSpPr/>
          <p:nvPr/>
        </p:nvSpPr>
        <p:spPr>
          <a:xfrm>
            <a:off x="1542960" y="3743280"/>
            <a:ext cx="3295800" cy="9720"/>
          </a:xfrm>
          <a:custGeom>
            <a:avLst/>
            <a:gdLst/>
            <a:ahLst/>
            <a:rect l="0" t="0" r="r" b="b"/>
            <a:pathLst>
              <a:path w="9155" h="27">
                <a:moveTo>
                  <a:pt x="0" y="0"/>
                </a:moveTo>
                <a:lnTo>
                  <a:pt x="9155" y="0"/>
                </a:lnTo>
                <a:lnTo>
                  <a:pt x="915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"/>
          <p:cNvSpPr/>
          <p:nvPr/>
        </p:nvSpPr>
        <p:spPr>
          <a:xfrm>
            <a:off x="4829040" y="3752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"/>
          <p:cNvSpPr/>
          <p:nvPr/>
        </p:nvSpPr>
        <p:spPr>
          <a:xfrm>
            <a:off x="571320" y="4124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"/>
          <p:cNvSpPr/>
          <p:nvPr/>
        </p:nvSpPr>
        <p:spPr>
          <a:xfrm>
            <a:off x="571320" y="4114440"/>
            <a:ext cx="972000" cy="10080"/>
          </a:xfrm>
          <a:custGeom>
            <a:avLst/>
            <a:gdLst/>
            <a:ahLst/>
            <a:rect l="0" t="0" r="r" b="b"/>
            <a:pathLst>
              <a:path w="2700" h="28">
                <a:moveTo>
                  <a:pt x="0" y="0"/>
                </a:moveTo>
                <a:lnTo>
                  <a:pt x="2700" y="0"/>
                </a:lnTo>
                <a:lnTo>
                  <a:pt x="270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"/>
          <p:cNvSpPr/>
          <p:nvPr/>
        </p:nvSpPr>
        <p:spPr>
          <a:xfrm>
            <a:off x="1533240" y="41241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"/>
          <p:cNvSpPr/>
          <p:nvPr/>
        </p:nvSpPr>
        <p:spPr>
          <a:xfrm>
            <a:off x="1542960" y="4114440"/>
            <a:ext cx="3295800" cy="10080"/>
          </a:xfrm>
          <a:custGeom>
            <a:avLst/>
            <a:gdLst/>
            <a:ahLst/>
            <a:rect l="0" t="0" r="r" b="b"/>
            <a:pathLst>
              <a:path w="9155" h="28">
                <a:moveTo>
                  <a:pt x="0" y="0"/>
                </a:moveTo>
                <a:lnTo>
                  <a:pt x="9155" y="0"/>
                </a:lnTo>
                <a:lnTo>
                  <a:pt x="915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"/>
          <p:cNvSpPr/>
          <p:nvPr/>
        </p:nvSpPr>
        <p:spPr>
          <a:xfrm>
            <a:off x="4829040" y="4124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"/>
          <p:cNvSpPr/>
          <p:nvPr/>
        </p:nvSpPr>
        <p:spPr>
          <a:xfrm>
            <a:off x="571320" y="4485960"/>
            <a:ext cx="972000" cy="10080"/>
          </a:xfrm>
          <a:custGeom>
            <a:avLst/>
            <a:gdLst/>
            <a:ahLst/>
            <a:rect l="0" t="0" r="r" b="b"/>
            <a:pathLst>
              <a:path w="2700" h="28">
                <a:moveTo>
                  <a:pt x="0" y="0"/>
                </a:moveTo>
                <a:lnTo>
                  <a:pt x="2700" y="0"/>
                </a:lnTo>
                <a:lnTo>
                  <a:pt x="270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"/>
          <p:cNvSpPr/>
          <p:nvPr/>
        </p:nvSpPr>
        <p:spPr>
          <a:xfrm>
            <a:off x="1542960" y="4485960"/>
            <a:ext cx="3295800" cy="10080"/>
          </a:xfrm>
          <a:custGeom>
            <a:avLst/>
            <a:gdLst/>
            <a:ahLst/>
            <a:rect l="0" t="0" r="r" b="b"/>
            <a:pathLst>
              <a:path w="9155" h="28">
                <a:moveTo>
                  <a:pt x="0" y="0"/>
                </a:moveTo>
                <a:lnTo>
                  <a:pt x="9155" y="0"/>
                </a:lnTo>
                <a:lnTo>
                  <a:pt x="915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"/>
          <p:cNvSpPr txBox="1"/>
          <p:nvPr/>
        </p:nvSpPr>
        <p:spPr>
          <a:xfrm>
            <a:off x="571320" y="2049840"/>
            <a:ext cx="11466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年度计划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"/>
          <p:cNvSpPr txBox="1"/>
          <p:nvPr/>
        </p:nvSpPr>
        <p:spPr>
          <a:xfrm>
            <a:off x="704880" y="269496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季度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"/>
          <p:cNvSpPr txBox="1"/>
          <p:nvPr/>
        </p:nvSpPr>
        <p:spPr>
          <a:xfrm>
            <a:off x="1665000" y="269496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⾥程碑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"/>
          <p:cNvSpPr txBox="1"/>
          <p:nvPr/>
        </p:nvSpPr>
        <p:spPr>
          <a:xfrm>
            <a:off x="704880" y="3066120"/>
            <a:ext cx="700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Q2 2026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"/>
          <p:cNvSpPr txBox="1"/>
          <p:nvPr/>
        </p:nvSpPr>
        <p:spPr>
          <a:xfrm>
            <a:off x="1665000" y="3066120"/>
            <a:ext cx="3293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完成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13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业态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发布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benchmark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数据集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"/>
          <p:cNvSpPr txBox="1"/>
          <p:nvPr/>
        </p:nvSpPr>
        <p:spPr>
          <a:xfrm>
            <a:off x="704880" y="3437640"/>
            <a:ext cx="700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Q3 2026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"/>
          <p:cNvSpPr txBox="1"/>
          <p:nvPr/>
        </p:nvSpPr>
        <p:spPr>
          <a:xfrm>
            <a:off x="1665000" y="3437640"/>
            <a:ext cx="2361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投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CHI / CAAD Futures / AiC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"/>
          <p:cNvSpPr txBox="1"/>
          <p:nvPr/>
        </p:nvSpPr>
        <p:spPr>
          <a:xfrm>
            <a:off x="704880" y="3809160"/>
            <a:ext cx="700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Q4 2026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"/>
          <p:cNvSpPr txBox="1"/>
          <p:nvPr/>
        </p:nvSpPr>
        <p:spPr>
          <a:xfrm>
            <a:off x="1665000" y="3809160"/>
            <a:ext cx="3032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申请发明专利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2-3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项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联合企业试点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"/>
          <p:cNvSpPr txBox="1"/>
          <p:nvPr/>
        </p:nvSpPr>
        <p:spPr>
          <a:xfrm>
            <a:off x="704880" y="4180680"/>
            <a:ext cx="401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2027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"/>
          <p:cNvSpPr txBox="1"/>
          <p:nvPr/>
        </p:nvSpPr>
        <p:spPr>
          <a:xfrm>
            <a:off x="1665000" y="4180680"/>
            <a:ext cx="3366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扩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20+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业态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开源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toolkit ·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推出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SaaS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"/>
          <p:cNvSpPr txBox="1"/>
          <p:nvPr/>
        </p:nvSpPr>
        <p:spPr>
          <a:xfrm>
            <a:off x="285840" y="199440"/>
            <a:ext cx="272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Coﬀee Lab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独⽴精品咖啡店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"/>
          <p:cNvSpPr txBox="1"/>
          <p:nvPr/>
        </p:nvSpPr>
        <p:spPr>
          <a:xfrm>
            <a:off x="285840" y="6409440"/>
            <a:ext cx="3537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学院领导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"/>
          <p:cNvSpPr/>
          <p:nvPr/>
        </p:nvSpPr>
        <p:spPr>
          <a:xfrm>
            <a:off x="0" y="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0" y="0"/>
                </a:moveTo>
                <a:lnTo>
                  <a:pt x="0" y="1654"/>
                </a:lnTo>
                <a:lnTo>
                  <a:pt x="1654" y="0"/>
                </a:lnTo>
                <a:lnTo>
                  <a:pt x="0" y="0"/>
                </a:lnTo>
                <a:close/>
              </a:path>
            </a:pathLst>
          </a:custGeom>
          <a:solidFill>
            <a:srgbClr val="EDE8D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"/>
          <p:cNvSpPr/>
          <p:nvPr/>
        </p:nvSpPr>
        <p:spPr>
          <a:xfrm>
            <a:off x="0" y="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3" y="0"/>
                </a:moveTo>
                <a:lnTo>
                  <a:pt x="0" y="1653"/>
                </a:lnTo>
                <a:lnTo>
                  <a:pt x="0" y="3308"/>
                </a:lnTo>
                <a:lnTo>
                  <a:pt x="3308" y="0"/>
                </a:lnTo>
                <a:lnTo>
                  <a:pt x="1653" y="0"/>
                </a:lnTo>
                <a:close/>
              </a:path>
            </a:pathLst>
          </a:custGeom>
          <a:solidFill>
            <a:srgbClr val="EEE9D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"/>
          <p:cNvSpPr/>
          <p:nvPr/>
        </p:nvSpPr>
        <p:spPr>
          <a:xfrm>
            <a:off x="0" y="0"/>
            <a:ext cx="1785960" cy="1785960"/>
          </a:xfrm>
          <a:custGeom>
            <a:avLst/>
            <a:gdLst/>
            <a:ahLst/>
            <a:rect l="0" t="0" r="r" b="b"/>
            <a:pathLst>
              <a:path w="4961" h="4961">
                <a:moveTo>
                  <a:pt x="3308" y="0"/>
                </a:moveTo>
                <a:lnTo>
                  <a:pt x="0" y="3308"/>
                </a:lnTo>
                <a:lnTo>
                  <a:pt x="0" y="4961"/>
                </a:lnTo>
                <a:lnTo>
                  <a:pt x="4961" y="0"/>
                </a:lnTo>
                <a:lnTo>
                  <a:pt x="3308" y="0"/>
                </a:lnTo>
                <a:close/>
              </a:path>
            </a:pathLst>
          </a:custGeom>
          <a:solidFill>
            <a:srgbClr val="EEE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"/>
          <p:cNvSpPr/>
          <p:nvPr/>
        </p:nvSpPr>
        <p:spPr>
          <a:xfrm>
            <a:off x="0" y="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4961" y="0"/>
                </a:moveTo>
                <a:lnTo>
                  <a:pt x="0" y="4961"/>
                </a:lnTo>
                <a:lnTo>
                  <a:pt x="0" y="6615"/>
                </a:lnTo>
                <a:lnTo>
                  <a:pt x="6615" y="0"/>
                </a:lnTo>
                <a:lnTo>
                  <a:pt x="4961" y="0"/>
                </a:lnTo>
                <a:close/>
              </a:path>
            </a:pathLst>
          </a:custGeom>
          <a:solidFill>
            <a:srgbClr val="EEEAE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"/>
          <p:cNvSpPr/>
          <p:nvPr/>
        </p:nvSpPr>
        <p:spPr>
          <a:xfrm>
            <a:off x="0" y="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6615" y="0"/>
                </a:moveTo>
                <a:lnTo>
                  <a:pt x="0" y="6615"/>
                </a:lnTo>
                <a:lnTo>
                  <a:pt x="0" y="8269"/>
                </a:lnTo>
                <a:lnTo>
                  <a:pt x="8269" y="0"/>
                </a:lnTo>
                <a:lnTo>
                  <a:pt x="6615" y="0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"/>
          <p:cNvSpPr/>
          <p:nvPr/>
        </p:nvSpPr>
        <p:spPr>
          <a:xfrm>
            <a:off x="0" y="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8269" y="0"/>
                </a:moveTo>
                <a:lnTo>
                  <a:pt x="0" y="8269"/>
                </a:lnTo>
                <a:lnTo>
                  <a:pt x="0" y="9922"/>
                </a:lnTo>
                <a:lnTo>
                  <a:pt x="9922" y="0"/>
                </a:lnTo>
                <a:lnTo>
                  <a:pt x="8269" y="0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"/>
          <p:cNvSpPr/>
          <p:nvPr/>
        </p:nvSpPr>
        <p:spPr>
          <a:xfrm>
            <a:off x="0" y="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9922" y="0"/>
                </a:moveTo>
                <a:lnTo>
                  <a:pt x="0" y="9922"/>
                </a:lnTo>
                <a:lnTo>
                  <a:pt x="0" y="11576"/>
                </a:lnTo>
                <a:lnTo>
                  <a:pt x="11576" y="0"/>
                </a:lnTo>
                <a:lnTo>
                  <a:pt x="9922" y="0"/>
                </a:lnTo>
                <a:close/>
              </a:path>
            </a:pathLst>
          </a:custGeom>
          <a:solidFill>
            <a:srgbClr val="F0ECE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"/>
          <p:cNvSpPr/>
          <p:nvPr/>
        </p:nvSpPr>
        <p:spPr>
          <a:xfrm>
            <a:off x="0" y="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1576" y="0"/>
                </a:moveTo>
                <a:lnTo>
                  <a:pt x="0" y="11576"/>
                </a:lnTo>
                <a:lnTo>
                  <a:pt x="0" y="13230"/>
                </a:lnTo>
                <a:lnTo>
                  <a:pt x="13230" y="0"/>
                </a:lnTo>
                <a:lnTo>
                  <a:pt x="11576" y="0"/>
                </a:lnTo>
                <a:close/>
              </a:path>
            </a:pathLst>
          </a:custGeom>
          <a:solidFill>
            <a:srgbClr val="F0ECE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"/>
          <p:cNvSpPr/>
          <p:nvPr/>
        </p:nvSpPr>
        <p:spPr>
          <a:xfrm>
            <a:off x="0" y="0"/>
            <a:ext cx="5357880" cy="5357880"/>
          </a:xfrm>
          <a:custGeom>
            <a:avLst/>
            <a:gdLst/>
            <a:ahLst/>
            <a:rect l="0" t="0" r="r" b="b"/>
            <a:pathLst>
              <a:path w="14883" h="14883">
                <a:moveTo>
                  <a:pt x="13230" y="0"/>
                </a:moveTo>
                <a:lnTo>
                  <a:pt x="0" y="13230"/>
                </a:lnTo>
                <a:lnTo>
                  <a:pt x="0" y="14883"/>
                </a:lnTo>
                <a:lnTo>
                  <a:pt x="14883" y="0"/>
                </a:lnTo>
                <a:lnTo>
                  <a:pt x="13230" y="0"/>
                </a:lnTo>
                <a:close/>
              </a:path>
            </a:pathLst>
          </a:custGeom>
          <a:solidFill>
            <a:srgbClr val="F0ED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"/>
          <p:cNvSpPr/>
          <p:nvPr/>
        </p:nvSpPr>
        <p:spPr>
          <a:xfrm>
            <a:off x="0" y="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4883" y="0"/>
                </a:moveTo>
                <a:lnTo>
                  <a:pt x="0" y="14883"/>
                </a:lnTo>
                <a:lnTo>
                  <a:pt x="0" y="16537"/>
                </a:lnTo>
                <a:lnTo>
                  <a:pt x="16537" y="0"/>
                </a:lnTo>
                <a:lnTo>
                  <a:pt x="14883" y="0"/>
                </a:lnTo>
                <a:close/>
              </a:path>
            </a:pathLst>
          </a:custGeom>
          <a:solidFill>
            <a:srgbClr val="F1ED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"/>
          <p:cNvSpPr/>
          <p:nvPr/>
        </p:nvSpPr>
        <p:spPr>
          <a:xfrm>
            <a:off x="0" y="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6537" y="0"/>
                </a:moveTo>
                <a:lnTo>
                  <a:pt x="0" y="16537"/>
                </a:lnTo>
                <a:lnTo>
                  <a:pt x="0" y="18191"/>
                </a:lnTo>
                <a:lnTo>
                  <a:pt x="18191" y="0"/>
                </a:lnTo>
                <a:lnTo>
                  <a:pt x="16537" y="0"/>
                </a:lnTo>
                <a:close/>
              </a:path>
            </a:pathLst>
          </a:custGeom>
          <a:solidFill>
            <a:srgbClr val="F1EEE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"/>
          <p:cNvSpPr/>
          <p:nvPr/>
        </p:nvSpPr>
        <p:spPr>
          <a:xfrm>
            <a:off x="0" y="0"/>
            <a:ext cx="6858000" cy="6858000"/>
          </a:xfrm>
          <a:custGeom>
            <a:avLst/>
            <a:gdLst/>
            <a:ahLst/>
            <a:rect l="0" t="0" r="r" b="b"/>
            <a:pathLst>
              <a:path w="19050" h="19050">
                <a:moveTo>
                  <a:pt x="18191" y="0"/>
                </a:moveTo>
                <a:lnTo>
                  <a:pt x="0" y="18191"/>
                </a:lnTo>
                <a:lnTo>
                  <a:pt x="0" y="19050"/>
                </a:lnTo>
                <a:lnTo>
                  <a:pt x="19050" y="0"/>
                </a:lnTo>
                <a:lnTo>
                  <a:pt x="18191" y="0"/>
                </a:lnTo>
                <a:close/>
              </a:path>
            </a:pathLst>
          </a:custGeom>
          <a:solidFill>
            <a:srgbClr val="F2EE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"/>
          <p:cNvSpPr/>
          <p:nvPr/>
        </p:nvSpPr>
        <p:spPr>
          <a:xfrm>
            <a:off x="0" y="0"/>
            <a:ext cx="7143840" cy="6858000"/>
          </a:xfrm>
          <a:custGeom>
            <a:avLst/>
            <a:gdLst/>
            <a:ahLst/>
            <a:rect l="0" t="0" r="r" b="b"/>
            <a:pathLst>
              <a:path w="19844" h="19050">
                <a:moveTo>
                  <a:pt x="19050" y="0"/>
                </a:moveTo>
                <a:lnTo>
                  <a:pt x="0" y="19050"/>
                </a:lnTo>
                <a:lnTo>
                  <a:pt x="793" y="19050"/>
                </a:lnTo>
                <a:lnTo>
                  <a:pt x="19844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F2EF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"/>
          <p:cNvSpPr/>
          <p:nvPr/>
        </p:nvSpPr>
        <p:spPr>
          <a:xfrm>
            <a:off x="28548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2EFE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"/>
          <p:cNvSpPr/>
          <p:nvPr/>
        </p:nvSpPr>
        <p:spPr>
          <a:xfrm>
            <a:off x="88092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2F0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"/>
          <p:cNvSpPr/>
          <p:nvPr/>
        </p:nvSpPr>
        <p:spPr>
          <a:xfrm>
            <a:off x="147636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3F0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"/>
          <p:cNvSpPr/>
          <p:nvPr/>
        </p:nvSpPr>
        <p:spPr>
          <a:xfrm>
            <a:off x="207144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3F1E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"/>
          <p:cNvSpPr/>
          <p:nvPr/>
        </p:nvSpPr>
        <p:spPr>
          <a:xfrm>
            <a:off x="266688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4F1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"/>
          <p:cNvSpPr/>
          <p:nvPr/>
        </p:nvSpPr>
        <p:spPr>
          <a:xfrm>
            <a:off x="326196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5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4F2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"/>
          <p:cNvSpPr/>
          <p:nvPr/>
        </p:nvSpPr>
        <p:spPr>
          <a:xfrm>
            <a:off x="385740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0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F5F2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"/>
          <p:cNvSpPr/>
          <p:nvPr/>
        </p:nvSpPr>
        <p:spPr>
          <a:xfrm>
            <a:off x="445284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5F3E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"/>
          <p:cNvSpPr/>
          <p:nvPr/>
        </p:nvSpPr>
        <p:spPr>
          <a:xfrm>
            <a:off x="5047920" y="0"/>
            <a:ext cx="7144200" cy="6858000"/>
          </a:xfrm>
          <a:custGeom>
            <a:avLst/>
            <a:gdLst/>
            <a:ahLst/>
            <a:rect l="0" t="0" r="r" b="b"/>
            <a:pathLst>
              <a:path w="19845" h="19050">
                <a:moveTo>
                  <a:pt x="19051" y="0"/>
                </a:moveTo>
                <a:lnTo>
                  <a:pt x="0" y="19050"/>
                </a:lnTo>
                <a:lnTo>
                  <a:pt x="794" y="19050"/>
                </a:lnTo>
                <a:lnTo>
                  <a:pt x="1984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5F4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"/>
          <p:cNvSpPr/>
          <p:nvPr/>
        </p:nvSpPr>
        <p:spPr>
          <a:xfrm>
            <a:off x="5333760" y="0"/>
            <a:ext cx="6858360" cy="6858000"/>
          </a:xfrm>
          <a:custGeom>
            <a:avLst/>
            <a:gdLst/>
            <a:ahLst/>
            <a:rect l="0" t="0" r="r" b="b"/>
            <a:pathLst>
              <a:path w="19051" h="19050">
                <a:moveTo>
                  <a:pt x="19051" y="0"/>
                </a:moveTo>
                <a:lnTo>
                  <a:pt x="0" y="19050"/>
                </a:lnTo>
                <a:lnTo>
                  <a:pt x="860" y="19050"/>
                </a:lnTo>
                <a:lnTo>
                  <a:pt x="19051" y="859"/>
                </a:lnTo>
                <a:lnTo>
                  <a:pt x="19051" y="0"/>
                </a:lnTo>
                <a:close/>
              </a:path>
            </a:pathLst>
          </a:custGeom>
          <a:solidFill>
            <a:srgbClr val="F6F4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"/>
          <p:cNvSpPr/>
          <p:nvPr/>
        </p:nvSpPr>
        <p:spPr>
          <a:xfrm>
            <a:off x="5643360" y="30924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8191" y="0"/>
                </a:moveTo>
                <a:lnTo>
                  <a:pt x="0" y="18191"/>
                </a:lnTo>
                <a:lnTo>
                  <a:pt x="1654" y="18191"/>
                </a:lnTo>
                <a:lnTo>
                  <a:pt x="18191" y="1654"/>
                </a:lnTo>
                <a:lnTo>
                  <a:pt x="18191" y="0"/>
                </a:lnTo>
                <a:close/>
              </a:path>
            </a:pathLst>
          </a:custGeom>
          <a:solidFill>
            <a:srgbClr val="F6F4E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"/>
          <p:cNvSpPr/>
          <p:nvPr/>
        </p:nvSpPr>
        <p:spPr>
          <a:xfrm>
            <a:off x="6238800" y="90468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537" y="0"/>
                </a:moveTo>
                <a:lnTo>
                  <a:pt x="0" y="16537"/>
                </a:lnTo>
                <a:lnTo>
                  <a:pt x="1653" y="16537"/>
                </a:lnTo>
                <a:lnTo>
                  <a:pt x="16537" y="1654"/>
                </a:lnTo>
                <a:lnTo>
                  <a:pt x="16537" y="0"/>
                </a:lnTo>
                <a:close/>
              </a:path>
            </a:pathLst>
          </a:custGeom>
          <a:solidFill>
            <a:srgbClr val="F6F5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"/>
          <p:cNvSpPr/>
          <p:nvPr/>
        </p:nvSpPr>
        <p:spPr>
          <a:xfrm>
            <a:off x="6833880" y="1500120"/>
            <a:ext cx="5358240" cy="5357880"/>
          </a:xfrm>
          <a:custGeom>
            <a:avLst/>
            <a:gdLst/>
            <a:ahLst/>
            <a:rect l="0" t="0" r="r" b="b"/>
            <a:pathLst>
              <a:path w="14884" h="14883">
                <a:moveTo>
                  <a:pt x="14884" y="0"/>
                </a:moveTo>
                <a:lnTo>
                  <a:pt x="0" y="14883"/>
                </a:lnTo>
                <a:lnTo>
                  <a:pt x="1654" y="14883"/>
                </a:lnTo>
                <a:lnTo>
                  <a:pt x="14884" y="1653"/>
                </a:lnTo>
                <a:lnTo>
                  <a:pt x="14884" y="0"/>
                </a:lnTo>
                <a:close/>
              </a:path>
            </a:pathLst>
          </a:custGeom>
          <a:solidFill>
            <a:srgbClr val="F7F5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"/>
          <p:cNvSpPr/>
          <p:nvPr/>
        </p:nvSpPr>
        <p:spPr>
          <a:xfrm>
            <a:off x="7429320" y="20952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3230" y="0"/>
                </a:moveTo>
                <a:lnTo>
                  <a:pt x="0" y="13230"/>
                </a:lnTo>
                <a:lnTo>
                  <a:pt x="1654" y="13230"/>
                </a:lnTo>
                <a:lnTo>
                  <a:pt x="13230" y="1655"/>
                </a:lnTo>
                <a:lnTo>
                  <a:pt x="13230" y="0"/>
                </a:lnTo>
                <a:close/>
              </a:path>
            </a:pathLst>
          </a:custGeom>
          <a:solidFill>
            <a:srgbClr val="F7F6F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"/>
          <p:cNvSpPr/>
          <p:nvPr/>
        </p:nvSpPr>
        <p:spPr>
          <a:xfrm>
            <a:off x="8024760" y="269064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576" y="0"/>
                </a:moveTo>
                <a:lnTo>
                  <a:pt x="0" y="11576"/>
                </a:lnTo>
                <a:lnTo>
                  <a:pt x="1653" y="11576"/>
                </a:lnTo>
                <a:lnTo>
                  <a:pt x="11576" y="1654"/>
                </a:lnTo>
                <a:lnTo>
                  <a:pt x="11576" y="0"/>
                </a:lnTo>
                <a:close/>
              </a:path>
            </a:pathLst>
          </a:custGeom>
          <a:solidFill>
            <a:srgbClr val="F7F6F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"/>
          <p:cNvSpPr/>
          <p:nvPr/>
        </p:nvSpPr>
        <p:spPr>
          <a:xfrm>
            <a:off x="8619840" y="3286080"/>
            <a:ext cx="3572280" cy="3571920"/>
          </a:xfrm>
          <a:custGeom>
            <a:avLst/>
            <a:gdLst/>
            <a:ahLst/>
            <a:rect l="0" t="0" r="r" b="b"/>
            <a:pathLst>
              <a:path w="9923" h="9922">
                <a:moveTo>
                  <a:pt x="9923" y="0"/>
                </a:moveTo>
                <a:lnTo>
                  <a:pt x="0" y="9922"/>
                </a:lnTo>
                <a:lnTo>
                  <a:pt x="1655" y="9922"/>
                </a:lnTo>
                <a:lnTo>
                  <a:pt x="9923" y="1653"/>
                </a:lnTo>
                <a:lnTo>
                  <a:pt x="9923" y="0"/>
                </a:lnTo>
                <a:close/>
              </a:path>
            </a:pathLst>
          </a:custGeom>
          <a:solidFill>
            <a:srgbClr val="F8F7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"/>
          <p:cNvSpPr/>
          <p:nvPr/>
        </p:nvSpPr>
        <p:spPr>
          <a:xfrm>
            <a:off x="9215280" y="388116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8269" y="0"/>
                </a:moveTo>
                <a:lnTo>
                  <a:pt x="0" y="8269"/>
                </a:lnTo>
                <a:lnTo>
                  <a:pt x="1654" y="8269"/>
                </a:lnTo>
                <a:lnTo>
                  <a:pt x="8269" y="1655"/>
                </a:lnTo>
                <a:lnTo>
                  <a:pt x="8269" y="0"/>
                </a:lnTo>
                <a:close/>
              </a:path>
            </a:pathLst>
          </a:custGeom>
          <a:solidFill>
            <a:srgbClr val="F8F7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"/>
          <p:cNvSpPr/>
          <p:nvPr/>
        </p:nvSpPr>
        <p:spPr>
          <a:xfrm>
            <a:off x="9810720" y="4476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615" y="0"/>
                </a:moveTo>
                <a:lnTo>
                  <a:pt x="0" y="6615"/>
                </a:lnTo>
                <a:lnTo>
                  <a:pt x="1653" y="6615"/>
                </a:lnTo>
                <a:lnTo>
                  <a:pt x="6615" y="1654"/>
                </a:lnTo>
                <a:lnTo>
                  <a:pt x="6615" y="0"/>
                </a:lnTo>
                <a:close/>
              </a:path>
            </a:pathLst>
          </a:custGeom>
          <a:solidFill>
            <a:srgbClr val="F9F8F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"/>
          <p:cNvSpPr/>
          <p:nvPr/>
        </p:nvSpPr>
        <p:spPr>
          <a:xfrm>
            <a:off x="10405800" y="5072040"/>
            <a:ext cx="1786320" cy="1785960"/>
          </a:xfrm>
          <a:custGeom>
            <a:avLst/>
            <a:gdLst/>
            <a:ahLst/>
            <a:rect l="0" t="0" r="r" b="b"/>
            <a:pathLst>
              <a:path w="4962" h="4961">
                <a:moveTo>
                  <a:pt x="4962" y="0"/>
                </a:moveTo>
                <a:lnTo>
                  <a:pt x="0" y="4961"/>
                </a:lnTo>
                <a:lnTo>
                  <a:pt x="1654" y="4961"/>
                </a:lnTo>
                <a:lnTo>
                  <a:pt x="4962" y="1653"/>
                </a:lnTo>
                <a:lnTo>
                  <a:pt x="4962" y="0"/>
                </a:lnTo>
                <a:close/>
              </a:path>
            </a:pathLst>
          </a:custGeom>
          <a:solidFill>
            <a:srgbClr val="F9F9F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"/>
          <p:cNvSpPr/>
          <p:nvPr/>
        </p:nvSpPr>
        <p:spPr>
          <a:xfrm>
            <a:off x="11001240" y="5667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3308" y="0"/>
                </a:moveTo>
                <a:lnTo>
                  <a:pt x="0" y="3308"/>
                </a:lnTo>
                <a:lnTo>
                  <a:pt x="1655" y="3308"/>
                </a:lnTo>
                <a:lnTo>
                  <a:pt x="3308" y="1654"/>
                </a:lnTo>
                <a:lnTo>
                  <a:pt x="3308" y="0"/>
                </a:lnTo>
                <a:close/>
              </a:path>
            </a:pathLst>
          </a:custGeom>
          <a:solidFill>
            <a:srgbClr val="F9F9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"/>
          <p:cNvSpPr/>
          <p:nvPr/>
        </p:nvSpPr>
        <p:spPr>
          <a:xfrm>
            <a:off x="11596680" y="626256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654" y="0"/>
                </a:moveTo>
                <a:lnTo>
                  <a:pt x="0" y="1654"/>
                </a:lnTo>
                <a:lnTo>
                  <a:pt x="1654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"/>
          <p:cNvSpPr/>
          <p:nvPr/>
        </p:nvSpPr>
        <p:spPr>
          <a:xfrm>
            <a:off x="571320" y="2695320"/>
            <a:ext cx="11049480" cy="57600"/>
          </a:xfrm>
          <a:custGeom>
            <a:avLst/>
            <a:gdLst/>
            <a:ahLst/>
            <a:rect l="0" t="0" r="r" b="b"/>
            <a:pathLst>
              <a:path w="30693" h="160">
                <a:moveTo>
                  <a:pt x="0" y="0"/>
                </a:moveTo>
                <a:lnTo>
                  <a:pt x="30693" y="0"/>
                </a:lnTo>
                <a:lnTo>
                  <a:pt x="30693" y="160"/>
                </a:lnTo>
                <a:lnTo>
                  <a:pt x="0" y="160"/>
                </a:lnTo>
                <a:lnTo>
                  <a:pt x="0" y="0"/>
                </a:lnTo>
                <a:close/>
              </a:path>
            </a:pathLst>
          </a:custGeom>
          <a:solidFill>
            <a:srgbClr val="9B3F8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"/>
          <p:cNvSpPr/>
          <p:nvPr/>
        </p:nvSpPr>
        <p:spPr>
          <a:xfrm>
            <a:off x="628560" y="309528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4"/>
                  <a:pt x="204" y="147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3" y="161"/>
                  <a:pt x="8" y="147"/>
                </a:cubicBezTo>
                <a:cubicBezTo>
                  <a:pt x="2" y="134"/>
                  <a:pt x="0" y="120"/>
                  <a:pt x="0" y="106"/>
                </a:cubicBez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9"/>
                </a:cubicBezTo>
                <a:cubicBezTo>
                  <a:pt x="160" y="14"/>
                  <a:pt x="171" y="22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"/>
          <p:cNvSpPr txBox="1"/>
          <p:nvPr/>
        </p:nvSpPr>
        <p:spPr>
          <a:xfrm>
            <a:off x="571320" y="1735200"/>
            <a:ext cx="3658320" cy="853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480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希望学院⽀持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"/>
          <p:cNvSpPr/>
          <p:nvPr/>
        </p:nvSpPr>
        <p:spPr>
          <a:xfrm>
            <a:off x="628560" y="345744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3"/>
                  <a:pt x="204" y="146"/>
                </a:cubicBezTo>
                <a:cubicBezTo>
                  <a:pt x="199" y="159"/>
                  <a:pt x="191" y="171"/>
                  <a:pt x="181" y="181"/>
                </a:cubicBezTo>
                <a:cubicBezTo>
                  <a:pt x="171" y="190"/>
                  <a:pt x="160" y="198"/>
                  <a:pt x="147" y="203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3"/>
                </a:cubicBezTo>
                <a:cubicBezTo>
                  <a:pt x="53" y="198"/>
                  <a:pt x="41" y="190"/>
                  <a:pt x="31" y="181"/>
                </a:cubicBezTo>
                <a:cubicBezTo>
                  <a:pt x="21" y="171"/>
                  <a:pt x="13" y="159"/>
                  <a:pt x="8" y="146"/>
                </a:cubicBezTo>
                <a:cubicBezTo>
                  <a:pt x="2" y="133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"/>
          <p:cNvSpPr txBox="1"/>
          <p:nvPr/>
        </p:nvSpPr>
        <p:spPr>
          <a:xfrm>
            <a:off x="838080" y="2978280"/>
            <a:ext cx="50648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算⼒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RTX 4060+ × 2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台（渲染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LLM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本地推理）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"/>
          <p:cNvSpPr/>
          <p:nvPr/>
        </p:nvSpPr>
        <p:spPr>
          <a:xfrm>
            <a:off x="628560" y="381924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80"/>
                  <a:pt x="8" y="67"/>
                </a:cubicBezTo>
                <a:cubicBezTo>
                  <a:pt x="13" y="54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4"/>
                  <a:pt x="204" y="67"/>
                </a:cubicBezTo>
                <a:cubicBezTo>
                  <a:pt x="210" y="80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"/>
          <p:cNvSpPr txBox="1"/>
          <p:nvPr/>
        </p:nvSpPr>
        <p:spPr>
          <a:xfrm>
            <a:off x="838080" y="3340080"/>
            <a:ext cx="27212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空间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：学⽣孵化⼯位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3-4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席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"/>
          <p:cNvSpPr/>
          <p:nvPr/>
        </p:nvSpPr>
        <p:spPr>
          <a:xfrm>
            <a:off x="628560" y="418140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"/>
          <p:cNvSpPr txBox="1"/>
          <p:nvPr/>
        </p:nvSpPr>
        <p:spPr>
          <a:xfrm>
            <a:off x="838080" y="3702240"/>
            <a:ext cx="43930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经费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：顶会注册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实验耗材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约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¥8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万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年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"/>
          <p:cNvSpPr txBox="1"/>
          <p:nvPr/>
        </p:nvSpPr>
        <p:spPr>
          <a:xfrm>
            <a:off x="838080" y="4064040"/>
            <a:ext cx="47674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背书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：发表时作者单位署学院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联合申报纵向课题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"/>
          <p:cNvSpPr txBox="1"/>
          <p:nvPr/>
        </p:nvSpPr>
        <p:spPr>
          <a:xfrm>
            <a:off x="571320" y="4483080"/>
            <a:ext cx="55555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联系：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Studio Copilot Research · StartUP-Building Team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"/>
          <p:cNvSpPr txBox="1"/>
          <p:nvPr/>
        </p:nvSpPr>
        <p:spPr>
          <a:xfrm>
            <a:off x="285840" y="199440"/>
            <a:ext cx="272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Coﬀee Lab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独⽴精品咖啡店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"/>
          <p:cNvSpPr txBox="1"/>
          <p:nvPr/>
        </p:nvSpPr>
        <p:spPr>
          <a:xfrm>
            <a:off x="285840" y="6409440"/>
            <a:ext cx="3537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学院领导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"/>
          <p:cNvSpPr txBox="1"/>
          <p:nvPr/>
        </p:nvSpPr>
        <p:spPr>
          <a:xfrm>
            <a:off x="11753640" y="6439320"/>
            <a:ext cx="15336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10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LibreOffice/26.2.2.2$MacOSX_X86_64 LibreOffice_project/1f77d10d6938fd34972958f64b2bcfa54f8b1ba5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