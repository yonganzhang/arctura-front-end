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2A6F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32061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Coﬀee Lab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334332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IFC4 ISO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5028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Revit / ArchiCAD / BlenderBIM / Solibri ready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6000" y="2585880"/>
            <a:ext cx="11039760" cy="1953000"/>
          </a:xfrm>
          <a:custGeom>
            <a:avLst/>
            <a:gdLst/>
            <a:ahLst/>
            <a:rect l="0" t="0" r="r" b="b"/>
            <a:pathLst>
              <a:path w="30666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279"/>
                </a:lnTo>
                <a:cubicBezTo>
                  <a:pt x="30666" y="5289"/>
                  <a:pt x="30665" y="5298"/>
                  <a:pt x="30664" y="5308"/>
                </a:cubicBezTo>
                <a:cubicBezTo>
                  <a:pt x="30662" y="5317"/>
                  <a:pt x="30659" y="5326"/>
                  <a:pt x="30655" y="5335"/>
                </a:cubicBezTo>
                <a:cubicBezTo>
                  <a:pt x="30652" y="5344"/>
                  <a:pt x="30647" y="5352"/>
                  <a:pt x="30642" y="5360"/>
                </a:cubicBezTo>
                <a:cubicBezTo>
                  <a:pt x="30637" y="5368"/>
                  <a:pt x="30631" y="5376"/>
                  <a:pt x="30624" y="5382"/>
                </a:cubicBezTo>
                <a:cubicBezTo>
                  <a:pt x="30617" y="5389"/>
                  <a:pt x="30610" y="5395"/>
                  <a:pt x="30602" y="5400"/>
                </a:cubicBezTo>
                <a:cubicBezTo>
                  <a:pt x="30594" y="5406"/>
                  <a:pt x="30585" y="5410"/>
                  <a:pt x="30577" y="5414"/>
                </a:cubicBezTo>
                <a:cubicBezTo>
                  <a:pt x="30568" y="5417"/>
                  <a:pt x="30559" y="5420"/>
                  <a:pt x="30549" y="5422"/>
                </a:cubicBezTo>
                <a:cubicBezTo>
                  <a:pt x="30540" y="5424"/>
                  <a:pt x="30530" y="5425"/>
                  <a:pt x="30521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7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6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6"/>
                  <a:pt x="30" y="5368"/>
                  <a:pt x="25" y="5360"/>
                </a:cubicBezTo>
                <a:cubicBezTo>
                  <a:pt x="19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6000" y="2585880"/>
            <a:ext cx="11039760" cy="1953000"/>
          </a:xfrm>
          <a:custGeom>
            <a:avLst/>
            <a:gdLst/>
            <a:ahLst/>
            <a:rect l="0" t="0" r="r" b="b"/>
            <a:pathLst>
              <a:path w="30666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279"/>
                </a:lnTo>
                <a:cubicBezTo>
                  <a:pt x="30666" y="5289"/>
                  <a:pt x="30665" y="5298"/>
                  <a:pt x="30664" y="5308"/>
                </a:cubicBezTo>
                <a:cubicBezTo>
                  <a:pt x="30662" y="5317"/>
                  <a:pt x="30659" y="5326"/>
                  <a:pt x="30655" y="5335"/>
                </a:cubicBezTo>
                <a:cubicBezTo>
                  <a:pt x="30652" y="5344"/>
                  <a:pt x="30647" y="5352"/>
                  <a:pt x="30642" y="5360"/>
                </a:cubicBezTo>
                <a:cubicBezTo>
                  <a:pt x="30637" y="5368"/>
                  <a:pt x="30631" y="5376"/>
                  <a:pt x="30624" y="5382"/>
                </a:cubicBezTo>
                <a:cubicBezTo>
                  <a:pt x="30617" y="5389"/>
                  <a:pt x="30610" y="5395"/>
                  <a:pt x="30602" y="5400"/>
                </a:cubicBezTo>
                <a:cubicBezTo>
                  <a:pt x="30594" y="5406"/>
                  <a:pt x="30585" y="5410"/>
                  <a:pt x="30577" y="5414"/>
                </a:cubicBezTo>
                <a:cubicBezTo>
                  <a:pt x="30568" y="5417"/>
                  <a:pt x="30559" y="5420"/>
                  <a:pt x="30549" y="5422"/>
                </a:cubicBezTo>
                <a:cubicBezTo>
                  <a:pt x="30540" y="5424"/>
                  <a:pt x="30530" y="5425"/>
                  <a:pt x="30521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7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6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6"/>
                  <a:pt x="30" y="5368"/>
                  <a:pt x="25" y="5360"/>
                </a:cubicBezTo>
                <a:cubicBezTo>
                  <a:pt x="19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71320" y="2002320"/>
            <a:ext cx="2558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IFC4 Schema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概览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33320" y="2739960"/>
            <a:ext cx="3543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Schema    : IFC4 (ISO 16739:2017)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33320" y="2949480"/>
            <a:ext cx="46166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Project   : Coffee Lab · Boutique Cafe · v1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33320" y="3149280"/>
            <a:ext cx="12888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Site      :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020320" y="312588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临街商铺，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910960" y="3149280"/>
            <a:ext cx="215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1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125160" y="312588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层独⽴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33320" y="3358800"/>
            <a:ext cx="46166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Building  : 1-storey, frontage 8.0 m (East)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33320" y="3558960"/>
            <a:ext cx="4831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Storey    : F1, elevation 0.0 m, height 3.5 m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33320" y="3768480"/>
            <a:ext cx="51534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Units     : SI (METRE, KILOGRAM, SECOND, DEGREE)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33320" y="3968640"/>
            <a:ext cx="3865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FileSize  : 56 KB (exports/cafe.ifc)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733320" y="4178160"/>
            <a:ext cx="39726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Coord Sys : local, origin = SW corner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"/>
          <p:cNvSpPr txBox="1"/>
          <p:nvPr/>
        </p:nvSpPr>
        <p:spPr>
          <a:xfrm>
            <a:off x="571320" y="3164040"/>
            <a:ext cx="1875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IfcProduct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990520" y="7617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71320" y="3516480"/>
            <a:ext cx="860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分统计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200400" y="644760"/>
            <a:ext cx="1601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Total IfcProduct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200400" y="949320"/>
            <a:ext cx="1157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≈ 78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（来⾃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200400" y="1254240"/>
            <a:ext cx="1264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room.json 78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990520" y="2038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200400" y="1559160"/>
            <a:ext cx="977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objects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200400" y="1920960"/>
            <a:ext cx="1750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IfcWall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6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（外墙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200400" y="2216160"/>
            <a:ext cx="1692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后厨隔墙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2990520" y="3000240"/>
            <a:ext cx="76680" cy="77040"/>
          </a:xfrm>
          <a:custGeom>
            <a:avLst/>
            <a:gdLst/>
            <a:ah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3" y="214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4"/>
                  <a:pt x="93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200400" y="2521080"/>
            <a:ext cx="1564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卫⽣间隔墙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200400" y="2882880"/>
            <a:ext cx="1759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IfcSlab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2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（地⾯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990520" y="36669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200400" y="3187800"/>
            <a:ext cx="881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天花）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200400" y="3549600"/>
            <a:ext cx="1595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IfcDoor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3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200400" y="3854520"/>
            <a:ext cx="1808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⻔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后厨⻔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2990520" y="46386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200400" y="415944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⽣间⻔）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3200400" y="4521240"/>
            <a:ext cx="1390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IfcWindow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990520" y="5295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200400" y="482616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（临街落地⾯）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3200400" y="5178600"/>
            <a:ext cx="1339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IfcFurniture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3200400" y="5483520"/>
            <a:ext cx="1713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50+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椅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2990520" y="6267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09"/>
                  <a:pt x="121" y="213"/>
                  <a:pt x="107" y="213"/>
                </a:cubicBezTo>
                <a:cubicBezTo>
                  <a:pt x="93" y="213"/>
                  <a:pt x="80" y="209"/>
                  <a:pt x="67" y="204"/>
                </a:cubicBezTo>
                <a:cubicBezTo>
                  <a:pt x="54" y="198"/>
                  <a:pt x="42" y="191"/>
                  <a:pt x="32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200400" y="5788080"/>
            <a:ext cx="1695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台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设备）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200400" y="6150240"/>
            <a:ext cx="1708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IfcSpace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× 8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200400" y="645480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功能分区映射）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1048760" cy="69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4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 txBox="1"/>
          <p:nvPr/>
        </p:nvSpPr>
        <p:spPr>
          <a:xfrm>
            <a:off x="571320" y="2954520"/>
            <a:ext cx="1952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MEP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协同关键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71320" y="3316680"/>
            <a:ext cx="287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991240" y="644760"/>
            <a:ext cx="2030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后厨排烟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UMC-I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200400" y="949320"/>
            <a:ext cx="1623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净化器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DN200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200400" y="1254240"/>
            <a:ext cx="1601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⻛管 → 屋顶（垂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200400" y="155916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直对⻬建筑结构）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2949480" y="1920960"/>
            <a:ext cx="1561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吧台咖啡机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200400" y="2216160"/>
            <a:ext cx="1646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专线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200400" y="2521080"/>
            <a:ext cx="172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软⽔预处理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200400" y="2826000"/>
            <a:ext cx="1094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DN50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2949480" y="3187800"/>
            <a:ext cx="1979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空调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：前厅开放区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200400" y="3492720"/>
            <a:ext cx="1753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VRV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主路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200400" y="379728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独⽴⽀路（油烟环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200400" y="410220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境）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949480" y="4464000"/>
            <a:ext cx="1815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给排⽔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：后厨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3200400" y="4768920"/>
            <a:ext cx="1704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卫⽣间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 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200400" y="506412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路独⽴地漏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949480" y="5426280"/>
            <a:ext cx="1979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燃⽓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：如⽤（轻⻝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200400" y="573084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加热）需独⽴管线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200400" y="6035760"/>
            <a:ext cx="881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探测器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1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"/>
          <p:cNvSpPr/>
          <p:nvPr/>
        </p:nvSpPr>
        <p:spPr>
          <a:xfrm>
            <a:off x="2990520" y="7617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71320" y="316404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结构关注点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200400" y="644760"/>
            <a:ext cx="1449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书架墙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4m × 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3200400" y="949320"/>
            <a:ext cx="1611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层，总荷载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~180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3257280" y="1733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200400" y="1254240"/>
            <a:ext cx="1393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kg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存储容量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467160" y="1616040"/>
            <a:ext cx="1356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膨胀螺栓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467160" y="1920960"/>
            <a:ext cx="136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12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点锚⼊承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3257280" y="2695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2C2C2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467160" y="221616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重墙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467160" y="257832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若为轻钢⻰⻣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467160" y="288288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墙需增加加强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990520" y="36669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3467160" y="318780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背板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200400" y="3549600"/>
            <a:ext cx="1655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⻓桌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4m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固定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200400" y="385452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三钢架，点荷载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990520" y="46386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200400" y="4159440"/>
            <a:ext cx="1049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~80 kg × 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3200400" y="452124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吧台⽔磨⽯⾯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200400" y="4826160"/>
            <a:ext cx="1501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40mm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，⾃重约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990520" y="5600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200400" y="5121360"/>
            <a:ext cx="984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110 kg/m²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200400" y="548352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后厨排烟管穿楼板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3200400" y="578808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（如涉及）需防⽕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200400" y="6093000"/>
            <a:ext cx="1019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封堵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级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80680" y="2304720"/>
            <a:ext cx="3219840" cy="381600"/>
          </a:xfrm>
          <a:custGeom>
            <a:avLst/>
            <a:gdLst/>
            <a:ahLst/>
            <a:rect l="0" t="0" r="r" b="b"/>
            <a:pathLst>
              <a:path w="8944" h="1060">
                <a:moveTo>
                  <a:pt x="0" y="0"/>
                </a:moveTo>
                <a:lnTo>
                  <a:pt x="8944" y="0"/>
                </a:lnTo>
                <a:lnTo>
                  <a:pt x="894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800160" y="2304720"/>
            <a:ext cx="762480" cy="381600"/>
          </a:xfrm>
          <a:custGeom>
            <a:avLst/>
            <a:gdLst/>
            <a:ahLst/>
            <a:rect l="0" t="0" r="r" b="b"/>
            <a:pathLst>
              <a:path w="2118" h="1060">
                <a:moveTo>
                  <a:pt x="0" y="0"/>
                </a:moveTo>
                <a:lnTo>
                  <a:pt x="2118" y="0"/>
                </a:lnTo>
                <a:lnTo>
                  <a:pt x="211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562280" y="2304720"/>
            <a:ext cx="2600640" cy="381600"/>
          </a:xfrm>
          <a:custGeom>
            <a:avLst/>
            <a:gdLst/>
            <a:ahLst/>
            <a:rect l="0" t="0" r="r" b="b"/>
            <a:pathLst>
              <a:path w="7224" h="1060">
                <a:moveTo>
                  <a:pt x="0" y="0"/>
                </a:moveTo>
                <a:lnTo>
                  <a:pt x="7224" y="0"/>
                </a:lnTo>
                <a:lnTo>
                  <a:pt x="722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80680" y="2304720"/>
            <a:ext cx="3219840" cy="381600"/>
          </a:xfrm>
          <a:custGeom>
            <a:avLst/>
            <a:gdLst/>
            <a:ahLst/>
            <a:rect l="0" t="0" r="r" b="b"/>
            <a:pathLst>
              <a:path w="8944" h="1060">
                <a:moveTo>
                  <a:pt x="0" y="0"/>
                </a:moveTo>
                <a:lnTo>
                  <a:pt x="8944" y="0"/>
                </a:lnTo>
                <a:lnTo>
                  <a:pt x="894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800160" y="2304720"/>
            <a:ext cx="762480" cy="381600"/>
          </a:xfrm>
          <a:custGeom>
            <a:avLst/>
            <a:gdLst/>
            <a:ahLst/>
            <a:rect l="0" t="0" r="r" b="b"/>
            <a:pathLst>
              <a:path w="2118" h="1060">
                <a:moveTo>
                  <a:pt x="0" y="0"/>
                </a:moveTo>
                <a:lnTo>
                  <a:pt x="2118" y="0"/>
                </a:lnTo>
                <a:lnTo>
                  <a:pt x="211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562280" y="2304720"/>
            <a:ext cx="2600640" cy="381600"/>
          </a:xfrm>
          <a:custGeom>
            <a:avLst/>
            <a:gdLst/>
            <a:ahLst/>
            <a:rect l="0" t="0" r="r" b="b"/>
            <a:pathLst>
              <a:path w="7224" h="1060">
                <a:moveTo>
                  <a:pt x="0" y="0"/>
                </a:moveTo>
                <a:lnTo>
                  <a:pt x="7224" y="0"/>
                </a:lnTo>
                <a:lnTo>
                  <a:pt x="722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80680" y="2685960"/>
            <a:ext cx="3219840" cy="419400"/>
          </a:xfrm>
          <a:custGeom>
            <a:avLst/>
            <a:gdLst/>
            <a:ahLst/>
            <a:rect l="0" t="0" r="r" b="b"/>
            <a:pathLst>
              <a:path w="8944" h="1165">
                <a:moveTo>
                  <a:pt x="0" y="0"/>
                </a:moveTo>
                <a:lnTo>
                  <a:pt x="8944" y="0"/>
                </a:lnTo>
                <a:lnTo>
                  <a:pt x="894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800160" y="2685960"/>
            <a:ext cx="762480" cy="419400"/>
          </a:xfrm>
          <a:custGeom>
            <a:avLst/>
            <a:gdLst/>
            <a:ahLst/>
            <a:rect l="0" t="0" r="r" b="b"/>
            <a:pathLst>
              <a:path w="2118" h="1165">
                <a:moveTo>
                  <a:pt x="0" y="0"/>
                </a:moveTo>
                <a:lnTo>
                  <a:pt x="2118" y="0"/>
                </a:lnTo>
                <a:lnTo>
                  <a:pt x="211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4562280" y="2685960"/>
            <a:ext cx="2600640" cy="419400"/>
          </a:xfrm>
          <a:custGeom>
            <a:avLst/>
            <a:gdLst/>
            <a:ahLst/>
            <a:rect l="0" t="0" r="r" b="b"/>
            <a:pathLst>
              <a:path w="7224" h="1165">
                <a:moveTo>
                  <a:pt x="0" y="0"/>
                </a:moveTo>
                <a:lnTo>
                  <a:pt x="7224" y="0"/>
                </a:lnTo>
                <a:lnTo>
                  <a:pt x="722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80680" y="3105000"/>
            <a:ext cx="3219840" cy="429120"/>
          </a:xfrm>
          <a:custGeom>
            <a:avLst/>
            <a:gdLst/>
            <a:ahLst/>
            <a:rect l="0" t="0" r="r" b="b"/>
            <a:pathLst>
              <a:path w="8944" h="1192">
                <a:moveTo>
                  <a:pt x="0" y="0"/>
                </a:moveTo>
                <a:lnTo>
                  <a:pt x="8944" y="0"/>
                </a:lnTo>
                <a:lnTo>
                  <a:pt x="894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800160" y="3105000"/>
            <a:ext cx="762480" cy="429120"/>
          </a:xfrm>
          <a:custGeom>
            <a:avLst/>
            <a:gdLst/>
            <a:ahLst/>
            <a:rect l="0" t="0" r="r" b="b"/>
            <a:pathLst>
              <a:path w="2118" h="1192">
                <a:moveTo>
                  <a:pt x="0" y="0"/>
                </a:moveTo>
                <a:lnTo>
                  <a:pt x="2118" y="0"/>
                </a:lnTo>
                <a:lnTo>
                  <a:pt x="211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562280" y="3105000"/>
            <a:ext cx="2600640" cy="429120"/>
          </a:xfrm>
          <a:custGeom>
            <a:avLst/>
            <a:gdLst/>
            <a:ahLst/>
            <a:rect l="0" t="0" r="r" b="b"/>
            <a:pathLst>
              <a:path w="7224" h="1192">
                <a:moveTo>
                  <a:pt x="0" y="0"/>
                </a:moveTo>
                <a:lnTo>
                  <a:pt x="7224" y="0"/>
                </a:lnTo>
                <a:lnTo>
                  <a:pt x="722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580680" y="3533760"/>
            <a:ext cx="3219840" cy="428760"/>
          </a:xfrm>
          <a:custGeom>
            <a:avLst/>
            <a:gdLst/>
            <a:ahLst/>
            <a:rect l="0" t="0" r="r" b="b"/>
            <a:pathLst>
              <a:path w="8944" h="1191">
                <a:moveTo>
                  <a:pt x="0" y="0"/>
                </a:moveTo>
                <a:lnTo>
                  <a:pt x="8944" y="0"/>
                </a:lnTo>
                <a:lnTo>
                  <a:pt x="894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800160" y="3533760"/>
            <a:ext cx="762480" cy="428760"/>
          </a:xfrm>
          <a:custGeom>
            <a:avLst/>
            <a:gdLst/>
            <a:ahLst/>
            <a:rect l="0" t="0" r="r" b="b"/>
            <a:pathLst>
              <a:path w="2118" h="1191">
                <a:moveTo>
                  <a:pt x="0" y="0"/>
                </a:moveTo>
                <a:lnTo>
                  <a:pt x="2118" y="0"/>
                </a:lnTo>
                <a:lnTo>
                  <a:pt x="211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562280" y="3533760"/>
            <a:ext cx="2600640" cy="428760"/>
          </a:xfrm>
          <a:custGeom>
            <a:avLst/>
            <a:gdLst/>
            <a:ahLst/>
            <a:rect l="0" t="0" r="r" b="b"/>
            <a:pathLst>
              <a:path w="7224" h="1191">
                <a:moveTo>
                  <a:pt x="0" y="0"/>
                </a:moveTo>
                <a:lnTo>
                  <a:pt x="7224" y="0"/>
                </a:lnTo>
                <a:lnTo>
                  <a:pt x="722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80680" y="3962160"/>
            <a:ext cx="3219840" cy="429120"/>
          </a:xfrm>
          <a:custGeom>
            <a:avLst/>
            <a:gdLst/>
            <a:ahLst/>
            <a:rect l="0" t="0" r="r" b="b"/>
            <a:pathLst>
              <a:path w="8944" h="1192">
                <a:moveTo>
                  <a:pt x="0" y="0"/>
                </a:moveTo>
                <a:lnTo>
                  <a:pt x="8944" y="0"/>
                </a:lnTo>
                <a:lnTo>
                  <a:pt x="894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800160" y="3962160"/>
            <a:ext cx="762480" cy="429120"/>
          </a:xfrm>
          <a:custGeom>
            <a:avLst/>
            <a:gdLst/>
            <a:ahLst/>
            <a:rect l="0" t="0" r="r" b="b"/>
            <a:pathLst>
              <a:path w="2118" h="1192">
                <a:moveTo>
                  <a:pt x="0" y="0"/>
                </a:moveTo>
                <a:lnTo>
                  <a:pt x="2118" y="0"/>
                </a:lnTo>
                <a:lnTo>
                  <a:pt x="211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4562280" y="3962160"/>
            <a:ext cx="2600640" cy="429120"/>
          </a:xfrm>
          <a:custGeom>
            <a:avLst/>
            <a:gdLst/>
            <a:ahLst/>
            <a:rect l="0" t="0" r="r" b="b"/>
            <a:pathLst>
              <a:path w="7224" h="1192">
                <a:moveTo>
                  <a:pt x="0" y="0"/>
                </a:moveTo>
                <a:lnTo>
                  <a:pt x="7224" y="0"/>
                </a:lnTo>
                <a:lnTo>
                  <a:pt x="722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80680" y="4390920"/>
            <a:ext cx="3219840" cy="428760"/>
          </a:xfrm>
          <a:custGeom>
            <a:avLst/>
            <a:gdLst/>
            <a:ahLst/>
            <a:rect l="0" t="0" r="r" b="b"/>
            <a:pathLst>
              <a:path w="8944" h="1191">
                <a:moveTo>
                  <a:pt x="0" y="0"/>
                </a:moveTo>
                <a:lnTo>
                  <a:pt x="8944" y="0"/>
                </a:lnTo>
                <a:lnTo>
                  <a:pt x="894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800160" y="4390920"/>
            <a:ext cx="762480" cy="428760"/>
          </a:xfrm>
          <a:custGeom>
            <a:avLst/>
            <a:gdLst/>
            <a:ahLst/>
            <a:rect l="0" t="0" r="r" b="b"/>
            <a:pathLst>
              <a:path w="2118" h="1191">
                <a:moveTo>
                  <a:pt x="0" y="0"/>
                </a:moveTo>
                <a:lnTo>
                  <a:pt x="2118" y="0"/>
                </a:lnTo>
                <a:lnTo>
                  <a:pt x="211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4562280" y="4390920"/>
            <a:ext cx="2600640" cy="428760"/>
          </a:xfrm>
          <a:custGeom>
            <a:avLst/>
            <a:gdLst/>
            <a:ahLst/>
            <a:rect l="0" t="0" r="r" b="b"/>
            <a:pathLst>
              <a:path w="7224" h="1191">
                <a:moveTo>
                  <a:pt x="0" y="0"/>
                </a:moveTo>
                <a:lnTo>
                  <a:pt x="7224" y="0"/>
                </a:lnTo>
                <a:lnTo>
                  <a:pt x="722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571320" y="23047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571320" y="230472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800160" y="23047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3809880" y="2304720"/>
            <a:ext cx="752760" cy="10080"/>
          </a:xfrm>
          <a:custGeom>
            <a:avLst/>
            <a:gdLst/>
            <a:ahLst/>
            <a:rect l="0" t="0" r="r" b="b"/>
            <a:pathLst>
              <a:path w="2091" h="28">
                <a:moveTo>
                  <a:pt x="0" y="0"/>
                </a:moveTo>
                <a:lnTo>
                  <a:pt x="2091" y="0"/>
                </a:lnTo>
                <a:lnTo>
                  <a:pt x="2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4552920" y="23047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4562280" y="2304720"/>
            <a:ext cx="2610360" cy="10080"/>
          </a:xfrm>
          <a:custGeom>
            <a:avLst/>
            <a:gdLst/>
            <a:ahLst/>
            <a:rect l="0" t="0" r="r" b="b"/>
            <a:pathLst>
              <a:path w="7251" h="28">
                <a:moveTo>
                  <a:pt x="0" y="0"/>
                </a:moveTo>
                <a:lnTo>
                  <a:pt x="7251" y="0"/>
                </a:lnTo>
                <a:lnTo>
                  <a:pt x="7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7162560" y="23047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71320" y="267624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809880" y="2676240"/>
            <a:ext cx="752760" cy="10080"/>
          </a:xfrm>
          <a:custGeom>
            <a:avLst/>
            <a:gdLst/>
            <a:ahLst/>
            <a:rect l="0" t="0" r="r" b="b"/>
            <a:pathLst>
              <a:path w="2091" h="28">
                <a:moveTo>
                  <a:pt x="0" y="0"/>
                </a:moveTo>
                <a:lnTo>
                  <a:pt x="2091" y="0"/>
                </a:lnTo>
                <a:lnTo>
                  <a:pt x="2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4562280" y="2676240"/>
            <a:ext cx="2610360" cy="10080"/>
          </a:xfrm>
          <a:custGeom>
            <a:avLst/>
            <a:gdLst/>
            <a:ahLst/>
            <a:rect l="0" t="0" r="r" b="b"/>
            <a:pathLst>
              <a:path w="7251" h="28">
                <a:moveTo>
                  <a:pt x="0" y="0"/>
                </a:moveTo>
                <a:lnTo>
                  <a:pt x="7251" y="0"/>
                </a:lnTo>
                <a:lnTo>
                  <a:pt x="7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7132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800160" y="26859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455292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7162560" y="26859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7132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71320" y="310500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800160" y="31143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3809880" y="3105000"/>
            <a:ext cx="752760" cy="9720"/>
          </a:xfrm>
          <a:custGeom>
            <a:avLst/>
            <a:gdLst/>
            <a:ahLst/>
            <a:rect l="0" t="0" r="r" b="b"/>
            <a:pathLst>
              <a:path w="2091" h="27">
                <a:moveTo>
                  <a:pt x="0" y="0"/>
                </a:moveTo>
                <a:lnTo>
                  <a:pt x="2091" y="0"/>
                </a:lnTo>
                <a:lnTo>
                  <a:pt x="20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455292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4562280" y="3105000"/>
            <a:ext cx="2610360" cy="9720"/>
          </a:xfrm>
          <a:custGeom>
            <a:avLst/>
            <a:gdLst/>
            <a:ahLst/>
            <a:rect l="0" t="0" r="r" b="b"/>
            <a:pathLst>
              <a:path w="7251" h="27">
                <a:moveTo>
                  <a:pt x="0" y="0"/>
                </a:moveTo>
                <a:lnTo>
                  <a:pt x="7251" y="0"/>
                </a:lnTo>
                <a:lnTo>
                  <a:pt x="7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7162560" y="31143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7132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71320" y="353376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3800160" y="35431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809880" y="3533760"/>
            <a:ext cx="752760" cy="9720"/>
          </a:xfrm>
          <a:custGeom>
            <a:avLst/>
            <a:gdLst/>
            <a:ahLst/>
            <a:rect l="0" t="0" r="r" b="b"/>
            <a:pathLst>
              <a:path w="2091" h="27">
                <a:moveTo>
                  <a:pt x="0" y="0"/>
                </a:moveTo>
                <a:lnTo>
                  <a:pt x="2091" y="0"/>
                </a:lnTo>
                <a:lnTo>
                  <a:pt x="20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455292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4562280" y="3533760"/>
            <a:ext cx="2610360" cy="9720"/>
          </a:xfrm>
          <a:custGeom>
            <a:avLst/>
            <a:gdLst/>
            <a:ahLst/>
            <a:rect l="0" t="0" r="r" b="b"/>
            <a:pathLst>
              <a:path w="7251" h="27">
                <a:moveTo>
                  <a:pt x="0" y="0"/>
                </a:moveTo>
                <a:lnTo>
                  <a:pt x="7251" y="0"/>
                </a:lnTo>
                <a:lnTo>
                  <a:pt x="7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7162560" y="35431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7132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71320" y="396216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3800160" y="39718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3809880" y="3962160"/>
            <a:ext cx="752760" cy="10080"/>
          </a:xfrm>
          <a:custGeom>
            <a:avLst/>
            <a:gdLst/>
            <a:ahLst/>
            <a:rect l="0" t="0" r="r" b="b"/>
            <a:pathLst>
              <a:path w="2091" h="28">
                <a:moveTo>
                  <a:pt x="0" y="0"/>
                </a:moveTo>
                <a:lnTo>
                  <a:pt x="2091" y="0"/>
                </a:lnTo>
                <a:lnTo>
                  <a:pt x="2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55292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562280" y="3962160"/>
            <a:ext cx="2610360" cy="10080"/>
          </a:xfrm>
          <a:custGeom>
            <a:avLst/>
            <a:gdLst/>
            <a:ahLst/>
            <a:rect l="0" t="0" r="r" b="b"/>
            <a:pathLst>
              <a:path w="7251" h="28">
                <a:moveTo>
                  <a:pt x="0" y="0"/>
                </a:moveTo>
                <a:lnTo>
                  <a:pt x="7251" y="0"/>
                </a:lnTo>
                <a:lnTo>
                  <a:pt x="7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7162560" y="39718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57132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71320" y="439092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3800160" y="4400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3809880" y="4390920"/>
            <a:ext cx="752760" cy="9720"/>
          </a:xfrm>
          <a:custGeom>
            <a:avLst/>
            <a:gdLst/>
            <a:ahLst/>
            <a:rect l="0" t="0" r="r" b="b"/>
            <a:pathLst>
              <a:path w="2091" h="27">
                <a:moveTo>
                  <a:pt x="0" y="0"/>
                </a:moveTo>
                <a:lnTo>
                  <a:pt x="2091" y="0"/>
                </a:lnTo>
                <a:lnTo>
                  <a:pt x="20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455292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4562280" y="4390920"/>
            <a:ext cx="2610360" cy="9720"/>
          </a:xfrm>
          <a:custGeom>
            <a:avLst/>
            <a:gdLst/>
            <a:ahLst/>
            <a:rect l="0" t="0" r="r" b="b"/>
            <a:pathLst>
              <a:path w="7251" h="27">
                <a:moveTo>
                  <a:pt x="0" y="0"/>
                </a:moveTo>
                <a:lnTo>
                  <a:pt x="7251" y="0"/>
                </a:lnTo>
                <a:lnTo>
                  <a:pt x="7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7162560" y="4400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71320" y="481932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809880" y="4819320"/>
            <a:ext cx="752760" cy="10080"/>
          </a:xfrm>
          <a:custGeom>
            <a:avLst/>
            <a:gdLst/>
            <a:ahLst/>
            <a:rect l="0" t="0" r="r" b="b"/>
            <a:pathLst>
              <a:path w="2091" h="28">
                <a:moveTo>
                  <a:pt x="0" y="0"/>
                </a:moveTo>
                <a:lnTo>
                  <a:pt x="2091" y="0"/>
                </a:lnTo>
                <a:lnTo>
                  <a:pt x="2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4562280" y="4819320"/>
            <a:ext cx="2610360" cy="10080"/>
          </a:xfrm>
          <a:custGeom>
            <a:avLst/>
            <a:gdLst/>
            <a:ahLst/>
            <a:rect l="0" t="0" r="r" b="b"/>
            <a:pathLst>
              <a:path w="7251" h="28">
                <a:moveTo>
                  <a:pt x="0" y="0"/>
                </a:moveTo>
                <a:lnTo>
                  <a:pt x="7251" y="0"/>
                </a:lnTo>
                <a:lnTo>
                  <a:pt x="7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71320" y="1716480"/>
            <a:ext cx="1881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Fallback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格式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04880" y="2370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格式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931920" y="2370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体积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704520" y="2752560"/>
            <a:ext cx="2134080" cy="276480"/>
          </a:xfrm>
          <a:custGeom>
            <a:avLst/>
            <a:gdLst/>
            <a:ahLst/>
            <a:rect l="0" t="0" r="r" b="b"/>
            <a:pathLst>
              <a:path w="5928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849" y="0"/>
                </a:lnTo>
                <a:cubicBezTo>
                  <a:pt x="5859" y="0"/>
                  <a:pt x="5869" y="2"/>
                  <a:pt x="5879" y="6"/>
                </a:cubicBezTo>
                <a:cubicBezTo>
                  <a:pt x="5889" y="10"/>
                  <a:pt x="5897" y="16"/>
                  <a:pt x="5905" y="23"/>
                </a:cubicBezTo>
                <a:cubicBezTo>
                  <a:pt x="5912" y="31"/>
                  <a:pt x="5918" y="39"/>
                  <a:pt x="5922" y="49"/>
                </a:cubicBezTo>
                <a:cubicBezTo>
                  <a:pt x="5926" y="59"/>
                  <a:pt x="5928" y="69"/>
                  <a:pt x="5928" y="79"/>
                </a:cubicBezTo>
                <a:lnTo>
                  <a:pt x="5928" y="689"/>
                </a:lnTo>
                <a:cubicBezTo>
                  <a:pt x="5928" y="699"/>
                  <a:pt x="5926" y="710"/>
                  <a:pt x="5922" y="719"/>
                </a:cubicBezTo>
                <a:cubicBezTo>
                  <a:pt x="5918" y="729"/>
                  <a:pt x="5912" y="738"/>
                  <a:pt x="5905" y="745"/>
                </a:cubicBezTo>
                <a:cubicBezTo>
                  <a:pt x="5897" y="752"/>
                  <a:pt x="5889" y="758"/>
                  <a:pt x="5879" y="762"/>
                </a:cubicBezTo>
                <a:cubicBezTo>
                  <a:pt x="5869" y="766"/>
                  <a:pt x="5859" y="768"/>
                  <a:pt x="5849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4686120" y="2370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762120" y="276768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exports/cafe.ifc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931920" y="2770920"/>
            <a:ext cx="495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56 KB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704520" y="3181320"/>
            <a:ext cx="2134080" cy="276480"/>
          </a:xfrm>
          <a:custGeom>
            <a:avLst/>
            <a:gdLst/>
            <a:ahLst/>
            <a:rect l="0" t="0" r="r" b="b"/>
            <a:pathLst>
              <a:path w="5928" h="768">
                <a:moveTo>
                  <a:pt x="0" y="68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849" y="0"/>
                </a:lnTo>
                <a:cubicBezTo>
                  <a:pt x="5859" y="0"/>
                  <a:pt x="5869" y="2"/>
                  <a:pt x="5879" y="6"/>
                </a:cubicBezTo>
                <a:cubicBezTo>
                  <a:pt x="5889" y="10"/>
                  <a:pt x="5897" y="15"/>
                  <a:pt x="5905" y="23"/>
                </a:cubicBezTo>
                <a:cubicBezTo>
                  <a:pt x="5912" y="30"/>
                  <a:pt x="5918" y="39"/>
                  <a:pt x="5922" y="49"/>
                </a:cubicBezTo>
                <a:cubicBezTo>
                  <a:pt x="5926" y="58"/>
                  <a:pt x="5928" y="68"/>
                  <a:pt x="5928" y="79"/>
                </a:cubicBezTo>
                <a:lnTo>
                  <a:pt x="5928" y="687"/>
                </a:lnTo>
                <a:cubicBezTo>
                  <a:pt x="5928" y="698"/>
                  <a:pt x="5926" y="708"/>
                  <a:pt x="5922" y="718"/>
                </a:cubicBezTo>
                <a:cubicBezTo>
                  <a:pt x="5918" y="728"/>
                  <a:pt x="5912" y="736"/>
                  <a:pt x="5905" y="744"/>
                </a:cubicBezTo>
                <a:cubicBezTo>
                  <a:pt x="5897" y="752"/>
                  <a:pt x="5889" y="758"/>
                  <a:pt x="5879" y="762"/>
                </a:cubicBezTo>
                <a:cubicBezTo>
                  <a:pt x="5869" y="766"/>
                  <a:pt x="5859" y="768"/>
                  <a:pt x="5849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4"/>
                </a:cubicBezTo>
                <a:cubicBezTo>
                  <a:pt x="16" y="736"/>
                  <a:pt x="10" y="728"/>
                  <a:pt x="6" y="718"/>
                </a:cubicBezTo>
                <a:cubicBezTo>
                  <a:pt x="2" y="708"/>
                  <a:pt x="0" y="698"/>
                  <a:pt x="0" y="687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686120" y="2770920"/>
            <a:ext cx="143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协同（⾸选）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62120" y="319644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exports/cafe.glb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3931920" y="319968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704520" y="3609720"/>
            <a:ext cx="2134080" cy="276480"/>
          </a:xfrm>
          <a:custGeom>
            <a:avLst/>
            <a:gdLst/>
            <a:ahLst/>
            <a:rect l="0" t="0" r="r" b="b"/>
            <a:pathLst>
              <a:path w="5928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849" y="0"/>
                </a:lnTo>
                <a:cubicBezTo>
                  <a:pt x="5859" y="0"/>
                  <a:pt x="5869" y="2"/>
                  <a:pt x="5879" y="6"/>
                </a:cubicBezTo>
                <a:cubicBezTo>
                  <a:pt x="5889" y="10"/>
                  <a:pt x="5897" y="16"/>
                  <a:pt x="5905" y="23"/>
                </a:cubicBezTo>
                <a:cubicBezTo>
                  <a:pt x="5912" y="31"/>
                  <a:pt x="5918" y="39"/>
                  <a:pt x="5922" y="49"/>
                </a:cubicBezTo>
                <a:cubicBezTo>
                  <a:pt x="5926" y="59"/>
                  <a:pt x="5928" y="69"/>
                  <a:pt x="5928" y="80"/>
                </a:cubicBezTo>
                <a:lnTo>
                  <a:pt x="5928" y="689"/>
                </a:lnTo>
                <a:cubicBezTo>
                  <a:pt x="5928" y="700"/>
                  <a:pt x="5926" y="710"/>
                  <a:pt x="5922" y="719"/>
                </a:cubicBezTo>
                <a:cubicBezTo>
                  <a:pt x="5918" y="729"/>
                  <a:pt x="5912" y="738"/>
                  <a:pt x="5905" y="745"/>
                </a:cubicBezTo>
                <a:cubicBezTo>
                  <a:pt x="5897" y="753"/>
                  <a:pt x="5889" y="758"/>
                  <a:pt x="5879" y="762"/>
                </a:cubicBezTo>
                <a:cubicBezTo>
                  <a:pt x="5869" y="766"/>
                  <a:pt x="5859" y="768"/>
                  <a:pt x="5849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686120" y="3199680"/>
            <a:ext cx="2380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Web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看板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⼩程序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62120" y="362520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exports/cafe.obj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3057480" y="3609720"/>
            <a:ext cx="619200" cy="276480"/>
          </a:xfrm>
          <a:custGeom>
            <a:avLst/>
            <a:gdLst/>
            <a:ahLst/>
            <a:rect l="0" t="0" r="r" b="b"/>
            <a:pathLst>
              <a:path w="1720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641" y="0"/>
                </a:lnTo>
                <a:cubicBezTo>
                  <a:pt x="1652" y="0"/>
                  <a:pt x="1662" y="2"/>
                  <a:pt x="1671" y="6"/>
                </a:cubicBezTo>
                <a:cubicBezTo>
                  <a:pt x="1681" y="10"/>
                  <a:pt x="1690" y="16"/>
                  <a:pt x="1697" y="23"/>
                </a:cubicBezTo>
                <a:cubicBezTo>
                  <a:pt x="1705" y="31"/>
                  <a:pt x="1710" y="39"/>
                  <a:pt x="1714" y="49"/>
                </a:cubicBezTo>
                <a:cubicBezTo>
                  <a:pt x="1718" y="59"/>
                  <a:pt x="1720" y="69"/>
                  <a:pt x="1720" y="80"/>
                </a:cubicBezTo>
                <a:lnTo>
                  <a:pt x="1720" y="689"/>
                </a:lnTo>
                <a:cubicBezTo>
                  <a:pt x="1720" y="700"/>
                  <a:pt x="1718" y="710"/>
                  <a:pt x="1714" y="719"/>
                </a:cubicBezTo>
                <a:cubicBezTo>
                  <a:pt x="1710" y="729"/>
                  <a:pt x="1705" y="738"/>
                  <a:pt x="1697" y="745"/>
                </a:cubicBezTo>
                <a:cubicBezTo>
                  <a:pt x="1690" y="753"/>
                  <a:pt x="1681" y="758"/>
                  <a:pt x="1671" y="762"/>
                </a:cubicBezTo>
                <a:cubicBezTo>
                  <a:pt x="1662" y="766"/>
                  <a:pt x="1652" y="768"/>
                  <a:pt x="1641" y="768"/>
                </a:cubicBezTo>
                <a:lnTo>
                  <a:pt x="79" y="768"/>
                </a:lnTo>
                <a:cubicBezTo>
                  <a:pt x="68" y="768"/>
                  <a:pt x="58" y="766"/>
                  <a:pt x="49" y="762"/>
                </a:cubicBezTo>
                <a:cubicBezTo>
                  <a:pt x="39" y="758"/>
                  <a:pt x="30" y="753"/>
                  <a:pt x="23" y="745"/>
                </a:cubicBezTo>
                <a:cubicBezTo>
                  <a:pt x="15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837880" y="3637800"/>
            <a:ext cx="21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+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3112920" y="3625200"/>
            <a:ext cx="503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.mtl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3931920" y="3628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704520" y="4038480"/>
            <a:ext cx="2134080" cy="276480"/>
          </a:xfrm>
          <a:custGeom>
            <a:avLst/>
            <a:gdLst/>
            <a:ahLst/>
            <a:rect l="0" t="0" r="r" b="b"/>
            <a:pathLst>
              <a:path w="5928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849" y="0"/>
                </a:lnTo>
                <a:cubicBezTo>
                  <a:pt x="5859" y="0"/>
                  <a:pt x="5869" y="2"/>
                  <a:pt x="5879" y="6"/>
                </a:cubicBezTo>
                <a:cubicBezTo>
                  <a:pt x="5889" y="10"/>
                  <a:pt x="5897" y="16"/>
                  <a:pt x="5905" y="23"/>
                </a:cubicBezTo>
                <a:cubicBezTo>
                  <a:pt x="5912" y="31"/>
                  <a:pt x="5918" y="39"/>
                  <a:pt x="5922" y="49"/>
                </a:cubicBezTo>
                <a:cubicBezTo>
                  <a:pt x="5926" y="59"/>
                  <a:pt x="5928" y="69"/>
                  <a:pt x="5928" y="79"/>
                </a:cubicBezTo>
                <a:lnTo>
                  <a:pt x="5928" y="689"/>
                </a:lnTo>
                <a:cubicBezTo>
                  <a:pt x="5928" y="699"/>
                  <a:pt x="5926" y="709"/>
                  <a:pt x="5922" y="719"/>
                </a:cubicBezTo>
                <a:cubicBezTo>
                  <a:pt x="5918" y="729"/>
                  <a:pt x="5912" y="737"/>
                  <a:pt x="5905" y="745"/>
                </a:cubicBezTo>
                <a:cubicBezTo>
                  <a:pt x="5897" y="752"/>
                  <a:pt x="5889" y="758"/>
                  <a:pt x="5879" y="762"/>
                </a:cubicBezTo>
                <a:cubicBezTo>
                  <a:pt x="5869" y="766"/>
                  <a:pt x="5859" y="768"/>
                  <a:pt x="5849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686120" y="3628440"/>
            <a:ext cx="1858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SketchUp / Rhino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62120" y="405360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exports/cafe.fbx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3931920" y="40568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704520" y="4466880"/>
            <a:ext cx="2762640" cy="276840"/>
          </a:xfrm>
          <a:custGeom>
            <a:avLst/>
            <a:gdLst/>
            <a:ahLst/>
            <a:rect l="0" t="0" r="r" b="b"/>
            <a:pathLst>
              <a:path w="7674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595" y="0"/>
                </a:lnTo>
                <a:cubicBezTo>
                  <a:pt x="7605" y="0"/>
                  <a:pt x="7616" y="2"/>
                  <a:pt x="7625" y="6"/>
                </a:cubicBezTo>
                <a:cubicBezTo>
                  <a:pt x="7635" y="11"/>
                  <a:pt x="7644" y="16"/>
                  <a:pt x="7651" y="24"/>
                </a:cubicBezTo>
                <a:cubicBezTo>
                  <a:pt x="7659" y="31"/>
                  <a:pt x="7664" y="40"/>
                  <a:pt x="7668" y="49"/>
                </a:cubicBezTo>
                <a:cubicBezTo>
                  <a:pt x="7672" y="59"/>
                  <a:pt x="7674" y="69"/>
                  <a:pt x="7674" y="80"/>
                </a:cubicBezTo>
                <a:lnTo>
                  <a:pt x="7674" y="689"/>
                </a:lnTo>
                <a:cubicBezTo>
                  <a:pt x="7674" y="700"/>
                  <a:pt x="7672" y="710"/>
                  <a:pt x="7668" y="720"/>
                </a:cubicBezTo>
                <a:cubicBezTo>
                  <a:pt x="7664" y="729"/>
                  <a:pt x="7659" y="738"/>
                  <a:pt x="7651" y="746"/>
                </a:cubicBezTo>
                <a:cubicBezTo>
                  <a:pt x="7644" y="753"/>
                  <a:pt x="7635" y="759"/>
                  <a:pt x="7625" y="763"/>
                </a:cubicBezTo>
                <a:cubicBezTo>
                  <a:pt x="7616" y="767"/>
                  <a:pt x="7605" y="769"/>
                  <a:pt x="7595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6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4686120" y="4056840"/>
            <a:ext cx="232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Maya / Unity / Unreal 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动画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62120" y="4482360"/>
            <a:ext cx="2640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exports/floorplan.dxf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3931920" y="4485600"/>
            <a:ext cx="461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61 KB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686120" y="4485600"/>
            <a:ext cx="2341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AutoCAD / Rhino / QCAD 2D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571320" y="2078280"/>
            <a:ext cx="3069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F&amp;B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专属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关注项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628920" y="2664000"/>
            <a:ext cx="5190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油烟管道空间占⽤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：需在天花层预留净⾼ 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87160" y="3016440"/>
            <a:ext cx="5231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隔油池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：室外或后厨独⽴位，地坪下埋深 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600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87160" y="3378240"/>
            <a:ext cx="4876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给排⽔⽴管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：后厨需⾄少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DN100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污⽔⽴管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587160" y="3740400"/>
            <a:ext cx="3583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卫⽣间通⻛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：机械排⻛ 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次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587160" y="4102200"/>
            <a:ext cx="5673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消防喷淋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（如楼宇要求）：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K80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喷头按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 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覆盖布置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576000" y="2280960"/>
            <a:ext cx="11039760" cy="2572200"/>
          </a:xfrm>
          <a:custGeom>
            <a:avLst/>
            <a:gdLst/>
            <a:ahLst/>
            <a:rect l="0" t="0" r="r" b="b"/>
            <a:pathLst>
              <a:path w="30666" h="7145">
                <a:moveTo>
                  <a:pt x="0" y="699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8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50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6999"/>
                </a:lnTo>
                <a:cubicBezTo>
                  <a:pt x="30666" y="7009"/>
                  <a:pt x="30665" y="7019"/>
                  <a:pt x="30664" y="7028"/>
                </a:cubicBezTo>
                <a:cubicBezTo>
                  <a:pt x="30662" y="7037"/>
                  <a:pt x="30659" y="7046"/>
                  <a:pt x="30655" y="7055"/>
                </a:cubicBezTo>
                <a:cubicBezTo>
                  <a:pt x="30652" y="7064"/>
                  <a:pt x="30647" y="7072"/>
                  <a:pt x="30642" y="7080"/>
                </a:cubicBezTo>
                <a:cubicBezTo>
                  <a:pt x="30637" y="7088"/>
                  <a:pt x="30631" y="7096"/>
                  <a:pt x="30624" y="7102"/>
                </a:cubicBezTo>
                <a:cubicBezTo>
                  <a:pt x="30617" y="7109"/>
                  <a:pt x="30610" y="7115"/>
                  <a:pt x="30602" y="7120"/>
                </a:cubicBezTo>
                <a:cubicBezTo>
                  <a:pt x="30594" y="7126"/>
                  <a:pt x="30585" y="7130"/>
                  <a:pt x="30577" y="7134"/>
                </a:cubicBezTo>
                <a:cubicBezTo>
                  <a:pt x="30568" y="7138"/>
                  <a:pt x="30559" y="7140"/>
                  <a:pt x="30549" y="7142"/>
                </a:cubicBezTo>
                <a:cubicBezTo>
                  <a:pt x="30540" y="7144"/>
                  <a:pt x="30530" y="7145"/>
                  <a:pt x="30521" y="7145"/>
                </a:cubicBezTo>
                <a:lnTo>
                  <a:pt x="146" y="7145"/>
                </a:lnTo>
                <a:cubicBezTo>
                  <a:pt x="136" y="7145"/>
                  <a:pt x="127" y="7144"/>
                  <a:pt x="117" y="7142"/>
                </a:cubicBezTo>
                <a:cubicBezTo>
                  <a:pt x="108" y="7140"/>
                  <a:pt x="99" y="7138"/>
                  <a:pt x="90" y="7134"/>
                </a:cubicBezTo>
                <a:cubicBezTo>
                  <a:pt x="81" y="7130"/>
                  <a:pt x="73" y="7126"/>
                  <a:pt x="65" y="7120"/>
                </a:cubicBezTo>
                <a:cubicBezTo>
                  <a:pt x="57" y="7115"/>
                  <a:pt x="50" y="7109"/>
                  <a:pt x="43" y="7102"/>
                </a:cubicBezTo>
                <a:cubicBezTo>
                  <a:pt x="36" y="7096"/>
                  <a:pt x="30" y="7088"/>
                  <a:pt x="25" y="7080"/>
                </a:cubicBezTo>
                <a:cubicBezTo>
                  <a:pt x="19" y="7072"/>
                  <a:pt x="15" y="7064"/>
                  <a:pt x="11" y="7055"/>
                </a:cubicBezTo>
                <a:cubicBezTo>
                  <a:pt x="8" y="7046"/>
                  <a:pt x="5" y="7037"/>
                  <a:pt x="3" y="7028"/>
                </a:cubicBezTo>
                <a:cubicBezTo>
                  <a:pt x="1" y="7019"/>
                  <a:pt x="0" y="7009"/>
                  <a:pt x="0" y="699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576000" y="2280960"/>
            <a:ext cx="11039760" cy="2572200"/>
          </a:xfrm>
          <a:custGeom>
            <a:avLst/>
            <a:gdLst/>
            <a:ahLst/>
            <a:rect l="0" t="0" r="r" b="b"/>
            <a:pathLst>
              <a:path w="30666" h="7145">
                <a:moveTo>
                  <a:pt x="0" y="699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8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50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6999"/>
                </a:lnTo>
                <a:cubicBezTo>
                  <a:pt x="30666" y="7009"/>
                  <a:pt x="30665" y="7019"/>
                  <a:pt x="30664" y="7028"/>
                </a:cubicBezTo>
                <a:cubicBezTo>
                  <a:pt x="30662" y="7037"/>
                  <a:pt x="30659" y="7046"/>
                  <a:pt x="30655" y="7055"/>
                </a:cubicBezTo>
                <a:cubicBezTo>
                  <a:pt x="30652" y="7064"/>
                  <a:pt x="30647" y="7072"/>
                  <a:pt x="30642" y="7080"/>
                </a:cubicBezTo>
                <a:cubicBezTo>
                  <a:pt x="30637" y="7088"/>
                  <a:pt x="30631" y="7096"/>
                  <a:pt x="30624" y="7102"/>
                </a:cubicBezTo>
                <a:cubicBezTo>
                  <a:pt x="30617" y="7109"/>
                  <a:pt x="30610" y="7115"/>
                  <a:pt x="30602" y="7120"/>
                </a:cubicBezTo>
                <a:cubicBezTo>
                  <a:pt x="30594" y="7126"/>
                  <a:pt x="30585" y="7130"/>
                  <a:pt x="30577" y="7134"/>
                </a:cubicBezTo>
                <a:cubicBezTo>
                  <a:pt x="30568" y="7138"/>
                  <a:pt x="30559" y="7140"/>
                  <a:pt x="30549" y="7142"/>
                </a:cubicBezTo>
                <a:cubicBezTo>
                  <a:pt x="30540" y="7144"/>
                  <a:pt x="30530" y="7145"/>
                  <a:pt x="30521" y="7145"/>
                </a:cubicBezTo>
                <a:lnTo>
                  <a:pt x="146" y="7145"/>
                </a:lnTo>
                <a:cubicBezTo>
                  <a:pt x="136" y="7145"/>
                  <a:pt x="127" y="7144"/>
                  <a:pt x="117" y="7142"/>
                </a:cubicBezTo>
                <a:cubicBezTo>
                  <a:pt x="108" y="7140"/>
                  <a:pt x="99" y="7138"/>
                  <a:pt x="90" y="7134"/>
                </a:cubicBezTo>
                <a:cubicBezTo>
                  <a:pt x="81" y="7130"/>
                  <a:pt x="73" y="7126"/>
                  <a:pt x="65" y="7120"/>
                </a:cubicBezTo>
                <a:cubicBezTo>
                  <a:pt x="57" y="7115"/>
                  <a:pt x="50" y="7109"/>
                  <a:pt x="43" y="7102"/>
                </a:cubicBezTo>
                <a:cubicBezTo>
                  <a:pt x="36" y="7096"/>
                  <a:pt x="30" y="7088"/>
                  <a:pt x="25" y="7080"/>
                </a:cubicBezTo>
                <a:cubicBezTo>
                  <a:pt x="19" y="7072"/>
                  <a:pt x="15" y="7064"/>
                  <a:pt x="11" y="7055"/>
                </a:cubicBezTo>
                <a:cubicBezTo>
                  <a:pt x="8" y="7046"/>
                  <a:pt x="5" y="7037"/>
                  <a:pt x="3" y="7028"/>
                </a:cubicBezTo>
                <a:cubicBezTo>
                  <a:pt x="1" y="7019"/>
                  <a:pt x="0" y="7009"/>
                  <a:pt x="0" y="699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571320" y="16876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验证脚本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33320" y="2435040"/>
            <a:ext cx="215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947880" y="241164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⽤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126080" y="2435040"/>
            <a:ext cx="1503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ifcopenshell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627280" y="241164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快速校验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33320" y="2644560"/>
            <a:ext cx="1181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python -c 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33320" y="2844720"/>
            <a:ext cx="204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import ifcopenshell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33320" y="3054240"/>
            <a:ext cx="4402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m = ifcopenshell.open('exports/cafe.ifc')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33320" y="3254040"/>
            <a:ext cx="5690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print('IfcProduct   :', len(m.by_type('IfcProduct')))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33320" y="3463560"/>
            <a:ext cx="5368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print('IfcWall      :', len(m.by_type('IfcWall')))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33320" y="3663720"/>
            <a:ext cx="5368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print('IfcSlab      :', len(m.by_type('IfcSlab')))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733320" y="3873240"/>
            <a:ext cx="67636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print('IfcFurniture :', len(m.by_type('IfcFurnishingElement')))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733320" y="4073400"/>
            <a:ext cx="54756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print('IfcSpace     :', len(m.by_type('IfcSpace')))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733320" y="4282920"/>
            <a:ext cx="3543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print('Schema       :', m.schema)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733320" y="448308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571320" y="2876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2A6F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628560" y="3276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571320" y="1915920"/>
            <a:ext cx="30488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下⼀步协同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628560" y="36385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838080" y="3159360"/>
            <a:ext cx="4853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Clash check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：书架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顶⾯线灯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排烟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吊顶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628560" y="4000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838080" y="3521160"/>
            <a:ext cx="4165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LOD350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深化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：吧台节点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排烟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隔油池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838080" y="3883320"/>
            <a:ext cx="6809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Family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库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La Marzocco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冷柜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操作台需第三⽅提供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RFA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71320" y="4302360"/>
            <a:ext cx="3126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联系：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BIM Team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285840" y="640944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